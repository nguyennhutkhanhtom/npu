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4.xml" ContentType="application/vnd.openxmlformats-officedocument.theme+xml"/>
  <Override PartName="/ppt/slideLayouts/slideLayout13.xml" ContentType="application/vnd.openxmlformats-officedocument.presentationml.slideLayout+xml"/>
  <Override PartName="/ppt/theme/theme5.xml" ContentType="application/vnd.openxmlformats-officedocument.theme+xml"/>
  <Override PartName="/ppt/slideLayouts/slideLayout14.xml" ContentType="application/vnd.openxmlformats-officedocument.presentationml.slideLayout+xml"/>
  <Override PartName="/ppt/theme/theme6.xml" ContentType="application/vnd.openxmlformats-officedocument.theme+xml"/>
  <Override PartName="/ppt/slideLayouts/slideLayout15.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50" r:id="rId2"/>
    <p:sldMasterId id="2147483652" r:id="rId3"/>
    <p:sldMasterId id="2147483653" r:id="rId4"/>
    <p:sldMasterId id="2147483664" r:id="rId5"/>
    <p:sldMasterId id="2147483666" r:id="rId6"/>
    <p:sldMasterId id="2147483668" r:id="rId7"/>
  </p:sldMasterIdLst>
  <p:notesMasterIdLst>
    <p:notesMasterId r:id="rId47"/>
  </p:notesMasterIdLst>
  <p:handoutMasterIdLst>
    <p:handoutMasterId r:id="rId48"/>
  </p:handoutMasterIdLst>
  <p:sldIdLst>
    <p:sldId id="256" r:id="rId8"/>
    <p:sldId id="257" r:id="rId9"/>
    <p:sldId id="258" r:id="rId10"/>
    <p:sldId id="266" r:id="rId11"/>
    <p:sldId id="267" r:id="rId12"/>
    <p:sldId id="268" r:id="rId13"/>
    <p:sldId id="301" r:id="rId14"/>
    <p:sldId id="269" r:id="rId15"/>
    <p:sldId id="259" r:id="rId16"/>
    <p:sldId id="302" r:id="rId17"/>
    <p:sldId id="260" r:id="rId18"/>
    <p:sldId id="271" r:id="rId19"/>
    <p:sldId id="272" r:id="rId20"/>
    <p:sldId id="273" r:id="rId21"/>
    <p:sldId id="274" r:id="rId22"/>
    <p:sldId id="275" r:id="rId23"/>
    <p:sldId id="276" r:id="rId24"/>
    <p:sldId id="281" r:id="rId25"/>
    <p:sldId id="277" r:id="rId26"/>
    <p:sldId id="278" r:id="rId27"/>
    <p:sldId id="279" r:id="rId28"/>
    <p:sldId id="280" r:id="rId29"/>
    <p:sldId id="304" r:id="rId30"/>
    <p:sldId id="305" r:id="rId31"/>
    <p:sldId id="282" r:id="rId32"/>
    <p:sldId id="286" r:id="rId33"/>
    <p:sldId id="284" r:id="rId34"/>
    <p:sldId id="285" r:id="rId35"/>
    <p:sldId id="294" r:id="rId36"/>
    <p:sldId id="295" r:id="rId37"/>
    <p:sldId id="262" r:id="rId38"/>
    <p:sldId id="263" r:id="rId39"/>
    <p:sldId id="296" r:id="rId40"/>
    <p:sldId id="297" r:id="rId41"/>
    <p:sldId id="298" r:id="rId42"/>
    <p:sldId id="303" r:id="rId43"/>
    <p:sldId id="300" r:id="rId44"/>
    <p:sldId id="264" r:id="rId45"/>
    <p:sldId id="265" r:id="rId46"/>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2D200454-40CA-4A62-9FC3-DE9A4176ACB9}">
      <p15:notesGuideLst xmlns:p15="http://schemas.microsoft.com/office/powerpoint/2012/main">
        <p15:guide id="1" orient="horz" pos="2880">
          <p15:clr>
            <a:srgbClr val="000000"/>
          </p15:clr>
        </p15:guide>
        <p15:guide id="2" pos="2160">
          <p15:clr>
            <a:srgbClr val="000000"/>
          </p15:clr>
        </p15:guide>
      </p15:notes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g0nrocm0Z62gqA7XT9Y7BV9heCy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1594" y="43"/>
      </p:cViewPr>
      <p:guideLst>
        <p:guide orient="horz" pos="2160"/>
        <p:guide pos="2880"/>
      </p:guideLst>
    </p:cSldViewPr>
  </p:slideViewPr>
  <p:notesTextViewPr>
    <p:cViewPr>
      <p:scale>
        <a:sx n="1" d="1"/>
        <a:sy n="1" d="1"/>
      </p:scale>
      <p:origin x="0" y="0"/>
    </p:cViewPr>
  </p:notesTextViewPr>
  <p:notesViewPr>
    <p:cSldViewPr snapToGrid="0">
      <p:cViewPr varScale="1">
        <p:scale>
          <a:sx n="62" d="100"/>
          <a:sy n="62" d="100"/>
        </p:scale>
        <p:origin x="3226" y="77"/>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notesMaster" Target="notesMasters/notesMaster1.xml"/><Relationship Id="rId55" Type="http://customschemas.google.com/relationships/presentationmetadata" Target="metadata"/><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8" Type="http://schemas.openxmlformats.org/officeDocument/2006/relationships/theme" Target="theme/theme1.xml"/><Relationship Id="rId5" Type="http://schemas.openxmlformats.org/officeDocument/2006/relationships/slideMaster" Target="slideMasters/slideMaster5.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slide" Target="slides/slide37.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handoutMaster" Target="handoutMasters/handoutMaster1.xml"/><Relationship Id="rId56" Type="http://schemas.openxmlformats.org/officeDocument/2006/relationships/presProps" Target="presProps.xml"/><Relationship Id="rId8" Type="http://schemas.openxmlformats.org/officeDocument/2006/relationships/slide" Target="slides/slide1.xml"/><Relationship Id="rId3"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tableStyles" Target="tableStyles.xml"/><Relationship Id="rId20" Type="http://schemas.openxmlformats.org/officeDocument/2006/relationships/slide" Target="slides/slide13.xml"/><Relationship Id="rId41" Type="http://schemas.openxmlformats.org/officeDocument/2006/relationships/slide" Target="slides/slide34.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5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BFF0E8E-79D5-7246-E12C-ACCB1254FEE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a:extLst>
              <a:ext uri="{FF2B5EF4-FFF2-40B4-BE49-F238E27FC236}">
                <a16:creationId xmlns:a16="http://schemas.microsoft.com/office/drawing/2014/main" id="{04BF800E-268E-4290-4DE9-6F68A6ACF7D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F205D83-62EC-4A00-8D9D-927D7636112E}" type="datetimeFigureOut">
              <a:rPr lang="vi-VN" smtClean="0"/>
              <a:t>09/06/2025</a:t>
            </a:fld>
            <a:endParaRPr lang="vi-VN"/>
          </a:p>
        </p:txBody>
      </p:sp>
      <p:sp>
        <p:nvSpPr>
          <p:cNvPr id="4" name="Footer Placeholder 3">
            <a:extLst>
              <a:ext uri="{FF2B5EF4-FFF2-40B4-BE49-F238E27FC236}">
                <a16:creationId xmlns:a16="http://schemas.microsoft.com/office/drawing/2014/main" id="{9EBB4939-D2A9-6BDE-E0DE-E77150F0457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5" name="Slide Number Placeholder 4">
            <a:extLst>
              <a:ext uri="{FF2B5EF4-FFF2-40B4-BE49-F238E27FC236}">
                <a16:creationId xmlns:a16="http://schemas.microsoft.com/office/drawing/2014/main" id="{6CC495AF-A93E-44FE-7852-E56A4D0C509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8B1F1E4-CACC-40E7-A9A2-062BDDC92CAE}" type="slidenum">
              <a:rPr lang="vi-VN" smtClean="0"/>
              <a:t>‹#›</a:t>
            </a:fld>
            <a:endParaRPr lang="vi-VN"/>
          </a:p>
        </p:txBody>
      </p:sp>
    </p:spTree>
    <p:extLst>
      <p:ext uri="{BB962C8B-B14F-4D97-AF65-F5344CB8AC3E}">
        <p14:creationId xmlns:p14="http://schemas.microsoft.com/office/powerpoint/2010/main" val="7540851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2"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8685212"/>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Arial"/>
                <a:ea typeface="Arial"/>
                <a:cs typeface="Arial"/>
                <a:sym typeface="Arial"/>
              </a:rPr>
              <a:t>‹#›</a:t>
            </a:fld>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0" name="Google Shape;160;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6" name="Google Shape;166;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a:extLst>
            <a:ext uri="{FF2B5EF4-FFF2-40B4-BE49-F238E27FC236}">
              <a16:creationId xmlns:a16="http://schemas.microsoft.com/office/drawing/2014/main" id="{A0734418-4823-0C09-D89C-CF876F32A0EE}"/>
            </a:ext>
          </a:extLst>
        </p:cNvPr>
        <p:cNvGrpSpPr/>
        <p:nvPr/>
      </p:nvGrpSpPr>
      <p:grpSpPr>
        <a:xfrm>
          <a:off x="0" y="0"/>
          <a:ext cx="0" cy="0"/>
          <a:chOff x="0" y="0"/>
          <a:chExt cx="0" cy="0"/>
        </a:xfrm>
      </p:grpSpPr>
      <p:sp>
        <p:nvSpPr>
          <p:cNvPr id="175" name="Google Shape;175;p3:notes">
            <a:extLst>
              <a:ext uri="{FF2B5EF4-FFF2-40B4-BE49-F238E27FC236}">
                <a16:creationId xmlns:a16="http://schemas.microsoft.com/office/drawing/2014/main" id="{A65E5A9A-9E75-8CCB-121F-6D5A89952D96}"/>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3:notes">
            <a:extLst>
              <a:ext uri="{FF2B5EF4-FFF2-40B4-BE49-F238E27FC236}">
                <a16:creationId xmlns:a16="http://schemas.microsoft.com/office/drawing/2014/main" id="{5CAD697F-ECB4-2DD4-A79F-052D9E64F8DC}"/>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664068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a:extLst>
            <a:ext uri="{FF2B5EF4-FFF2-40B4-BE49-F238E27FC236}">
              <a16:creationId xmlns:a16="http://schemas.microsoft.com/office/drawing/2014/main" id="{BB71B20A-CB64-7D54-E9DB-B7D14C3647B2}"/>
            </a:ext>
          </a:extLst>
        </p:cNvPr>
        <p:cNvGrpSpPr/>
        <p:nvPr/>
      </p:nvGrpSpPr>
      <p:grpSpPr>
        <a:xfrm>
          <a:off x="0" y="0"/>
          <a:ext cx="0" cy="0"/>
          <a:chOff x="0" y="0"/>
          <a:chExt cx="0" cy="0"/>
        </a:xfrm>
      </p:grpSpPr>
      <p:sp>
        <p:nvSpPr>
          <p:cNvPr id="175" name="Google Shape;175;p3:notes">
            <a:extLst>
              <a:ext uri="{FF2B5EF4-FFF2-40B4-BE49-F238E27FC236}">
                <a16:creationId xmlns:a16="http://schemas.microsoft.com/office/drawing/2014/main" id="{10DF7517-DCC7-ED79-ADDA-39C5369B4D9F}"/>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3:notes">
            <a:extLst>
              <a:ext uri="{FF2B5EF4-FFF2-40B4-BE49-F238E27FC236}">
                <a16:creationId xmlns:a16="http://schemas.microsoft.com/office/drawing/2014/main" id="{E2A42475-C044-8C1D-61D3-57FC3EB36AEF}"/>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13675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a:extLst>
            <a:ext uri="{FF2B5EF4-FFF2-40B4-BE49-F238E27FC236}">
              <a16:creationId xmlns:a16="http://schemas.microsoft.com/office/drawing/2014/main" id="{E9142BAB-CA8A-1C43-908D-A366A28F5C24}"/>
            </a:ext>
          </a:extLst>
        </p:cNvPr>
        <p:cNvGrpSpPr/>
        <p:nvPr/>
      </p:nvGrpSpPr>
      <p:grpSpPr>
        <a:xfrm>
          <a:off x="0" y="0"/>
          <a:ext cx="0" cy="0"/>
          <a:chOff x="0" y="0"/>
          <a:chExt cx="0" cy="0"/>
        </a:xfrm>
      </p:grpSpPr>
      <p:sp>
        <p:nvSpPr>
          <p:cNvPr id="175" name="Google Shape;175;p3:notes">
            <a:extLst>
              <a:ext uri="{FF2B5EF4-FFF2-40B4-BE49-F238E27FC236}">
                <a16:creationId xmlns:a16="http://schemas.microsoft.com/office/drawing/2014/main" id="{D0E3C460-7F5B-B29B-4AC3-22FB311A5C33}"/>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3:notes">
            <a:extLst>
              <a:ext uri="{FF2B5EF4-FFF2-40B4-BE49-F238E27FC236}">
                <a16:creationId xmlns:a16="http://schemas.microsoft.com/office/drawing/2014/main" id="{6687010B-39DF-0E51-B673-67BB5BB70E38}"/>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073748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a:extLst>
            <a:ext uri="{FF2B5EF4-FFF2-40B4-BE49-F238E27FC236}">
              <a16:creationId xmlns:a16="http://schemas.microsoft.com/office/drawing/2014/main" id="{DB8C2E49-53D5-AA48-893C-66E22B5EC23D}"/>
            </a:ext>
          </a:extLst>
        </p:cNvPr>
        <p:cNvGrpSpPr/>
        <p:nvPr/>
      </p:nvGrpSpPr>
      <p:grpSpPr>
        <a:xfrm>
          <a:off x="0" y="0"/>
          <a:ext cx="0" cy="0"/>
          <a:chOff x="0" y="0"/>
          <a:chExt cx="0" cy="0"/>
        </a:xfrm>
      </p:grpSpPr>
      <p:sp>
        <p:nvSpPr>
          <p:cNvPr id="175" name="Google Shape;175;p3:notes">
            <a:extLst>
              <a:ext uri="{FF2B5EF4-FFF2-40B4-BE49-F238E27FC236}">
                <a16:creationId xmlns:a16="http://schemas.microsoft.com/office/drawing/2014/main" id="{FDF08F50-5707-C516-F021-F290F86FA3A9}"/>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3:notes">
            <a:extLst>
              <a:ext uri="{FF2B5EF4-FFF2-40B4-BE49-F238E27FC236}">
                <a16:creationId xmlns:a16="http://schemas.microsoft.com/office/drawing/2014/main" id="{B8257DB0-2ED2-AA67-C377-3AF4D02E40BB}"/>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510015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a:extLst>
            <a:ext uri="{FF2B5EF4-FFF2-40B4-BE49-F238E27FC236}">
              <a16:creationId xmlns:a16="http://schemas.microsoft.com/office/drawing/2014/main" id="{EECF5CC5-690E-FAA3-E2B5-A8727EC6BA8A}"/>
            </a:ext>
          </a:extLst>
        </p:cNvPr>
        <p:cNvGrpSpPr/>
        <p:nvPr/>
      </p:nvGrpSpPr>
      <p:grpSpPr>
        <a:xfrm>
          <a:off x="0" y="0"/>
          <a:ext cx="0" cy="0"/>
          <a:chOff x="0" y="0"/>
          <a:chExt cx="0" cy="0"/>
        </a:xfrm>
      </p:grpSpPr>
      <p:sp>
        <p:nvSpPr>
          <p:cNvPr id="175" name="Google Shape;175;p3:notes">
            <a:extLst>
              <a:ext uri="{FF2B5EF4-FFF2-40B4-BE49-F238E27FC236}">
                <a16:creationId xmlns:a16="http://schemas.microsoft.com/office/drawing/2014/main" id="{F8D9BB3A-3FCB-ED5B-4C5E-09BF506A8F07}"/>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3:notes">
            <a:extLst>
              <a:ext uri="{FF2B5EF4-FFF2-40B4-BE49-F238E27FC236}">
                <a16:creationId xmlns:a16="http://schemas.microsoft.com/office/drawing/2014/main" id="{485C9312-F7FF-A42C-ABC3-847C4401D8AF}"/>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003837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3" name="Google Shape;183;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3E4C0EC6-9CCB-61BB-A5B2-DF40D38CA876}"/>
            </a:ext>
          </a:extLst>
        </p:cNvPr>
        <p:cNvGrpSpPr/>
        <p:nvPr/>
      </p:nvGrpSpPr>
      <p:grpSpPr>
        <a:xfrm>
          <a:off x="0" y="0"/>
          <a:ext cx="0" cy="0"/>
          <a:chOff x="0" y="0"/>
          <a:chExt cx="0" cy="0"/>
        </a:xfrm>
      </p:grpSpPr>
      <p:sp>
        <p:nvSpPr>
          <p:cNvPr id="182" name="Google Shape;182;p4:notes">
            <a:extLst>
              <a:ext uri="{FF2B5EF4-FFF2-40B4-BE49-F238E27FC236}">
                <a16:creationId xmlns:a16="http://schemas.microsoft.com/office/drawing/2014/main" id="{58ED2C7B-F41B-EF00-79C7-9E4FEB92DFD9}"/>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3" name="Google Shape;183;p4:notes">
            <a:extLst>
              <a:ext uri="{FF2B5EF4-FFF2-40B4-BE49-F238E27FC236}">
                <a16:creationId xmlns:a16="http://schemas.microsoft.com/office/drawing/2014/main" id="{FE7BC1D4-80C0-7B78-AF5F-425B49F81F6A}"/>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102883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0" name="Google Shape;190;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a:extLst>
            <a:ext uri="{FF2B5EF4-FFF2-40B4-BE49-F238E27FC236}">
              <a16:creationId xmlns:a16="http://schemas.microsoft.com/office/drawing/2014/main" id="{DC499D2F-D27A-8C24-025A-E21938C2F704}"/>
            </a:ext>
          </a:extLst>
        </p:cNvPr>
        <p:cNvGrpSpPr/>
        <p:nvPr/>
      </p:nvGrpSpPr>
      <p:grpSpPr>
        <a:xfrm>
          <a:off x="0" y="0"/>
          <a:ext cx="0" cy="0"/>
          <a:chOff x="0" y="0"/>
          <a:chExt cx="0" cy="0"/>
        </a:xfrm>
      </p:grpSpPr>
      <p:sp>
        <p:nvSpPr>
          <p:cNvPr id="189" name="Google Shape;189;p5:notes">
            <a:extLst>
              <a:ext uri="{FF2B5EF4-FFF2-40B4-BE49-F238E27FC236}">
                <a16:creationId xmlns:a16="http://schemas.microsoft.com/office/drawing/2014/main" id="{A42D0958-C53B-CA95-997A-CE0379D76842}"/>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0" name="Google Shape;190;p5:notes">
            <a:extLst>
              <a:ext uri="{FF2B5EF4-FFF2-40B4-BE49-F238E27FC236}">
                <a16:creationId xmlns:a16="http://schemas.microsoft.com/office/drawing/2014/main" id="{50523A17-F77C-91B1-CB48-7DE5DD863219}"/>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575134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a:extLst>
            <a:ext uri="{FF2B5EF4-FFF2-40B4-BE49-F238E27FC236}">
              <a16:creationId xmlns:a16="http://schemas.microsoft.com/office/drawing/2014/main" id="{F114CCE6-87D2-CCB2-1839-2B1C8465DC5F}"/>
            </a:ext>
          </a:extLst>
        </p:cNvPr>
        <p:cNvGrpSpPr/>
        <p:nvPr/>
      </p:nvGrpSpPr>
      <p:grpSpPr>
        <a:xfrm>
          <a:off x="0" y="0"/>
          <a:ext cx="0" cy="0"/>
          <a:chOff x="0" y="0"/>
          <a:chExt cx="0" cy="0"/>
        </a:xfrm>
      </p:grpSpPr>
      <p:sp>
        <p:nvSpPr>
          <p:cNvPr id="189" name="Google Shape;189;p5:notes">
            <a:extLst>
              <a:ext uri="{FF2B5EF4-FFF2-40B4-BE49-F238E27FC236}">
                <a16:creationId xmlns:a16="http://schemas.microsoft.com/office/drawing/2014/main" id="{511A743E-C439-7E3D-7FFF-A603F100E9D3}"/>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0" name="Google Shape;190;p5:notes">
            <a:extLst>
              <a:ext uri="{FF2B5EF4-FFF2-40B4-BE49-F238E27FC236}">
                <a16:creationId xmlns:a16="http://schemas.microsoft.com/office/drawing/2014/main" id="{6B050241-0AC7-33C1-E63E-BA9AE3A1C293}"/>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780196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a:extLst>
            <a:ext uri="{FF2B5EF4-FFF2-40B4-BE49-F238E27FC236}">
              <a16:creationId xmlns:a16="http://schemas.microsoft.com/office/drawing/2014/main" id="{FE4613C0-53B1-EC2C-C30C-D92989C4EEEA}"/>
            </a:ext>
          </a:extLst>
        </p:cNvPr>
        <p:cNvGrpSpPr/>
        <p:nvPr/>
      </p:nvGrpSpPr>
      <p:grpSpPr>
        <a:xfrm>
          <a:off x="0" y="0"/>
          <a:ext cx="0" cy="0"/>
          <a:chOff x="0" y="0"/>
          <a:chExt cx="0" cy="0"/>
        </a:xfrm>
      </p:grpSpPr>
      <p:sp>
        <p:nvSpPr>
          <p:cNvPr id="189" name="Google Shape;189;p5:notes">
            <a:extLst>
              <a:ext uri="{FF2B5EF4-FFF2-40B4-BE49-F238E27FC236}">
                <a16:creationId xmlns:a16="http://schemas.microsoft.com/office/drawing/2014/main" id="{D2627126-5F31-BE5F-266D-0732CA7F8193}"/>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0" name="Google Shape;190;p5:notes">
            <a:extLst>
              <a:ext uri="{FF2B5EF4-FFF2-40B4-BE49-F238E27FC236}">
                <a16:creationId xmlns:a16="http://schemas.microsoft.com/office/drawing/2014/main" id="{18A89F2D-4AA8-6A2C-2BFA-7D3A7E302DC3}"/>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963156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a:extLst>
            <a:ext uri="{FF2B5EF4-FFF2-40B4-BE49-F238E27FC236}">
              <a16:creationId xmlns:a16="http://schemas.microsoft.com/office/drawing/2014/main" id="{96058C24-1759-2F4A-9DA8-C0B23826D32D}"/>
            </a:ext>
          </a:extLst>
        </p:cNvPr>
        <p:cNvGrpSpPr/>
        <p:nvPr/>
      </p:nvGrpSpPr>
      <p:grpSpPr>
        <a:xfrm>
          <a:off x="0" y="0"/>
          <a:ext cx="0" cy="0"/>
          <a:chOff x="0" y="0"/>
          <a:chExt cx="0" cy="0"/>
        </a:xfrm>
      </p:grpSpPr>
      <p:sp>
        <p:nvSpPr>
          <p:cNvPr id="189" name="Google Shape;189;p5:notes">
            <a:extLst>
              <a:ext uri="{FF2B5EF4-FFF2-40B4-BE49-F238E27FC236}">
                <a16:creationId xmlns:a16="http://schemas.microsoft.com/office/drawing/2014/main" id="{1F13F83E-4E05-3B0F-B427-03C0D4494CC5}"/>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0" name="Google Shape;190;p5:notes">
            <a:extLst>
              <a:ext uri="{FF2B5EF4-FFF2-40B4-BE49-F238E27FC236}">
                <a16:creationId xmlns:a16="http://schemas.microsoft.com/office/drawing/2014/main" id="{A06DD814-234E-33D6-EE08-FE640D06CED1}"/>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48247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a:extLst>
            <a:ext uri="{FF2B5EF4-FFF2-40B4-BE49-F238E27FC236}">
              <a16:creationId xmlns:a16="http://schemas.microsoft.com/office/drawing/2014/main" id="{45DE431B-370B-E887-FA0E-BB76122C46AF}"/>
            </a:ext>
          </a:extLst>
        </p:cNvPr>
        <p:cNvGrpSpPr/>
        <p:nvPr/>
      </p:nvGrpSpPr>
      <p:grpSpPr>
        <a:xfrm>
          <a:off x="0" y="0"/>
          <a:ext cx="0" cy="0"/>
          <a:chOff x="0" y="0"/>
          <a:chExt cx="0" cy="0"/>
        </a:xfrm>
      </p:grpSpPr>
      <p:sp>
        <p:nvSpPr>
          <p:cNvPr id="189" name="Google Shape;189;p5:notes">
            <a:extLst>
              <a:ext uri="{FF2B5EF4-FFF2-40B4-BE49-F238E27FC236}">
                <a16:creationId xmlns:a16="http://schemas.microsoft.com/office/drawing/2014/main" id="{5A4EE0B2-BC5E-88B9-C8FD-5335C773FA54}"/>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0" name="Google Shape;190;p5:notes">
            <a:extLst>
              <a:ext uri="{FF2B5EF4-FFF2-40B4-BE49-F238E27FC236}">
                <a16:creationId xmlns:a16="http://schemas.microsoft.com/office/drawing/2014/main" id="{093F1606-162F-E864-AFDA-38F773D606B0}"/>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00481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a:extLst>
            <a:ext uri="{FF2B5EF4-FFF2-40B4-BE49-F238E27FC236}">
              <a16:creationId xmlns:a16="http://schemas.microsoft.com/office/drawing/2014/main" id="{AFB63DA3-5FA8-EBF3-A583-42EBCEA52C13}"/>
            </a:ext>
          </a:extLst>
        </p:cNvPr>
        <p:cNvGrpSpPr/>
        <p:nvPr/>
      </p:nvGrpSpPr>
      <p:grpSpPr>
        <a:xfrm>
          <a:off x="0" y="0"/>
          <a:ext cx="0" cy="0"/>
          <a:chOff x="0" y="0"/>
          <a:chExt cx="0" cy="0"/>
        </a:xfrm>
      </p:grpSpPr>
      <p:sp>
        <p:nvSpPr>
          <p:cNvPr id="189" name="Google Shape;189;p5:notes">
            <a:extLst>
              <a:ext uri="{FF2B5EF4-FFF2-40B4-BE49-F238E27FC236}">
                <a16:creationId xmlns:a16="http://schemas.microsoft.com/office/drawing/2014/main" id="{5F9D8BC8-4217-6CA3-1BEE-C70F002FE81C}"/>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0" name="Google Shape;190;p5:notes">
            <a:extLst>
              <a:ext uri="{FF2B5EF4-FFF2-40B4-BE49-F238E27FC236}">
                <a16:creationId xmlns:a16="http://schemas.microsoft.com/office/drawing/2014/main" id="{D725263B-BE66-027E-F5D5-9DBFB987BED7}"/>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564740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a:extLst>
            <a:ext uri="{FF2B5EF4-FFF2-40B4-BE49-F238E27FC236}">
              <a16:creationId xmlns:a16="http://schemas.microsoft.com/office/drawing/2014/main" id="{6F5A0562-06EB-A107-F926-19045EB149EC}"/>
            </a:ext>
          </a:extLst>
        </p:cNvPr>
        <p:cNvGrpSpPr/>
        <p:nvPr/>
      </p:nvGrpSpPr>
      <p:grpSpPr>
        <a:xfrm>
          <a:off x="0" y="0"/>
          <a:ext cx="0" cy="0"/>
          <a:chOff x="0" y="0"/>
          <a:chExt cx="0" cy="0"/>
        </a:xfrm>
      </p:grpSpPr>
      <p:sp>
        <p:nvSpPr>
          <p:cNvPr id="189" name="Google Shape;189;p5:notes">
            <a:extLst>
              <a:ext uri="{FF2B5EF4-FFF2-40B4-BE49-F238E27FC236}">
                <a16:creationId xmlns:a16="http://schemas.microsoft.com/office/drawing/2014/main" id="{0520C436-49ED-24F5-7E82-88B130A35B66}"/>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0" name="Google Shape;190;p5:notes">
            <a:extLst>
              <a:ext uri="{FF2B5EF4-FFF2-40B4-BE49-F238E27FC236}">
                <a16:creationId xmlns:a16="http://schemas.microsoft.com/office/drawing/2014/main" id="{560B4DC0-C33F-43EC-2C79-3A2ADD9B5FD3}"/>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238076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a:extLst>
            <a:ext uri="{FF2B5EF4-FFF2-40B4-BE49-F238E27FC236}">
              <a16:creationId xmlns:a16="http://schemas.microsoft.com/office/drawing/2014/main" id="{4B959BDA-5B11-31D8-81A0-9E2E3664DB83}"/>
            </a:ext>
          </a:extLst>
        </p:cNvPr>
        <p:cNvGrpSpPr/>
        <p:nvPr/>
      </p:nvGrpSpPr>
      <p:grpSpPr>
        <a:xfrm>
          <a:off x="0" y="0"/>
          <a:ext cx="0" cy="0"/>
          <a:chOff x="0" y="0"/>
          <a:chExt cx="0" cy="0"/>
        </a:xfrm>
      </p:grpSpPr>
      <p:sp>
        <p:nvSpPr>
          <p:cNvPr id="189" name="Google Shape;189;p5:notes">
            <a:extLst>
              <a:ext uri="{FF2B5EF4-FFF2-40B4-BE49-F238E27FC236}">
                <a16:creationId xmlns:a16="http://schemas.microsoft.com/office/drawing/2014/main" id="{B5E8B1EA-C381-5E21-6BFC-D4CA836461B1}"/>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0" name="Google Shape;190;p5:notes">
            <a:extLst>
              <a:ext uri="{FF2B5EF4-FFF2-40B4-BE49-F238E27FC236}">
                <a16:creationId xmlns:a16="http://schemas.microsoft.com/office/drawing/2014/main" id="{ACFA1E58-C684-371B-820D-42B19922F2C5}"/>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821558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a:extLst>
            <a:ext uri="{FF2B5EF4-FFF2-40B4-BE49-F238E27FC236}">
              <a16:creationId xmlns:a16="http://schemas.microsoft.com/office/drawing/2014/main" id="{2A04EC90-E07E-17A1-3E98-68FB433E0FED}"/>
            </a:ext>
          </a:extLst>
        </p:cNvPr>
        <p:cNvGrpSpPr/>
        <p:nvPr/>
      </p:nvGrpSpPr>
      <p:grpSpPr>
        <a:xfrm>
          <a:off x="0" y="0"/>
          <a:ext cx="0" cy="0"/>
          <a:chOff x="0" y="0"/>
          <a:chExt cx="0" cy="0"/>
        </a:xfrm>
      </p:grpSpPr>
      <p:sp>
        <p:nvSpPr>
          <p:cNvPr id="189" name="Google Shape;189;p5:notes">
            <a:extLst>
              <a:ext uri="{FF2B5EF4-FFF2-40B4-BE49-F238E27FC236}">
                <a16:creationId xmlns:a16="http://schemas.microsoft.com/office/drawing/2014/main" id="{2ED970E9-4D4C-4046-DFFE-7DF8F8A779BA}"/>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0" name="Google Shape;190;p5:notes">
            <a:extLst>
              <a:ext uri="{FF2B5EF4-FFF2-40B4-BE49-F238E27FC236}">
                <a16:creationId xmlns:a16="http://schemas.microsoft.com/office/drawing/2014/main" id="{21DCA81D-9511-2E51-A9FC-67DE8F683C5B}"/>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392654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a:extLst>
            <a:ext uri="{FF2B5EF4-FFF2-40B4-BE49-F238E27FC236}">
              <a16:creationId xmlns:a16="http://schemas.microsoft.com/office/drawing/2014/main" id="{98E2E069-F1D1-33B0-FE00-F41D93AA3DE5}"/>
            </a:ext>
          </a:extLst>
        </p:cNvPr>
        <p:cNvGrpSpPr/>
        <p:nvPr/>
      </p:nvGrpSpPr>
      <p:grpSpPr>
        <a:xfrm>
          <a:off x="0" y="0"/>
          <a:ext cx="0" cy="0"/>
          <a:chOff x="0" y="0"/>
          <a:chExt cx="0" cy="0"/>
        </a:xfrm>
      </p:grpSpPr>
      <p:sp>
        <p:nvSpPr>
          <p:cNvPr id="189" name="Google Shape;189;p5:notes">
            <a:extLst>
              <a:ext uri="{FF2B5EF4-FFF2-40B4-BE49-F238E27FC236}">
                <a16:creationId xmlns:a16="http://schemas.microsoft.com/office/drawing/2014/main" id="{E77E41B1-5B3E-E5F6-EEE5-12F6B45BD4B3}"/>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0" name="Google Shape;190;p5:notes">
            <a:extLst>
              <a:ext uri="{FF2B5EF4-FFF2-40B4-BE49-F238E27FC236}">
                <a16:creationId xmlns:a16="http://schemas.microsoft.com/office/drawing/2014/main" id="{4A205DAA-250C-A0D8-CB2A-948D5876F9FD}"/>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77408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a:extLst>
            <a:ext uri="{FF2B5EF4-FFF2-40B4-BE49-F238E27FC236}">
              <a16:creationId xmlns:a16="http://schemas.microsoft.com/office/drawing/2014/main" id="{4EA434F1-D409-652F-CF00-C118005ED0BA}"/>
            </a:ext>
          </a:extLst>
        </p:cNvPr>
        <p:cNvGrpSpPr/>
        <p:nvPr/>
      </p:nvGrpSpPr>
      <p:grpSpPr>
        <a:xfrm>
          <a:off x="0" y="0"/>
          <a:ext cx="0" cy="0"/>
          <a:chOff x="0" y="0"/>
          <a:chExt cx="0" cy="0"/>
        </a:xfrm>
      </p:grpSpPr>
      <p:sp>
        <p:nvSpPr>
          <p:cNvPr id="189" name="Google Shape;189;p5:notes">
            <a:extLst>
              <a:ext uri="{FF2B5EF4-FFF2-40B4-BE49-F238E27FC236}">
                <a16:creationId xmlns:a16="http://schemas.microsoft.com/office/drawing/2014/main" id="{D086D7B0-32F8-BDCD-E129-FB78944A562F}"/>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0" name="Google Shape;190;p5:notes">
            <a:extLst>
              <a:ext uri="{FF2B5EF4-FFF2-40B4-BE49-F238E27FC236}">
                <a16:creationId xmlns:a16="http://schemas.microsoft.com/office/drawing/2014/main" id="{742378DE-3416-0815-0A3D-AD4157160EC2}"/>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405007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a:extLst>
            <a:ext uri="{FF2B5EF4-FFF2-40B4-BE49-F238E27FC236}">
              <a16:creationId xmlns:a16="http://schemas.microsoft.com/office/drawing/2014/main" id="{00AB4FCE-15E7-A81E-85E9-70C7F465AF92}"/>
            </a:ext>
          </a:extLst>
        </p:cNvPr>
        <p:cNvGrpSpPr/>
        <p:nvPr/>
      </p:nvGrpSpPr>
      <p:grpSpPr>
        <a:xfrm>
          <a:off x="0" y="0"/>
          <a:ext cx="0" cy="0"/>
          <a:chOff x="0" y="0"/>
          <a:chExt cx="0" cy="0"/>
        </a:xfrm>
      </p:grpSpPr>
      <p:sp>
        <p:nvSpPr>
          <p:cNvPr id="189" name="Google Shape;189;p5:notes">
            <a:extLst>
              <a:ext uri="{FF2B5EF4-FFF2-40B4-BE49-F238E27FC236}">
                <a16:creationId xmlns:a16="http://schemas.microsoft.com/office/drawing/2014/main" id="{FE393B64-7887-16E5-2F1F-082DBF207B8C}"/>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0" name="Google Shape;190;p5:notes">
            <a:extLst>
              <a:ext uri="{FF2B5EF4-FFF2-40B4-BE49-F238E27FC236}">
                <a16:creationId xmlns:a16="http://schemas.microsoft.com/office/drawing/2014/main" id="{0613FFE5-1F96-40BA-870B-E5D281216CD4}"/>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412067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a:extLst>
            <a:ext uri="{FF2B5EF4-FFF2-40B4-BE49-F238E27FC236}">
              <a16:creationId xmlns:a16="http://schemas.microsoft.com/office/drawing/2014/main" id="{FB6031AE-155C-3FD6-2477-907ED89DE538}"/>
            </a:ext>
          </a:extLst>
        </p:cNvPr>
        <p:cNvGrpSpPr/>
        <p:nvPr/>
      </p:nvGrpSpPr>
      <p:grpSpPr>
        <a:xfrm>
          <a:off x="0" y="0"/>
          <a:ext cx="0" cy="0"/>
          <a:chOff x="0" y="0"/>
          <a:chExt cx="0" cy="0"/>
        </a:xfrm>
      </p:grpSpPr>
      <p:sp>
        <p:nvSpPr>
          <p:cNvPr id="189" name="Google Shape;189;p5:notes">
            <a:extLst>
              <a:ext uri="{FF2B5EF4-FFF2-40B4-BE49-F238E27FC236}">
                <a16:creationId xmlns:a16="http://schemas.microsoft.com/office/drawing/2014/main" id="{F73899FE-AD57-A853-B683-2A4A7B98B527}"/>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0" name="Google Shape;190;p5:notes">
            <a:extLst>
              <a:ext uri="{FF2B5EF4-FFF2-40B4-BE49-F238E27FC236}">
                <a16:creationId xmlns:a16="http://schemas.microsoft.com/office/drawing/2014/main" id="{7FB1DF0E-24FE-7B8C-F614-21E9E47779B7}"/>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0286803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a:extLst>
            <a:ext uri="{FF2B5EF4-FFF2-40B4-BE49-F238E27FC236}">
              <a16:creationId xmlns:a16="http://schemas.microsoft.com/office/drawing/2014/main" id="{E31DB11F-CE41-EBA6-3FB4-A0428D43B376}"/>
            </a:ext>
          </a:extLst>
        </p:cNvPr>
        <p:cNvGrpSpPr/>
        <p:nvPr/>
      </p:nvGrpSpPr>
      <p:grpSpPr>
        <a:xfrm>
          <a:off x="0" y="0"/>
          <a:ext cx="0" cy="0"/>
          <a:chOff x="0" y="0"/>
          <a:chExt cx="0" cy="0"/>
        </a:xfrm>
      </p:grpSpPr>
      <p:sp>
        <p:nvSpPr>
          <p:cNvPr id="189" name="Google Shape;189;p5:notes">
            <a:extLst>
              <a:ext uri="{FF2B5EF4-FFF2-40B4-BE49-F238E27FC236}">
                <a16:creationId xmlns:a16="http://schemas.microsoft.com/office/drawing/2014/main" id="{647AA769-1830-6F2C-C0F7-5E1668228B64}"/>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0" name="Google Shape;190;p5:notes">
            <a:extLst>
              <a:ext uri="{FF2B5EF4-FFF2-40B4-BE49-F238E27FC236}">
                <a16:creationId xmlns:a16="http://schemas.microsoft.com/office/drawing/2014/main" id="{2EB22F97-37D5-2632-06A7-4EB99B4CD345}"/>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709397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a:extLst>
            <a:ext uri="{FF2B5EF4-FFF2-40B4-BE49-F238E27FC236}">
              <a16:creationId xmlns:a16="http://schemas.microsoft.com/office/drawing/2014/main" id="{5B55ED69-1108-D617-7B16-AB1FB16284B6}"/>
            </a:ext>
          </a:extLst>
        </p:cNvPr>
        <p:cNvGrpSpPr/>
        <p:nvPr/>
      </p:nvGrpSpPr>
      <p:grpSpPr>
        <a:xfrm>
          <a:off x="0" y="0"/>
          <a:ext cx="0" cy="0"/>
          <a:chOff x="0" y="0"/>
          <a:chExt cx="0" cy="0"/>
        </a:xfrm>
      </p:grpSpPr>
      <p:sp>
        <p:nvSpPr>
          <p:cNvPr id="189" name="Google Shape;189;p5:notes">
            <a:extLst>
              <a:ext uri="{FF2B5EF4-FFF2-40B4-BE49-F238E27FC236}">
                <a16:creationId xmlns:a16="http://schemas.microsoft.com/office/drawing/2014/main" id="{259536C0-8BCA-3544-5CB6-01A258B72555}"/>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0" name="Google Shape;190;p5:notes">
            <a:extLst>
              <a:ext uri="{FF2B5EF4-FFF2-40B4-BE49-F238E27FC236}">
                <a16:creationId xmlns:a16="http://schemas.microsoft.com/office/drawing/2014/main" id="{E0A58044-3A43-C067-23A2-2DA8D899A805}"/>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237198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a:extLst>
            <a:ext uri="{FF2B5EF4-FFF2-40B4-BE49-F238E27FC236}">
              <a16:creationId xmlns:a16="http://schemas.microsoft.com/office/drawing/2014/main" id="{EBC00DCF-7B03-E408-D4F5-281CD24327AA}"/>
            </a:ext>
          </a:extLst>
        </p:cNvPr>
        <p:cNvGrpSpPr/>
        <p:nvPr/>
      </p:nvGrpSpPr>
      <p:grpSpPr>
        <a:xfrm>
          <a:off x="0" y="0"/>
          <a:ext cx="0" cy="0"/>
          <a:chOff x="0" y="0"/>
          <a:chExt cx="0" cy="0"/>
        </a:xfrm>
      </p:grpSpPr>
      <p:sp>
        <p:nvSpPr>
          <p:cNvPr id="189" name="Google Shape;189;p5:notes">
            <a:extLst>
              <a:ext uri="{FF2B5EF4-FFF2-40B4-BE49-F238E27FC236}">
                <a16:creationId xmlns:a16="http://schemas.microsoft.com/office/drawing/2014/main" id="{C5A2CF33-92FA-216A-56FD-06164BF7513A}"/>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0" name="Google Shape;190;p5:notes">
            <a:extLst>
              <a:ext uri="{FF2B5EF4-FFF2-40B4-BE49-F238E27FC236}">
                <a16:creationId xmlns:a16="http://schemas.microsoft.com/office/drawing/2014/main" id="{6BF877DA-2F2F-856F-9D16-6DAE30EDE95C}"/>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0701200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a:extLst>
            <a:ext uri="{FF2B5EF4-FFF2-40B4-BE49-F238E27FC236}">
              <a16:creationId xmlns:a16="http://schemas.microsoft.com/office/drawing/2014/main" id="{3F296E55-5DF7-5BAA-A50B-8FC20976230F}"/>
            </a:ext>
          </a:extLst>
        </p:cNvPr>
        <p:cNvGrpSpPr/>
        <p:nvPr/>
      </p:nvGrpSpPr>
      <p:grpSpPr>
        <a:xfrm>
          <a:off x="0" y="0"/>
          <a:ext cx="0" cy="0"/>
          <a:chOff x="0" y="0"/>
          <a:chExt cx="0" cy="0"/>
        </a:xfrm>
      </p:grpSpPr>
      <p:sp>
        <p:nvSpPr>
          <p:cNvPr id="189" name="Google Shape;189;p5:notes">
            <a:extLst>
              <a:ext uri="{FF2B5EF4-FFF2-40B4-BE49-F238E27FC236}">
                <a16:creationId xmlns:a16="http://schemas.microsoft.com/office/drawing/2014/main" id="{89EC1A22-6040-AA6B-EB09-F19DE29DD473}"/>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0" name="Google Shape;190;p5:notes">
            <a:extLst>
              <a:ext uri="{FF2B5EF4-FFF2-40B4-BE49-F238E27FC236}">
                <a16:creationId xmlns:a16="http://schemas.microsoft.com/office/drawing/2014/main" id="{FE92DB0A-9A72-FF4A-71CD-B699B4554674}"/>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2152390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a:extLst>
            <a:ext uri="{FF2B5EF4-FFF2-40B4-BE49-F238E27FC236}">
              <a16:creationId xmlns:a16="http://schemas.microsoft.com/office/drawing/2014/main" id="{D6093154-AABF-D060-D60B-F0F54E98B346}"/>
            </a:ext>
          </a:extLst>
        </p:cNvPr>
        <p:cNvGrpSpPr/>
        <p:nvPr/>
      </p:nvGrpSpPr>
      <p:grpSpPr>
        <a:xfrm>
          <a:off x="0" y="0"/>
          <a:ext cx="0" cy="0"/>
          <a:chOff x="0" y="0"/>
          <a:chExt cx="0" cy="0"/>
        </a:xfrm>
      </p:grpSpPr>
      <p:sp>
        <p:nvSpPr>
          <p:cNvPr id="189" name="Google Shape;189;p5:notes">
            <a:extLst>
              <a:ext uri="{FF2B5EF4-FFF2-40B4-BE49-F238E27FC236}">
                <a16:creationId xmlns:a16="http://schemas.microsoft.com/office/drawing/2014/main" id="{9362FCF5-C086-3EFD-F8BD-9F1A6A54EEC8}"/>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0" name="Google Shape;190;p5:notes">
            <a:extLst>
              <a:ext uri="{FF2B5EF4-FFF2-40B4-BE49-F238E27FC236}">
                <a16:creationId xmlns:a16="http://schemas.microsoft.com/office/drawing/2014/main" id="{3408116A-5CD1-F21E-CA4A-E483084CB7A2}"/>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916444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a:extLst>
            <a:ext uri="{FF2B5EF4-FFF2-40B4-BE49-F238E27FC236}">
              <a16:creationId xmlns:a16="http://schemas.microsoft.com/office/drawing/2014/main" id="{A70BA092-E178-6CF0-0CCD-3ACAABF6F1CD}"/>
            </a:ext>
          </a:extLst>
        </p:cNvPr>
        <p:cNvGrpSpPr/>
        <p:nvPr/>
      </p:nvGrpSpPr>
      <p:grpSpPr>
        <a:xfrm>
          <a:off x="0" y="0"/>
          <a:ext cx="0" cy="0"/>
          <a:chOff x="0" y="0"/>
          <a:chExt cx="0" cy="0"/>
        </a:xfrm>
      </p:grpSpPr>
      <p:sp>
        <p:nvSpPr>
          <p:cNvPr id="203" name="Google Shape;203;p7:notes">
            <a:extLst>
              <a:ext uri="{FF2B5EF4-FFF2-40B4-BE49-F238E27FC236}">
                <a16:creationId xmlns:a16="http://schemas.microsoft.com/office/drawing/2014/main" id="{5D2EE151-AAE0-9BDC-CBB0-8D30610A4D9E}"/>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4" name="Google Shape;204;p7:notes">
            <a:extLst>
              <a:ext uri="{FF2B5EF4-FFF2-40B4-BE49-F238E27FC236}">
                <a16:creationId xmlns:a16="http://schemas.microsoft.com/office/drawing/2014/main" id="{9F2C6C63-75A8-4593-49FE-BD8C3DAA7A53}"/>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4191221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4" name="Google Shape;204;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1" name="Google Shape;211;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a:extLst>
            <a:ext uri="{FF2B5EF4-FFF2-40B4-BE49-F238E27FC236}">
              <a16:creationId xmlns:a16="http://schemas.microsoft.com/office/drawing/2014/main" id="{5552E137-81AC-A09D-06CA-99712BDDAE91}"/>
            </a:ext>
          </a:extLst>
        </p:cNvPr>
        <p:cNvGrpSpPr/>
        <p:nvPr/>
      </p:nvGrpSpPr>
      <p:grpSpPr>
        <a:xfrm>
          <a:off x="0" y="0"/>
          <a:ext cx="0" cy="0"/>
          <a:chOff x="0" y="0"/>
          <a:chExt cx="0" cy="0"/>
        </a:xfrm>
      </p:grpSpPr>
      <p:sp>
        <p:nvSpPr>
          <p:cNvPr id="210" name="Google Shape;210;p8:notes">
            <a:extLst>
              <a:ext uri="{FF2B5EF4-FFF2-40B4-BE49-F238E27FC236}">
                <a16:creationId xmlns:a16="http://schemas.microsoft.com/office/drawing/2014/main" id="{77C94978-3523-7958-F080-06CCCCCA1942}"/>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1" name="Google Shape;211;p8:notes">
            <a:extLst>
              <a:ext uri="{FF2B5EF4-FFF2-40B4-BE49-F238E27FC236}">
                <a16:creationId xmlns:a16="http://schemas.microsoft.com/office/drawing/2014/main" id="{740DCC0F-BFC7-6F71-E940-EA22FBD1A80B}"/>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974036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a:extLst>
            <a:ext uri="{FF2B5EF4-FFF2-40B4-BE49-F238E27FC236}">
              <a16:creationId xmlns:a16="http://schemas.microsoft.com/office/drawing/2014/main" id="{189D16F3-A046-2475-3632-7F2C760D417A}"/>
            </a:ext>
          </a:extLst>
        </p:cNvPr>
        <p:cNvGrpSpPr/>
        <p:nvPr/>
      </p:nvGrpSpPr>
      <p:grpSpPr>
        <a:xfrm>
          <a:off x="0" y="0"/>
          <a:ext cx="0" cy="0"/>
          <a:chOff x="0" y="0"/>
          <a:chExt cx="0" cy="0"/>
        </a:xfrm>
      </p:grpSpPr>
      <p:sp>
        <p:nvSpPr>
          <p:cNvPr id="210" name="Google Shape;210;p8:notes">
            <a:extLst>
              <a:ext uri="{FF2B5EF4-FFF2-40B4-BE49-F238E27FC236}">
                <a16:creationId xmlns:a16="http://schemas.microsoft.com/office/drawing/2014/main" id="{52461EEC-9AE8-70B3-C495-BCB11DF6E521}"/>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1" name="Google Shape;211;p8:notes">
            <a:extLst>
              <a:ext uri="{FF2B5EF4-FFF2-40B4-BE49-F238E27FC236}">
                <a16:creationId xmlns:a16="http://schemas.microsoft.com/office/drawing/2014/main" id="{AEAAD24A-8454-9A4E-C2D3-4D1750637251}"/>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3002346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a:extLst>
            <a:ext uri="{FF2B5EF4-FFF2-40B4-BE49-F238E27FC236}">
              <a16:creationId xmlns:a16="http://schemas.microsoft.com/office/drawing/2014/main" id="{604A7C74-2757-246E-0121-DD475FCF2D41}"/>
            </a:ext>
          </a:extLst>
        </p:cNvPr>
        <p:cNvGrpSpPr/>
        <p:nvPr/>
      </p:nvGrpSpPr>
      <p:grpSpPr>
        <a:xfrm>
          <a:off x="0" y="0"/>
          <a:ext cx="0" cy="0"/>
          <a:chOff x="0" y="0"/>
          <a:chExt cx="0" cy="0"/>
        </a:xfrm>
      </p:grpSpPr>
      <p:sp>
        <p:nvSpPr>
          <p:cNvPr id="210" name="Google Shape;210;p8:notes">
            <a:extLst>
              <a:ext uri="{FF2B5EF4-FFF2-40B4-BE49-F238E27FC236}">
                <a16:creationId xmlns:a16="http://schemas.microsoft.com/office/drawing/2014/main" id="{A8AE5246-5068-56C6-02D4-04DB08BC0643}"/>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1" name="Google Shape;211;p8:notes">
            <a:extLst>
              <a:ext uri="{FF2B5EF4-FFF2-40B4-BE49-F238E27FC236}">
                <a16:creationId xmlns:a16="http://schemas.microsoft.com/office/drawing/2014/main" id="{4F2521AC-A399-923D-6D67-77CA61D73BF0}"/>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3498262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a:extLst>
            <a:ext uri="{FF2B5EF4-FFF2-40B4-BE49-F238E27FC236}">
              <a16:creationId xmlns:a16="http://schemas.microsoft.com/office/drawing/2014/main" id="{E85B2310-FD45-CE6C-E93E-576480DC16B6}"/>
            </a:ext>
          </a:extLst>
        </p:cNvPr>
        <p:cNvGrpSpPr/>
        <p:nvPr/>
      </p:nvGrpSpPr>
      <p:grpSpPr>
        <a:xfrm>
          <a:off x="0" y="0"/>
          <a:ext cx="0" cy="0"/>
          <a:chOff x="0" y="0"/>
          <a:chExt cx="0" cy="0"/>
        </a:xfrm>
      </p:grpSpPr>
      <p:sp>
        <p:nvSpPr>
          <p:cNvPr id="210" name="Google Shape;210;p8:notes">
            <a:extLst>
              <a:ext uri="{FF2B5EF4-FFF2-40B4-BE49-F238E27FC236}">
                <a16:creationId xmlns:a16="http://schemas.microsoft.com/office/drawing/2014/main" id="{4E22EC2A-85CB-8B34-0F0A-C7AF4B8C2155}"/>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1" name="Google Shape;211;p8:notes">
            <a:extLst>
              <a:ext uri="{FF2B5EF4-FFF2-40B4-BE49-F238E27FC236}">
                <a16:creationId xmlns:a16="http://schemas.microsoft.com/office/drawing/2014/main" id="{61784C25-4D46-F32C-7593-30C846AF45CC}"/>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7815734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a:extLst>
            <a:ext uri="{FF2B5EF4-FFF2-40B4-BE49-F238E27FC236}">
              <a16:creationId xmlns:a16="http://schemas.microsoft.com/office/drawing/2014/main" id="{AD67A1B6-D68C-301E-7640-40C13B1C5736}"/>
            </a:ext>
          </a:extLst>
        </p:cNvPr>
        <p:cNvGrpSpPr/>
        <p:nvPr/>
      </p:nvGrpSpPr>
      <p:grpSpPr>
        <a:xfrm>
          <a:off x="0" y="0"/>
          <a:ext cx="0" cy="0"/>
          <a:chOff x="0" y="0"/>
          <a:chExt cx="0" cy="0"/>
        </a:xfrm>
      </p:grpSpPr>
      <p:sp>
        <p:nvSpPr>
          <p:cNvPr id="210" name="Google Shape;210;p8:notes">
            <a:extLst>
              <a:ext uri="{FF2B5EF4-FFF2-40B4-BE49-F238E27FC236}">
                <a16:creationId xmlns:a16="http://schemas.microsoft.com/office/drawing/2014/main" id="{164C6DD4-DDE9-E0C3-BE54-CB7CE3EE79D8}"/>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1" name="Google Shape;211;p8:notes">
            <a:extLst>
              <a:ext uri="{FF2B5EF4-FFF2-40B4-BE49-F238E27FC236}">
                <a16:creationId xmlns:a16="http://schemas.microsoft.com/office/drawing/2014/main" id="{40F69942-6ABF-BF49-2C5D-68BDB7FD3DAC}"/>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9383205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8" name="Google Shape;218;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4" name="Google Shape;224;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20"/>
        <p:cNvGrpSpPr/>
        <p:nvPr/>
      </p:nvGrpSpPr>
      <p:grpSpPr>
        <a:xfrm>
          <a:off x="0" y="0"/>
          <a:ext cx="0" cy="0"/>
          <a:chOff x="0" y="0"/>
          <a:chExt cx="0" cy="0"/>
        </a:xfrm>
      </p:grpSpPr>
      <p:sp>
        <p:nvSpPr>
          <p:cNvPr id="21" name="Google Shape;21;p12"/>
          <p:cNvSpPr txBox="1">
            <a:spLocks noGrp="1"/>
          </p:cNvSpPr>
          <p:nvPr>
            <p:ph type="sldNum" idx="12"/>
          </p:nvPr>
        </p:nvSpPr>
        <p:spPr>
          <a:xfrm>
            <a:off x="0" y="6610350"/>
            <a:ext cx="381000" cy="24765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000"/>
              <a:buFont typeface="Arial"/>
              <a:buNone/>
              <a:defRPr sz="10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000"/>
              <a:buFont typeface="Arial"/>
              <a:buNone/>
              <a:defRPr sz="10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000"/>
              <a:buFont typeface="Arial"/>
              <a:buNone/>
              <a:defRPr sz="10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000"/>
              <a:buFont typeface="Arial"/>
              <a:buNone/>
              <a:defRPr sz="10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000"/>
              <a:buFont typeface="Arial"/>
              <a:buNone/>
              <a:defRPr sz="10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000"/>
              <a:buFont typeface="Arial"/>
              <a:buNone/>
              <a:defRPr sz="10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000"/>
              <a:buFont typeface="Arial"/>
              <a:buNone/>
              <a:defRPr sz="10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000"/>
              <a:buFont typeface="Arial"/>
              <a:buNone/>
              <a:defRPr sz="10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000"/>
              <a:buFont typeface="Arial"/>
              <a:buNone/>
              <a:defRPr sz="10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3"/>
        <p:cNvGrpSpPr/>
        <p:nvPr/>
      </p:nvGrpSpPr>
      <p:grpSpPr>
        <a:xfrm>
          <a:off x="0" y="0"/>
          <a:ext cx="0" cy="0"/>
          <a:chOff x="0" y="0"/>
          <a:chExt cx="0" cy="0"/>
        </a:xfrm>
      </p:grpSpPr>
      <p:sp>
        <p:nvSpPr>
          <p:cNvPr id="34" name="Google Shape;34;p14"/>
          <p:cNvSpPr txBox="1">
            <a:spLocks noGrp="1"/>
          </p:cNvSpPr>
          <p:nvPr>
            <p:ph type="title"/>
          </p:nvPr>
        </p:nvSpPr>
        <p:spPr>
          <a:xfrm>
            <a:off x="685800" y="274638"/>
            <a:ext cx="8001000" cy="715962"/>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5" name="Google Shape;35;p14"/>
          <p:cNvSpPr txBox="1">
            <a:spLocks noGrp="1"/>
          </p:cNvSpPr>
          <p:nvPr>
            <p:ph type="body" idx="1"/>
          </p:nvPr>
        </p:nvSpPr>
        <p:spPr>
          <a:xfrm>
            <a:off x="685800" y="990600"/>
            <a:ext cx="8001000" cy="5135563"/>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6" name="Google Shape;36;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4"/>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49"/>
        <p:cNvGrpSpPr/>
        <p:nvPr/>
      </p:nvGrpSpPr>
      <p:grpSpPr>
        <a:xfrm>
          <a:off x="0" y="0"/>
          <a:ext cx="0" cy="0"/>
          <a:chOff x="0" y="0"/>
          <a:chExt cx="0" cy="0"/>
        </a:xfrm>
      </p:grpSpPr>
      <p:sp>
        <p:nvSpPr>
          <p:cNvPr id="50" name="Google Shape;50;p17"/>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1" name="Google Shape;51;p17"/>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52" name="Google Shape;52;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55"/>
        <p:cNvGrpSpPr/>
        <p:nvPr/>
      </p:nvGrpSpPr>
      <p:grpSpPr>
        <a:xfrm>
          <a:off x="0" y="0"/>
          <a:ext cx="0" cy="0"/>
          <a:chOff x="0" y="0"/>
          <a:chExt cx="0" cy="0"/>
        </a:xfrm>
      </p:grpSpPr>
      <p:sp>
        <p:nvSpPr>
          <p:cNvPr id="56" name="Google Shape;56;p18"/>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7" name="Google Shape;57;p18"/>
          <p:cNvSpPr txBox="1">
            <a:spLocks noGrp="1"/>
          </p:cNvSpPr>
          <p:nvPr>
            <p:ph type="body" idx="1"/>
          </p:nvPr>
        </p:nvSpPr>
        <p:spPr>
          <a:xfrm rot="5400000">
            <a:off x="2309019" y="-251619"/>
            <a:ext cx="4525962"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58" name="Google Shape;58;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9"/>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3" name="Google Shape;63;p19"/>
          <p:cNvSpPr>
            <a:spLocks noGrp="1"/>
          </p:cNvSpPr>
          <p:nvPr>
            <p:ph type="pic" idx="2"/>
          </p:nvPr>
        </p:nvSpPr>
        <p:spPr>
          <a:xfrm>
            <a:off x="1792288" y="612775"/>
            <a:ext cx="5486400" cy="4114800"/>
          </a:xfrm>
          <a:prstGeom prst="rect">
            <a:avLst/>
          </a:prstGeom>
          <a:noFill/>
          <a:ln>
            <a:noFill/>
          </a:ln>
        </p:spPr>
      </p:sp>
      <p:sp>
        <p:nvSpPr>
          <p:cNvPr id="64" name="Google Shape;64;p19"/>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8"/>
        <p:cNvGrpSpPr/>
        <p:nvPr/>
      </p:nvGrpSpPr>
      <p:grpSpPr>
        <a:xfrm>
          <a:off x="0" y="0"/>
          <a:ext cx="0" cy="0"/>
          <a:chOff x="0" y="0"/>
          <a:chExt cx="0" cy="0"/>
        </a:xfrm>
      </p:grpSpPr>
      <p:sp>
        <p:nvSpPr>
          <p:cNvPr id="69" name="Google Shape;69;p20"/>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0" name="Google Shape;70;p20"/>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71" name="Google Shape;71;p20"/>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72" name="Google Shape;72;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5"/>
        <p:cNvGrpSpPr/>
        <p:nvPr/>
      </p:nvGrpSpPr>
      <p:grpSpPr>
        <a:xfrm>
          <a:off x="0" y="0"/>
          <a:ext cx="0" cy="0"/>
          <a:chOff x="0" y="0"/>
          <a:chExt cx="0" cy="0"/>
        </a:xfrm>
      </p:grpSpPr>
      <p:sp>
        <p:nvSpPr>
          <p:cNvPr id="76" name="Google Shape;76;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9"/>
        <p:cNvGrpSpPr/>
        <p:nvPr/>
      </p:nvGrpSpPr>
      <p:grpSpPr>
        <a:xfrm>
          <a:off x="0" y="0"/>
          <a:ext cx="0" cy="0"/>
          <a:chOff x="0" y="0"/>
          <a:chExt cx="0" cy="0"/>
        </a:xfrm>
      </p:grpSpPr>
      <p:sp>
        <p:nvSpPr>
          <p:cNvPr id="80" name="Google Shape;80;p22"/>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1" name="Google Shape;81;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84"/>
        <p:cNvGrpSpPr/>
        <p:nvPr/>
      </p:nvGrpSpPr>
      <p:grpSpPr>
        <a:xfrm>
          <a:off x="0" y="0"/>
          <a:ext cx="0" cy="0"/>
          <a:chOff x="0" y="0"/>
          <a:chExt cx="0" cy="0"/>
        </a:xfrm>
      </p:grpSpPr>
      <p:sp>
        <p:nvSpPr>
          <p:cNvPr id="85" name="Google Shape;85;p23"/>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6" name="Google Shape;86;p23"/>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87" name="Google Shape;87;p23"/>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88" name="Google Shape;88;p23"/>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89" name="Google Shape;89;p23"/>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90" name="Google Shape;90;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93"/>
        <p:cNvGrpSpPr/>
        <p:nvPr/>
      </p:nvGrpSpPr>
      <p:grpSpPr>
        <a:xfrm>
          <a:off x="0" y="0"/>
          <a:ext cx="0" cy="0"/>
          <a:chOff x="0" y="0"/>
          <a:chExt cx="0" cy="0"/>
        </a:xfrm>
      </p:grpSpPr>
      <p:sp>
        <p:nvSpPr>
          <p:cNvPr id="94" name="Google Shape;94;p24"/>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95" name="Google Shape;95;p24"/>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96" name="Google Shape;96;p24"/>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97" name="Google Shape;97;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9" name="Google Shape;99;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00"/>
        <p:cNvGrpSpPr/>
        <p:nvPr/>
      </p:nvGrpSpPr>
      <p:grpSpPr>
        <a:xfrm>
          <a:off x="0" y="0"/>
          <a:ext cx="0" cy="0"/>
          <a:chOff x="0" y="0"/>
          <a:chExt cx="0" cy="0"/>
        </a:xfrm>
      </p:grpSpPr>
      <p:sp>
        <p:nvSpPr>
          <p:cNvPr id="101" name="Google Shape;101;p2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02" name="Google Shape;102;p2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103" name="Google Shape;103;p2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5" name="Google Shape;105;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6"/>
        <p:cNvGrpSpPr/>
        <p:nvPr/>
      </p:nvGrpSpPr>
      <p:grpSpPr>
        <a:xfrm>
          <a:off x="0" y="0"/>
          <a:ext cx="0" cy="0"/>
          <a:chOff x="0" y="0"/>
          <a:chExt cx="0" cy="0"/>
        </a:xfrm>
      </p:grpSpPr>
      <p:sp>
        <p:nvSpPr>
          <p:cNvPr id="107" name="Google Shape;107;p26"/>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08" name="Google Shape;108;p26"/>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09" name="Google Shape;109;p2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0" name="Google Shape;110;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27"/>
        <p:cNvGrpSpPr/>
        <p:nvPr/>
      </p:nvGrpSpPr>
      <p:grpSpPr>
        <a:xfrm>
          <a:off x="0" y="0"/>
          <a:ext cx="0" cy="0"/>
          <a:chOff x="0" y="0"/>
          <a:chExt cx="0" cy="0"/>
        </a:xfrm>
      </p:grpSpPr>
      <p:sp>
        <p:nvSpPr>
          <p:cNvPr id="128" name="Google Shape;128;p28"/>
          <p:cNvSpPr txBox="1">
            <a:spLocks noGrp="1"/>
          </p:cNvSpPr>
          <p:nvPr>
            <p:ph type="sldNum" idx="12"/>
          </p:nvPr>
        </p:nvSpPr>
        <p:spPr>
          <a:xfrm>
            <a:off x="0" y="6610350"/>
            <a:ext cx="381000" cy="24765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37"/>
        <p:cNvGrpSpPr/>
        <p:nvPr/>
      </p:nvGrpSpPr>
      <p:grpSpPr>
        <a:xfrm>
          <a:off x="0" y="0"/>
          <a:ext cx="0" cy="0"/>
          <a:chOff x="0" y="0"/>
          <a:chExt cx="0" cy="0"/>
        </a:xfrm>
      </p:grpSpPr>
      <p:sp>
        <p:nvSpPr>
          <p:cNvPr id="138" name="Google Shape;138;p30"/>
          <p:cNvSpPr txBox="1">
            <a:spLocks noGrp="1"/>
          </p:cNvSpPr>
          <p:nvPr>
            <p:ph type="title"/>
          </p:nvPr>
        </p:nvSpPr>
        <p:spPr>
          <a:xfrm>
            <a:off x="381000" y="2667000"/>
            <a:ext cx="8401050" cy="67468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9" name="Google Shape;139;p30"/>
          <p:cNvSpPr txBox="1">
            <a:spLocks noGrp="1"/>
          </p:cNvSpPr>
          <p:nvPr>
            <p:ph type="body" idx="1"/>
          </p:nvPr>
        </p:nvSpPr>
        <p:spPr>
          <a:xfrm>
            <a:off x="0" y="990600"/>
            <a:ext cx="8437562" cy="4754563"/>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40" name="Google Shape;140;p30"/>
          <p:cNvSpPr txBox="1">
            <a:spLocks noGrp="1"/>
          </p:cNvSpPr>
          <p:nvPr>
            <p:ph type="sldNum" idx="12"/>
          </p:nvPr>
        </p:nvSpPr>
        <p:spPr>
          <a:xfrm>
            <a:off x="7086600" y="6553200"/>
            <a:ext cx="1676400" cy="3048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600"/>
              <a:buFont typeface="Arial"/>
              <a:buNone/>
              <a:defRPr sz="1600" b="0" i="0" u="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1600"/>
              <a:buFont typeface="Arial"/>
              <a:buNone/>
              <a:defRPr sz="1600" b="0" i="0" u="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1600"/>
              <a:buFont typeface="Arial"/>
              <a:buNone/>
              <a:defRPr sz="1600" b="0" i="0" u="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1600"/>
              <a:buFont typeface="Arial"/>
              <a:buNone/>
              <a:defRPr sz="1600" b="0" i="0" u="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1600"/>
              <a:buFont typeface="Arial"/>
              <a:buNone/>
              <a:defRPr sz="1600" b="0" i="0" u="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1600"/>
              <a:buFont typeface="Arial"/>
              <a:buNone/>
              <a:defRPr sz="1600" b="0" i="0" u="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1600"/>
              <a:buFont typeface="Arial"/>
              <a:buNone/>
              <a:defRPr sz="1600" b="0" i="0" u="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1600"/>
              <a:buFont typeface="Arial"/>
              <a:buNone/>
              <a:defRPr sz="1600" b="0" i="0" u="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1600"/>
              <a:buFont typeface="Arial"/>
              <a:buNone/>
              <a:defRPr sz="1600" b="0" i="0" u="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156"/>
        <p:cNvGrpSpPr/>
        <p:nvPr/>
      </p:nvGrpSpPr>
      <p:grpSpPr>
        <a:xfrm>
          <a:off x="0" y="0"/>
          <a:ext cx="0" cy="0"/>
          <a:chOff x="0" y="0"/>
          <a:chExt cx="0" cy="0"/>
        </a:xfrm>
      </p:grpSpPr>
      <p:sp>
        <p:nvSpPr>
          <p:cNvPr id="157" name="Google Shape;157;p32"/>
          <p:cNvSpPr txBox="1">
            <a:spLocks noGrp="1"/>
          </p:cNvSpPr>
          <p:nvPr>
            <p:ph type="sldNum" idx="12"/>
          </p:nvPr>
        </p:nvSpPr>
        <p:spPr>
          <a:xfrm>
            <a:off x="0" y="6610350"/>
            <a:ext cx="381000" cy="24765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1"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theme" Target="../theme/theme4.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theme" Target="../theme/theme5.xml"/><Relationship Id="rId1" Type="http://schemas.openxmlformats.org/officeDocument/2006/relationships/slideLayout" Target="../slideLayouts/slideLayout13.xml"/><Relationship Id="rId5" Type="http://schemas.openxmlformats.org/officeDocument/2006/relationships/image" Target="../media/image5.png"/><Relationship Id="rId4" Type="http://schemas.openxmlformats.org/officeDocument/2006/relationships/image" Target="../media/image4.png"/></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theme" Target="../theme/theme6.xml"/><Relationship Id="rId1" Type="http://schemas.openxmlformats.org/officeDocument/2006/relationships/slideLayout" Target="../slideLayouts/slideLayout14.xml"/><Relationship Id="rId4" Type="http://schemas.openxmlformats.org/officeDocument/2006/relationships/image" Target="../media/image2.png"/></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theme" Target="../theme/theme7.xml"/><Relationship Id="rId1" Type="http://schemas.openxmlformats.org/officeDocument/2006/relationships/slideLayout" Target="../slideLayouts/slideLayout15.xml"/><Relationship Id="rId5" Type="http://schemas.openxmlformats.org/officeDocument/2006/relationships/image" Target="../media/image5.png"/><Relationship Id="rId4"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1"/>
          <p:cNvSpPr/>
          <p:nvPr/>
        </p:nvSpPr>
        <p:spPr>
          <a:xfrm>
            <a:off x="0" y="381000"/>
            <a:ext cx="9131300" cy="914400"/>
          </a:xfrm>
          <a:custGeom>
            <a:avLst/>
            <a:gdLst/>
            <a:ahLst/>
            <a:cxnLst/>
            <a:rect l="l" t="t" r="r" b="b"/>
            <a:pathLst>
              <a:path w="5752" h="444" extrusionOk="0">
                <a:moveTo>
                  <a:pt x="5745" y="9"/>
                </a:moveTo>
                <a:lnTo>
                  <a:pt x="2449" y="8"/>
                </a:lnTo>
                <a:cubicBezTo>
                  <a:pt x="2309" y="8"/>
                  <a:pt x="2404" y="0"/>
                  <a:pt x="2347" y="14"/>
                </a:cubicBezTo>
                <a:lnTo>
                  <a:pt x="2174" y="93"/>
                </a:lnTo>
                <a:cubicBezTo>
                  <a:pt x="2124" y="112"/>
                  <a:pt x="2142" y="120"/>
                  <a:pt x="2046" y="127"/>
                </a:cubicBezTo>
                <a:cubicBezTo>
                  <a:pt x="1076" y="125"/>
                  <a:pt x="0" y="119"/>
                  <a:pt x="0" y="119"/>
                </a:cubicBezTo>
                <a:lnTo>
                  <a:pt x="0" y="444"/>
                </a:lnTo>
                <a:lnTo>
                  <a:pt x="3601" y="444"/>
                </a:lnTo>
                <a:lnTo>
                  <a:pt x="3672" y="424"/>
                </a:lnTo>
                <a:lnTo>
                  <a:pt x="3883" y="331"/>
                </a:lnTo>
                <a:lnTo>
                  <a:pt x="3985" y="325"/>
                </a:lnTo>
                <a:lnTo>
                  <a:pt x="5752" y="325"/>
                </a:lnTo>
                <a:lnTo>
                  <a:pt x="5745" y="9"/>
                </a:lnTo>
                <a:close/>
              </a:path>
            </a:pathLst>
          </a:custGeom>
          <a:solidFill>
            <a:srgbClr val="FFFFFF">
              <a:alpha val="49803"/>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1" name="Google Shape;11;p11"/>
          <p:cNvSpPr/>
          <p:nvPr/>
        </p:nvSpPr>
        <p:spPr>
          <a:xfrm>
            <a:off x="0" y="6346825"/>
            <a:ext cx="9131300" cy="511175"/>
          </a:xfrm>
          <a:custGeom>
            <a:avLst/>
            <a:gdLst/>
            <a:ahLst/>
            <a:cxnLst/>
            <a:rect l="l" t="t" r="r" b="b"/>
            <a:pathLst>
              <a:path w="5752" h="444" extrusionOk="0">
                <a:moveTo>
                  <a:pt x="5745" y="9"/>
                </a:moveTo>
                <a:lnTo>
                  <a:pt x="2449" y="8"/>
                </a:lnTo>
                <a:cubicBezTo>
                  <a:pt x="2309" y="8"/>
                  <a:pt x="2404" y="0"/>
                  <a:pt x="2347" y="14"/>
                </a:cubicBezTo>
                <a:lnTo>
                  <a:pt x="2174" y="93"/>
                </a:lnTo>
                <a:cubicBezTo>
                  <a:pt x="2124" y="112"/>
                  <a:pt x="2142" y="120"/>
                  <a:pt x="2046" y="127"/>
                </a:cubicBezTo>
                <a:cubicBezTo>
                  <a:pt x="1076" y="125"/>
                  <a:pt x="0" y="119"/>
                  <a:pt x="0" y="119"/>
                </a:cubicBezTo>
                <a:lnTo>
                  <a:pt x="0" y="444"/>
                </a:lnTo>
                <a:lnTo>
                  <a:pt x="3601" y="444"/>
                </a:lnTo>
                <a:lnTo>
                  <a:pt x="3672" y="424"/>
                </a:lnTo>
                <a:lnTo>
                  <a:pt x="3883" y="331"/>
                </a:lnTo>
                <a:lnTo>
                  <a:pt x="3985" y="325"/>
                </a:lnTo>
                <a:lnTo>
                  <a:pt x="5752" y="325"/>
                </a:lnTo>
                <a:lnTo>
                  <a:pt x="5745" y="9"/>
                </a:lnTo>
                <a:close/>
              </a:path>
            </a:pathLst>
          </a:custGeom>
          <a:solidFill>
            <a:srgbClr val="FFFFFF">
              <a:alpha val="49803"/>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2" name="Google Shape;12;p11"/>
          <p:cNvSpPr txBox="1"/>
          <p:nvPr/>
        </p:nvSpPr>
        <p:spPr>
          <a:xfrm>
            <a:off x="-92075" y="220662"/>
            <a:ext cx="9326562" cy="126184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170272"/>
              </a:buClr>
              <a:buSzPts val="2400"/>
              <a:buFont typeface="Arial"/>
              <a:buNone/>
            </a:pPr>
            <a:r>
              <a:rPr lang="en-US" sz="2000" b="1" i="0" u="none">
                <a:solidFill>
                  <a:srgbClr val="170272"/>
                </a:solidFill>
                <a:latin typeface="Arial"/>
                <a:ea typeface="Arial"/>
                <a:cs typeface="Arial"/>
                <a:sym typeface="Arial"/>
              </a:rPr>
              <a:t>VIETNAM NATIONAL UNIVERSITY – HO CHI MINH CITY</a:t>
            </a:r>
            <a:endParaRPr sz="1200"/>
          </a:p>
          <a:p>
            <a:pPr marL="0" marR="0" lvl="0" indent="0" algn="ctr" rtl="0">
              <a:lnSpc>
                <a:spcPct val="100000"/>
              </a:lnSpc>
              <a:spcBef>
                <a:spcPts val="0"/>
              </a:spcBef>
              <a:spcAft>
                <a:spcPts val="0"/>
              </a:spcAft>
              <a:buClr>
                <a:srgbClr val="170272"/>
              </a:buClr>
              <a:buSzPts val="2400"/>
              <a:buFont typeface="Arial"/>
              <a:buNone/>
            </a:pPr>
            <a:r>
              <a:rPr lang="en-US" sz="2000" b="1" i="0" u="none">
                <a:solidFill>
                  <a:srgbClr val="170272"/>
                </a:solidFill>
                <a:latin typeface="Arial"/>
                <a:ea typeface="Arial"/>
                <a:cs typeface="Arial"/>
                <a:sym typeface="Arial"/>
              </a:rPr>
              <a:t>HO CHI MINH UNIVERSITY OF TECHNOLOGY</a:t>
            </a:r>
            <a:endParaRPr sz="1200"/>
          </a:p>
          <a:p>
            <a:pPr marL="0" marR="0" lvl="0" indent="0" algn="ctr" rtl="0">
              <a:lnSpc>
                <a:spcPct val="100000"/>
              </a:lnSpc>
              <a:spcBef>
                <a:spcPts val="0"/>
              </a:spcBef>
              <a:spcAft>
                <a:spcPts val="0"/>
              </a:spcAft>
              <a:buClr>
                <a:srgbClr val="170272"/>
              </a:buClr>
              <a:buSzPts val="2200"/>
              <a:buFont typeface="Arial"/>
              <a:buNone/>
            </a:pPr>
            <a:r>
              <a:rPr lang="en-US" sz="1800" b="1" i="0" u="none">
                <a:solidFill>
                  <a:srgbClr val="170272"/>
                </a:solidFill>
                <a:latin typeface="Arial"/>
                <a:ea typeface="Arial"/>
                <a:cs typeface="Arial"/>
                <a:sym typeface="Arial"/>
              </a:rPr>
              <a:t>FACULTY OF ELECTRICAL – ELECTRONIC ENGINEERING </a:t>
            </a:r>
            <a:endParaRPr sz="1200"/>
          </a:p>
          <a:p>
            <a:pPr marL="0" marR="0" lvl="0" indent="0" algn="ctr" rtl="0">
              <a:lnSpc>
                <a:spcPct val="100000"/>
              </a:lnSpc>
              <a:spcBef>
                <a:spcPts val="0"/>
              </a:spcBef>
              <a:spcAft>
                <a:spcPts val="0"/>
              </a:spcAft>
              <a:buClr>
                <a:srgbClr val="170272"/>
              </a:buClr>
              <a:buSzPts val="2000"/>
              <a:buFont typeface="Arial"/>
              <a:buNone/>
            </a:pPr>
            <a:r>
              <a:rPr lang="en-US" sz="1800" b="1" i="0" u="none">
                <a:solidFill>
                  <a:srgbClr val="170272"/>
                </a:solidFill>
                <a:latin typeface="Arial"/>
                <a:ea typeface="Arial"/>
                <a:cs typeface="Arial"/>
                <a:sym typeface="Arial"/>
              </a:rPr>
              <a:t>DEPARTMENT OF ELECTRONICS</a:t>
            </a:r>
            <a:endParaRPr sz="1200"/>
          </a:p>
        </p:txBody>
      </p:sp>
      <p:sp>
        <p:nvSpPr>
          <p:cNvPr id="13" name="Google Shape;13;p11"/>
          <p:cNvSpPr txBox="1"/>
          <p:nvPr/>
        </p:nvSpPr>
        <p:spPr>
          <a:xfrm>
            <a:off x="3352800" y="6096000"/>
            <a:ext cx="2895600" cy="3365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4" name="Google Shape;14;p11"/>
          <p:cNvSpPr txBox="1"/>
          <p:nvPr/>
        </p:nvSpPr>
        <p:spPr>
          <a:xfrm>
            <a:off x="2514600" y="6453187"/>
            <a:ext cx="6629400" cy="307975"/>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2F6ACB"/>
              </a:buClr>
              <a:buSzPts val="1400"/>
              <a:buFont typeface="Arial"/>
              <a:buNone/>
            </a:pPr>
            <a:r>
              <a:rPr lang="en-US" sz="1400" b="1" i="0" u="none">
                <a:solidFill>
                  <a:srgbClr val="2F6ACB"/>
                </a:solidFill>
                <a:latin typeface="Arial"/>
                <a:ea typeface="Arial"/>
                <a:cs typeface="Arial"/>
                <a:sym typeface="Arial"/>
              </a:rPr>
              <a:t>Ho Chi Minh City  04/06/2025</a:t>
            </a:r>
            <a:endParaRPr/>
          </a:p>
        </p:txBody>
      </p:sp>
      <p:sp>
        <p:nvSpPr>
          <p:cNvPr id="15" name="Google Shape;15;p11"/>
          <p:cNvSpPr txBox="1"/>
          <p:nvPr/>
        </p:nvSpPr>
        <p:spPr>
          <a:xfrm>
            <a:off x="0" y="2438400"/>
            <a:ext cx="9144000" cy="267811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3376C7"/>
              </a:buClr>
              <a:buSzPts val="3600"/>
              <a:buFont typeface="Arial"/>
              <a:buNone/>
            </a:pPr>
            <a:r>
              <a:rPr lang="en-US" sz="3600" b="1" i="0" u="none">
                <a:solidFill>
                  <a:srgbClr val="3376C7"/>
                </a:solidFill>
                <a:latin typeface="Arial"/>
                <a:ea typeface="Arial"/>
                <a:cs typeface="Arial"/>
                <a:sym typeface="Arial"/>
              </a:rPr>
              <a:t>GRADUATION THESIS</a:t>
            </a:r>
            <a:endParaRPr/>
          </a:p>
          <a:p>
            <a:pPr marL="0" marR="0" lvl="0" indent="0" algn="ctr" rtl="0">
              <a:lnSpc>
                <a:spcPct val="100000"/>
              </a:lnSpc>
              <a:spcBef>
                <a:spcPts val="0"/>
              </a:spcBef>
              <a:spcAft>
                <a:spcPts val="0"/>
              </a:spcAft>
              <a:buClr>
                <a:srgbClr val="3376C7"/>
              </a:buClr>
              <a:buSzPts val="2000"/>
              <a:buFont typeface="Arial"/>
              <a:buNone/>
            </a:pPr>
            <a:r>
              <a:rPr lang="en-US" sz="2000" b="1" i="0" u="none">
                <a:solidFill>
                  <a:srgbClr val="3376C7"/>
                </a:solidFill>
                <a:latin typeface="Arial"/>
                <a:ea typeface="Arial"/>
                <a:cs typeface="Arial"/>
                <a:sym typeface="Arial"/>
              </a:rPr>
              <a:t>NOVEL MATMUL-FREE COPROCESSOR ARCHITECTURE FOR LARGE LANGUAGE MODEL</a:t>
            </a:r>
            <a:endParaRPr sz="2000" b="1" i="0" u="none">
              <a:solidFill>
                <a:srgbClr val="3376C7"/>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2000"/>
              <a:buFont typeface="Arial"/>
              <a:buNone/>
            </a:pPr>
            <a:endParaRPr sz="2000" b="1" i="0" u="none">
              <a:solidFill>
                <a:srgbClr val="3376C7"/>
              </a:solidFill>
              <a:latin typeface="Arial"/>
              <a:ea typeface="Arial"/>
              <a:cs typeface="Arial"/>
              <a:sym typeface="Arial"/>
            </a:endParaRPr>
          </a:p>
          <a:p>
            <a:pPr marL="0" marR="0" lvl="0" indent="0" algn="ctr" rtl="0">
              <a:lnSpc>
                <a:spcPct val="100000"/>
              </a:lnSpc>
              <a:spcBef>
                <a:spcPts val="0"/>
              </a:spcBef>
              <a:spcAft>
                <a:spcPts val="0"/>
              </a:spcAft>
              <a:buClr>
                <a:srgbClr val="3376C7"/>
              </a:buClr>
              <a:buSzPts val="2400"/>
              <a:buFont typeface="Arial"/>
              <a:buNone/>
            </a:pPr>
            <a:r>
              <a:rPr lang="en-US" sz="2400" b="1" i="0" u="none">
                <a:solidFill>
                  <a:srgbClr val="3376C7"/>
                </a:solidFill>
                <a:latin typeface="Arial"/>
                <a:ea typeface="Arial"/>
                <a:cs typeface="Arial"/>
                <a:sym typeface="Arial"/>
              </a:rPr>
              <a:t>Instructor: PhD. Trần Hoàng Linh &amp; Mr. Nguyễn Tuấn Hùng</a:t>
            </a:r>
            <a:endParaRPr/>
          </a:p>
          <a:p>
            <a:pPr marL="0" marR="0" lvl="0" indent="0" algn="ctr" rtl="0">
              <a:lnSpc>
                <a:spcPct val="100000"/>
              </a:lnSpc>
              <a:spcBef>
                <a:spcPts val="0"/>
              </a:spcBef>
              <a:spcAft>
                <a:spcPts val="0"/>
              </a:spcAft>
              <a:buClr>
                <a:srgbClr val="3376C7"/>
              </a:buClr>
              <a:buSzPts val="2400"/>
              <a:buFont typeface="Arial"/>
              <a:buNone/>
            </a:pPr>
            <a:r>
              <a:rPr lang="en-US" sz="2400" b="1" i="0" u="none">
                <a:solidFill>
                  <a:srgbClr val="3376C7"/>
                </a:solidFill>
                <a:latin typeface="Arial"/>
                <a:ea typeface="Arial"/>
                <a:cs typeface="Arial"/>
                <a:sym typeface="Arial"/>
              </a:rPr>
              <a:t>Student: Nguyễn Nhựt Khanh</a:t>
            </a:r>
            <a:endParaRPr/>
          </a:p>
          <a:p>
            <a:pPr marL="0" marR="0" lvl="0" indent="0" algn="ctr" rtl="0">
              <a:lnSpc>
                <a:spcPct val="100000"/>
              </a:lnSpc>
              <a:spcBef>
                <a:spcPts val="0"/>
              </a:spcBef>
              <a:spcAft>
                <a:spcPts val="0"/>
              </a:spcAft>
              <a:buClr>
                <a:srgbClr val="3376C7"/>
              </a:buClr>
              <a:buSzPts val="2400"/>
              <a:buFont typeface="Arial"/>
              <a:buNone/>
            </a:pPr>
            <a:r>
              <a:rPr lang="en-US" sz="2400" b="1" i="0" u="none">
                <a:solidFill>
                  <a:srgbClr val="3376C7"/>
                </a:solidFill>
                <a:latin typeface="Arial"/>
                <a:ea typeface="Arial"/>
                <a:cs typeface="Arial"/>
                <a:sym typeface="Arial"/>
              </a:rPr>
              <a:t>ID: 2151097</a:t>
            </a:r>
            <a:endParaRPr/>
          </a:p>
        </p:txBody>
      </p:sp>
      <p:pic>
        <p:nvPicPr>
          <p:cNvPr id="16" name="Google Shape;16;p11"/>
          <p:cNvPicPr preferRelativeResize="0"/>
          <p:nvPr/>
        </p:nvPicPr>
        <p:blipFill rotWithShape="1">
          <a:blip r:embed="rId3">
            <a:alphaModFix/>
          </a:blip>
          <a:srcRect/>
          <a:stretch/>
        </p:blipFill>
        <p:spPr>
          <a:xfrm>
            <a:off x="7569993" y="262732"/>
            <a:ext cx="1716087" cy="1560512"/>
          </a:xfrm>
          <a:prstGeom prst="rect">
            <a:avLst/>
          </a:prstGeom>
          <a:noFill/>
          <a:ln>
            <a:noFill/>
          </a:ln>
        </p:spPr>
      </p:pic>
      <p:sp>
        <p:nvSpPr>
          <p:cNvPr id="19" name="Google Shape;19;p11"/>
          <p:cNvSpPr txBox="1">
            <a:spLocks noGrp="1"/>
          </p:cNvSpPr>
          <p:nvPr>
            <p:ph type="sldNum" idx="12"/>
          </p:nvPr>
        </p:nvSpPr>
        <p:spPr>
          <a:xfrm>
            <a:off x="0" y="6610350"/>
            <a:ext cx="381000" cy="24765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000"/>
              <a:buFont typeface="Arial"/>
              <a:buNone/>
              <a:defRPr sz="1000" b="0" i="0" u="none">
                <a:solidFill>
                  <a:srgbClr val="898989"/>
                </a:solidFill>
                <a:latin typeface="Arial"/>
                <a:ea typeface="Arial"/>
                <a:cs typeface="Arial"/>
                <a:sym typeface="Arial"/>
              </a:defRPr>
            </a:lvl1pPr>
            <a:lvl2pPr marL="0" marR="0" lvl="1" indent="0" algn="r" rtl="0">
              <a:lnSpc>
                <a:spcPct val="100000"/>
              </a:lnSpc>
              <a:spcBef>
                <a:spcPts val="0"/>
              </a:spcBef>
              <a:spcAft>
                <a:spcPts val="0"/>
              </a:spcAft>
              <a:buClr>
                <a:srgbClr val="898989"/>
              </a:buClr>
              <a:buSzPts val="1000"/>
              <a:buFont typeface="Arial"/>
              <a:buNone/>
              <a:defRPr sz="1000" b="0" i="0" u="none">
                <a:solidFill>
                  <a:srgbClr val="898989"/>
                </a:solidFill>
                <a:latin typeface="Arial"/>
                <a:ea typeface="Arial"/>
                <a:cs typeface="Arial"/>
                <a:sym typeface="Arial"/>
              </a:defRPr>
            </a:lvl2pPr>
            <a:lvl3pPr marL="0" marR="0" lvl="2" indent="0" algn="r" rtl="0">
              <a:lnSpc>
                <a:spcPct val="100000"/>
              </a:lnSpc>
              <a:spcBef>
                <a:spcPts val="0"/>
              </a:spcBef>
              <a:spcAft>
                <a:spcPts val="0"/>
              </a:spcAft>
              <a:buClr>
                <a:srgbClr val="898989"/>
              </a:buClr>
              <a:buSzPts val="1000"/>
              <a:buFont typeface="Arial"/>
              <a:buNone/>
              <a:defRPr sz="1000" b="0" i="0" u="none">
                <a:solidFill>
                  <a:srgbClr val="898989"/>
                </a:solidFill>
                <a:latin typeface="Arial"/>
                <a:ea typeface="Arial"/>
                <a:cs typeface="Arial"/>
                <a:sym typeface="Arial"/>
              </a:defRPr>
            </a:lvl3pPr>
            <a:lvl4pPr marL="0" marR="0" lvl="3" indent="0" algn="r" rtl="0">
              <a:lnSpc>
                <a:spcPct val="100000"/>
              </a:lnSpc>
              <a:spcBef>
                <a:spcPts val="0"/>
              </a:spcBef>
              <a:spcAft>
                <a:spcPts val="0"/>
              </a:spcAft>
              <a:buClr>
                <a:srgbClr val="898989"/>
              </a:buClr>
              <a:buSzPts val="1000"/>
              <a:buFont typeface="Arial"/>
              <a:buNone/>
              <a:defRPr sz="1000" b="0" i="0" u="none">
                <a:solidFill>
                  <a:srgbClr val="898989"/>
                </a:solidFill>
                <a:latin typeface="Arial"/>
                <a:ea typeface="Arial"/>
                <a:cs typeface="Arial"/>
                <a:sym typeface="Arial"/>
              </a:defRPr>
            </a:lvl4pPr>
            <a:lvl5pPr marL="0" marR="0" lvl="4" indent="0" algn="r" rtl="0">
              <a:lnSpc>
                <a:spcPct val="100000"/>
              </a:lnSpc>
              <a:spcBef>
                <a:spcPts val="0"/>
              </a:spcBef>
              <a:spcAft>
                <a:spcPts val="0"/>
              </a:spcAft>
              <a:buClr>
                <a:srgbClr val="898989"/>
              </a:buClr>
              <a:buSzPts val="1000"/>
              <a:buFont typeface="Arial"/>
              <a:buNone/>
              <a:defRPr sz="1000" b="0" i="0" u="none">
                <a:solidFill>
                  <a:srgbClr val="898989"/>
                </a:solidFill>
                <a:latin typeface="Arial"/>
                <a:ea typeface="Arial"/>
                <a:cs typeface="Arial"/>
                <a:sym typeface="Arial"/>
              </a:defRPr>
            </a:lvl5pPr>
            <a:lvl6pPr marL="0" marR="0" lvl="5" indent="0" algn="r" rtl="0">
              <a:lnSpc>
                <a:spcPct val="100000"/>
              </a:lnSpc>
              <a:spcBef>
                <a:spcPts val="0"/>
              </a:spcBef>
              <a:spcAft>
                <a:spcPts val="0"/>
              </a:spcAft>
              <a:buClr>
                <a:srgbClr val="898989"/>
              </a:buClr>
              <a:buSzPts val="1000"/>
              <a:buFont typeface="Arial"/>
              <a:buNone/>
              <a:defRPr sz="1000" b="0" i="0" u="none">
                <a:solidFill>
                  <a:srgbClr val="898989"/>
                </a:solidFill>
                <a:latin typeface="Arial"/>
                <a:ea typeface="Arial"/>
                <a:cs typeface="Arial"/>
                <a:sym typeface="Arial"/>
              </a:defRPr>
            </a:lvl6pPr>
            <a:lvl7pPr marL="0" marR="0" lvl="6" indent="0" algn="r" rtl="0">
              <a:lnSpc>
                <a:spcPct val="100000"/>
              </a:lnSpc>
              <a:spcBef>
                <a:spcPts val="0"/>
              </a:spcBef>
              <a:spcAft>
                <a:spcPts val="0"/>
              </a:spcAft>
              <a:buClr>
                <a:srgbClr val="898989"/>
              </a:buClr>
              <a:buSzPts val="1000"/>
              <a:buFont typeface="Arial"/>
              <a:buNone/>
              <a:defRPr sz="1000" b="0" i="0" u="none">
                <a:solidFill>
                  <a:srgbClr val="898989"/>
                </a:solidFill>
                <a:latin typeface="Arial"/>
                <a:ea typeface="Arial"/>
                <a:cs typeface="Arial"/>
                <a:sym typeface="Arial"/>
              </a:defRPr>
            </a:lvl7pPr>
            <a:lvl8pPr marL="0" marR="0" lvl="7" indent="0" algn="r" rtl="0">
              <a:lnSpc>
                <a:spcPct val="100000"/>
              </a:lnSpc>
              <a:spcBef>
                <a:spcPts val="0"/>
              </a:spcBef>
              <a:spcAft>
                <a:spcPts val="0"/>
              </a:spcAft>
              <a:buClr>
                <a:srgbClr val="898989"/>
              </a:buClr>
              <a:buSzPts val="1000"/>
              <a:buFont typeface="Arial"/>
              <a:buNone/>
              <a:defRPr sz="1000" b="0" i="0" u="none">
                <a:solidFill>
                  <a:srgbClr val="898989"/>
                </a:solidFill>
                <a:latin typeface="Arial"/>
                <a:ea typeface="Arial"/>
                <a:cs typeface="Arial"/>
                <a:sym typeface="Arial"/>
              </a:defRPr>
            </a:lvl8pPr>
            <a:lvl9pPr marL="0" marR="0" lvl="8" indent="0" algn="r" rtl="0">
              <a:lnSpc>
                <a:spcPct val="100000"/>
              </a:lnSpc>
              <a:spcBef>
                <a:spcPts val="0"/>
              </a:spcBef>
              <a:spcAft>
                <a:spcPts val="0"/>
              </a:spcAft>
              <a:buClr>
                <a:srgbClr val="898989"/>
              </a:buClr>
              <a:buSzPts val="1000"/>
              <a:buFont typeface="Arial"/>
              <a:buNone/>
              <a:defRPr sz="10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4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
        <p:cNvGrpSpPr/>
        <p:nvPr/>
      </p:nvGrpSpPr>
      <p:grpSpPr>
        <a:xfrm>
          <a:off x="0" y="0"/>
          <a:ext cx="0" cy="0"/>
          <a:chOff x="0" y="0"/>
          <a:chExt cx="0" cy="0"/>
        </a:xfrm>
      </p:grpSpPr>
      <p:pic>
        <p:nvPicPr>
          <p:cNvPr id="23" name="Google Shape;23;p13" descr="Logo_hcmut"/>
          <p:cNvPicPr preferRelativeResize="0"/>
          <p:nvPr/>
        </p:nvPicPr>
        <p:blipFill rotWithShape="1">
          <a:blip r:embed="rId3">
            <a:alphaModFix/>
          </a:blip>
          <a:srcRect/>
          <a:stretch/>
        </p:blipFill>
        <p:spPr>
          <a:xfrm>
            <a:off x="0" y="0"/>
            <a:ext cx="838200" cy="838200"/>
          </a:xfrm>
          <a:prstGeom prst="rect">
            <a:avLst/>
          </a:prstGeom>
          <a:noFill/>
          <a:ln>
            <a:noFill/>
          </a:ln>
          <a:effectLst>
            <a:outerShdw blurRad="50800" dist="50800" dir="5400000" algn="ctr" rotWithShape="0">
              <a:srgbClr val="000000">
                <a:alpha val="20784"/>
              </a:srgbClr>
            </a:outerShdw>
          </a:effectLst>
        </p:spPr>
      </p:pic>
      <p:sp>
        <p:nvSpPr>
          <p:cNvPr id="24" name="Google Shape;24;p13"/>
          <p:cNvSpPr txBox="1"/>
          <p:nvPr/>
        </p:nvSpPr>
        <p:spPr>
          <a:xfrm>
            <a:off x="3441700" y="6393786"/>
            <a:ext cx="2260600" cy="338514"/>
          </a:xfrm>
          <a:prstGeom prst="rect">
            <a:avLst/>
          </a:prstGeom>
          <a:noFill/>
          <a:ln>
            <a:noFill/>
          </a:ln>
          <a:effectLst>
            <a:outerShdw blurRad="63500" dist="17960" dir="2700000">
              <a:srgbClr val="2F4D7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2060"/>
              </a:buClr>
              <a:buSzPts val="1600"/>
              <a:buFont typeface="Arial"/>
              <a:buNone/>
            </a:pPr>
            <a:r>
              <a:rPr lang="en-US" sz="1600" b="1" i="0" u="none">
                <a:solidFill>
                  <a:srgbClr val="002060"/>
                </a:solidFill>
                <a:latin typeface="Arial"/>
                <a:ea typeface="Arial"/>
                <a:cs typeface="Arial"/>
                <a:sym typeface="Arial"/>
              </a:rPr>
              <a:t>Nguyễn Nhựt Khanh</a:t>
            </a:r>
            <a:endParaRPr/>
          </a:p>
        </p:txBody>
      </p:sp>
      <p:cxnSp>
        <p:nvCxnSpPr>
          <p:cNvPr id="25" name="Google Shape;25;p13"/>
          <p:cNvCxnSpPr/>
          <p:nvPr/>
        </p:nvCxnSpPr>
        <p:spPr>
          <a:xfrm>
            <a:off x="152400" y="990600"/>
            <a:ext cx="8839200" cy="0"/>
          </a:xfrm>
          <a:prstGeom prst="straightConnector1">
            <a:avLst/>
          </a:prstGeom>
          <a:noFill/>
          <a:ln w="50800" cap="flat" cmpd="sng">
            <a:solidFill>
              <a:srgbClr val="0070C0"/>
            </a:solidFill>
            <a:prstDash val="solid"/>
            <a:bevel/>
            <a:headEnd type="diamond" w="med" len="med"/>
            <a:tailEnd type="none" w="med" len="med"/>
          </a:ln>
        </p:spPr>
      </p:cxnSp>
      <p:sp>
        <p:nvSpPr>
          <p:cNvPr id="26" name="Google Shape;26;p13"/>
          <p:cNvSpPr txBox="1"/>
          <p:nvPr/>
        </p:nvSpPr>
        <p:spPr>
          <a:xfrm>
            <a:off x="152400" y="6296342"/>
            <a:ext cx="3124200" cy="584735"/>
          </a:xfrm>
          <a:prstGeom prst="rect">
            <a:avLst/>
          </a:prstGeom>
          <a:noFill/>
          <a:ln>
            <a:noFill/>
          </a:ln>
          <a:effectLst>
            <a:outerShdw blurRad="63500" dist="17960" dir="2700000">
              <a:srgbClr val="2F4D7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2060"/>
              </a:buClr>
              <a:buSzPts val="1600"/>
              <a:buFont typeface="Arial"/>
              <a:buNone/>
            </a:pPr>
            <a:r>
              <a:rPr lang="en-US" sz="1600" b="0" i="0" u="none">
                <a:solidFill>
                  <a:srgbClr val="002060"/>
                </a:solidFill>
                <a:latin typeface="Arial"/>
                <a:ea typeface="Arial"/>
                <a:cs typeface="Arial"/>
                <a:sym typeface="Arial"/>
              </a:rPr>
              <a:t>Department of Electronics-Graduation Thesis</a:t>
            </a:r>
            <a:endParaRPr/>
          </a:p>
        </p:txBody>
      </p:sp>
      <p:sp>
        <p:nvSpPr>
          <p:cNvPr id="27" name="Google Shape;27;p13"/>
          <p:cNvSpPr txBox="1"/>
          <p:nvPr/>
        </p:nvSpPr>
        <p:spPr>
          <a:xfrm>
            <a:off x="6002337" y="6350318"/>
            <a:ext cx="2743200" cy="338137"/>
          </a:xfrm>
          <a:prstGeom prst="rect">
            <a:avLst/>
          </a:prstGeom>
          <a:noFill/>
          <a:ln>
            <a:noFill/>
          </a:ln>
          <a:effectLst>
            <a:outerShdw blurRad="63500" dist="17960" dir="2700000">
              <a:srgbClr val="2F4D71"/>
            </a:outerShdw>
          </a:effectLst>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2060"/>
              </a:buClr>
              <a:buSzPts val="1600"/>
              <a:buFont typeface="Arial"/>
              <a:buNone/>
            </a:pPr>
            <a:r>
              <a:rPr lang="en-US" sz="1600" b="0" i="0" u="none">
                <a:solidFill>
                  <a:srgbClr val="002060"/>
                </a:solidFill>
                <a:latin typeface="Arial"/>
                <a:ea typeface="Arial"/>
                <a:cs typeface="Arial"/>
                <a:sym typeface="Arial"/>
              </a:rPr>
              <a:t>04/06/2025</a:t>
            </a:r>
            <a:endParaRPr/>
          </a:p>
        </p:txBody>
      </p:sp>
      <p:sp>
        <p:nvSpPr>
          <p:cNvPr id="28" name="Google Shape;28;p13"/>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29" name="Google Shape;29;p13"/>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1" name="Google Shape;31;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51"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gradFill>
          <a:gsLst>
            <a:gs pos="0">
              <a:srgbClr val="5E9EFF"/>
            </a:gs>
            <a:gs pos="39999">
              <a:srgbClr val="85C2FF"/>
            </a:gs>
            <a:gs pos="69999">
              <a:srgbClr val="C4D6EB"/>
            </a:gs>
            <a:gs pos="100000">
              <a:srgbClr val="FFEBFA"/>
            </a:gs>
          </a:gsLst>
          <a:lin ang="2700000" scaled="0"/>
        </a:gradFill>
        <a:effectLst/>
      </p:bgPr>
    </p:bg>
    <p:spTree>
      <p:nvGrpSpPr>
        <p:cNvPr id="1" name="Shape 39"/>
        <p:cNvGrpSpPr/>
        <p:nvPr/>
      </p:nvGrpSpPr>
      <p:grpSpPr>
        <a:xfrm>
          <a:off x="0" y="0"/>
          <a:ext cx="0" cy="0"/>
          <a:chOff x="0" y="0"/>
          <a:chExt cx="0" cy="0"/>
        </a:xfrm>
      </p:grpSpPr>
      <p:sp>
        <p:nvSpPr>
          <p:cNvPr id="40" name="Google Shape;40;p15"/>
          <p:cNvSpPr txBox="1">
            <a:spLocks noGrp="1"/>
          </p:cNvSpPr>
          <p:nvPr>
            <p:ph type="sldNum" idx="12"/>
          </p:nvPr>
        </p:nvSpPr>
        <p:spPr>
          <a:xfrm>
            <a:off x="7086600" y="6553200"/>
            <a:ext cx="1676400" cy="304800"/>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chemeClr val="dk1"/>
              </a:buClr>
              <a:buSzPts val="1600"/>
              <a:buFont typeface="Arial"/>
              <a:buNone/>
              <a:defRPr sz="1600" b="0" i="0" u="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1600"/>
              <a:buFont typeface="Arial"/>
              <a:buNone/>
              <a:defRPr sz="1600" b="0" i="0" u="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1600"/>
              <a:buFont typeface="Arial"/>
              <a:buNone/>
              <a:defRPr sz="1600" b="0" i="0" u="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1600"/>
              <a:buFont typeface="Arial"/>
              <a:buNone/>
              <a:defRPr sz="1600" b="0" i="0" u="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1600"/>
              <a:buFont typeface="Arial"/>
              <a:buNone/>
              <a:defRPr sz="1600" b="0" i="0" u="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1600"/>
              <a:buFont typeface="Arial"/>
              <a:buNone/>
              <a:defRPr sz="1600" b="0" i="0" u="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1600"/>
              <a:buFont typeface="Arial"/>
              <a:buNone/>
              <a:defRPr sz="1600" b="0" i="0" u="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1600"/>
              <a:buFont typeface="Arial"/>
              <a:buNone/>
              <a:defRPr sz="1600" b="0" i="0" u="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1600"/>
              <a:buFont typeface="Arial"/>
              <a:buNone/>
              <a:defRPr sz="1600" b="0" i="0" u="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
        <p:nvSpPr>
          <p:cNvPr id="41" name="Google Shape;41;p15"/>
          <p:cNvSpPr txBox="1">
            <a:spLocks noGrp="1"/>
          </p:cNvSpPr>
          <p:nvPr>
            <p:ph type="title"/>
          </p:nvPr>
        </p:nvSpPr>
        <p:spPr>
          <a:xfrm>
            <a:off x="457200" y="304800"/>
            <a:ext cx="8229600" cy="11430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4000" b="1" i="0" u="none" strike="noStrike" cap="none">
                <a:solidFill>
                  <a:schemeClr val="dk2"/>
                </a:solidFill>
                <a:latin typeface="Arial"/>
                <a:ea typeface="Arial"/>
                <a:cs typeface="Arial"/>
                <a:sym typeface="Arial"/>
              </a:defRPr>
            </a:lvl1pPr>
            <a:lvl2pPr marR="0" lvl="1" algn="l" rtl="0">
              <a:spcBef>
                <a:spcPts val="0"/>
              </a:spcBef>
              <a:spcAft>
                <a:spcPts val="0"/>
              </a:spcAft>
              <a:buSzPts val="1400"/>
              <a:buNone/>
              <a:defRPr sz="4000" b="1" i="0" u="none" strike="noStrike" cap="none">
                <a:solidFill>
                  <a:schemeClr val="dk2"/>
                </a:solidFill>
                <a:latin typeface="Arial"/>
                <a:ea typeface="Arial"/>
                <a:cs typeface="Arial"/>
                <a:sym typeface="Arial"/>
              </a:defRPr>
            </a:lvl2pPr>
            <a:lvl3pPr marR="0" lvl="2" algn="l" rtl="0">
              <a:spcBef>
                <a:spcPts val="0"/>
              </a:spcBef>
              <a:spcAft>
                <a:spcPts val="0"/>
              </a:spcAft>
              <a:buSzPts val="1400"/>
              <a:buNone/>
              <a:defRPr sz="4000" b="1" i="0" u="none" strike="noStrike" cap="none">
                <a:solidFill>
                  <a:schemeClr val="dk2"/>
                </a:solidFill>
                <a:latin typeface="Arial"/>
                <a:ea typeface="Arial"/>
                <a:cs typeface="Arial"/>
                <a:sym typeface="Arial"/>
              </a:defRPr>
            </a:lvl3pPr>
            <a:lvl4pPr marR="0" lvl="3" algn="l" rtl="0">
              <a:spcBef>
                <a:spcPts val="0"/>
              </a:spcBef>
              <a:spcAft>
                <a:spcPts val="0"/>
              </a:spcAft>
              <a:buSzPts val="1400"/>
              <a:buNone/>
              <a:defRPr sz="4000" b="1" i="0" u="none" strike="noStrike" cap="none">
                <a:solidFill>
                  <a:schemeClr val="dk2"/>
                </a:solidFill>
                <a:latin typeface="Arial"/>
                <a:ea typeface="Arial"/>
                <a:cs typeface="Arial"/>
                <a:sym typeface="Arial"/>
              </a:defRPr>
            </a:lvl4pPr>
            <a:lvl5pPr marR="0" lvl="4" algn="l" rtl="0">
              <a:spcBef>
                <a:spcPts val="0"/>
              </a:spcBef>
              <a:spcAft>
                <a:spcPts val="0"/>
              </a:spcAft>
              <a:buSzPts val="1400"/>
              <a:buNone/>
              <a:defRPr sz="4000" b="1" i="0" u="none" strike="noStrike" cap="none">
                <a:solidFill>
                  <a:schemeClr val="dk2"/>
                </a:solidFill>
                <a:latin typeface="Arial"/>
                <a:ea typeface="Arial"/>
                <a:cs typeface="Arial"/>
                <a:sym typeface="Arial"/>
              </a:defRPr>
            </a:lvl5pPr>
            <a:lvl6pPr marR="0" lvl="5" algn="l" rtl="0">
              <a:spcBef>
                <a:spcPts val="0"/>
              </a:spcBef>
              <a:spcAft>
                <a:spcPts val="0"/>
              </a:spcAft>
              <a:buSzPts val="1400"/>
              <a:buNone/>
              <a:defRPr sz="4000" b="1" i="0" u="none" strike="noStrike" cap="none">
                <a:solidFill>
                  <a:schemeClr val="dk2"/>
                </a:solidFill>
                <a:latin typeface="Arial"/>
                <a:ea typeface="Arial"/>
                <a:cs typeface="Arial"/>
                <a:sym typeface="Arial"/>
              </a:defRPr>
            </a:lvl6pPr>
            <a:lvl7pPr marR="0" lvl="6" algn="l" rtl="0">
              <a:spcBef>
                <a:spcPts val="0"/>
              </a:spcBef>
              <a:spcAft>
                <a:spcPts val="0"/>
              </a:spcAft>
              <a:buSzPts val="1400"/>
              <a:buNone/>
              <a:defRPr sz="4000" b="1" i="0" u="none" strike="noStrike" cap="none">
                <a:solidFill>
                  <a:schemeClr val="dk2"/>
                </a:solidFill>
                <a:latin typeface="Arial"/>
                <a:ea typeface="Arial"/>
                <a:cs typeface="Arial"/>
                <a:sym typeface="Arial"/>
              </a:defRPr>
            </a:lvl7pPr>
            <a:lvl8pPr marR="0" lvl="7" algn="l" rtl="0">
              <a:spcBef>
                <a:spcPts val="0"/>
              </a:spcBef>
              <a:spcAft>
                <a:spcPts val="0"/>
              </a:spcAft>
              <a:buSzPts val="1400"/>
              <a:buNone/>
              <a:defRPr sz="4000" b="1" i="0" u="none" strike="noStrike" cap="none">
                <a:solidFill>
                  <a:schemeClr val="dk2"/>
                </a:solidFill>
                <a:latin typeface="Arial"/>
                <a:ea typeface="Arial"/>
                <a:cs typeface="Arial"/>
                <a:sym typeface="Arial"/>
              </a:defRPr>
            </a:lvl8pPr>
            <a:lvl9pPr marR="0" lvl="8" algn="l" rtl="0">
              <a:spcBef>
                <a:spcPts val="0"/>
              </a:spcBef>
              <a:spcAft>
                <a:spcPts val="0"/>
              </a:spcAft>
              <a:buSzPts val="1400"/>
              <a:buNone/>
              <a:defRPr sz="4000" b="1" i="0" u="none" strike="noStrike" cap="none">
                <a:solidFill>
                  <a:schemeClr val="dk2"/>
                </a:solidFill>
                <a:latin typeface="Arial"/>
                <a:ea typeface="Arial"/>
                <a:cs typeface="Arial"/>
                <a:sym typeface="Arial"/>
              </a:defRPr>
            </a:lvl9pPr>
          </a:lstStyle>
          <a:p>
            <a:endParaRPr/>
          </a:p>
        </p:txBody>
      </p:sp>
      <p:sp>
        <p:nvSpPr>
          <p:cNvPr id="42" name="Google Shape;42;p15"/>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3"/>
        <p:cNvGrpSpPr/>
        <p:nvPr/>
      </p:nvGrpSpPr>
      <p:grpSpPr>
        <a:xfrm>
          <a:off x="0" y="0"/>
          <a:ext cx="0" cy="0"/>
          <a:chOff x="0" y="0"/>
          <a:chExt cx="0" cy="0"/>
        </a:xfrm>
      </p:grpSpPr>
      <p:sp>
        <p:nvSpPr>
          <p:cNvPr id="44" name="Google Shape;44;p16"/>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45" name="Google Shape;45;p16"/>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46" name="Google Shape;46;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200" b="0" i="0" u="none">
                <a:solidFill>
                  <a:srgbClr val="898989"/>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7" name="Google Shape;47;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8" name="Google Shape;48;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gradFill>
          <a:gsLst>
            <a:gs pos="0">
              <a:srgbClr val="5E9EFF"/>
            </a:gs>
            <a:gs pos="39999">
              <a:srgbClr val="85C2FF"/>
            </a:gs>
            <a:gs pos="69999">
              <a:srgbClr val="C4D6EB"/>
            </a:gs>
            <a:gs pos="100000">
              <a:srgbClr val="FFEBFA"/>
            </a:gs>
          </a:gsLst>
          <a:lin ang="2700000" scaled="0"/>
        </a:gradFill>
        <a:effectLst/>
      </p:bgPr>
    </p:bg>
    <p:spTree>
      <p:nvGrpSpPr>
        <p:cNvPr id="1" name="Shape 112"/>
        <p:cNvGrpSpPr/>
        <p:nvPr/>
      </p:nvGrpSpPr>
      <p:grpSpPr>
        <a:xfrm>
          <a:off x="0" y="0"/>
          <a:ext cx="0" cy="0"/>
          <a:chOff x="0" y="0"/>
          <a:chExt cx="0" cy="0"/>
        </a:xfrm>
      </p:grpSpPr>
      <p:sp>
        <p:nvSpPr>
          <p:cNvPr id="113" name="Google Shape;113;p27"/>
          <p:cNvSpPr/>
          <p:nvPr/>
        </p:nvSpPr>
        <p:spPr>
          <a:xfrm>
            <a:off x="0" y="381000"/>
            <a:ext cx="9131300" cy="914400"/>
          </a:xfrm>
          <a:custGeom>
            <a:avLst/>
            <a:gdLst/>
            <a:ahLst/>
            <a:cxnLst/>
            <a:rect l="l" t="t" r="r" b="b"/>
            <a:pathLst>
              <a:path w="5752" h="444" extrusionOk="0">
                <a:moveTo>
                  <a:pt x="5745" y="9"/>
                </a:moveTo>
                <a:lnTo>
                  <a:pt x="2449" y="8"/>
                </a:lnTo>
                <a:cubicBezTo>
                  <a:pt x="2309" y="8"/>
                  <a:pt x="2404" y="0"/>
                  <a:pt x="2347" y="14"/>
                </a:cubicBezTo>
                <a:lnTo>
                  <a:pt x="2174" y="93"/>
                </a:lnTo>
                <a:cubicBezTo>
                  <a:pt x="2124" y="112"/>
                  <a:pt x="2142" y="120"/>
                  <a:pt x="2046" y="127"/>
                </a:cubicBezTo>
                <a:cubicBezTo>
                  <a:pt x="1076" y="125"/>
                  <a:pt x="0" y="119"/>
                  <a:pt x="0" y="119"/>
                </a:cubicBezTo>
                <a:lnTo>
                  <a:pt x="0" y="444"/>
                </a:lnTo>
                <a:lnTo>
                  <a:pt x="3601" y="444"/>
                </a:lnTo>
                <a:lnTo>
                  <a:pt x="3672" y="424"/>
                </a:lnTo>
                <a:lnTo>
                  <a:pt x="3883" y="331"/>
                </a:lnTo>
                <a:lnTo>
                  <a:pt x="3985" y="325"/>
                </a:lnTo>
                <a:lnTo>
                  <a:pt x="5752" y="325"/>
                </a:lnTo>
                <a:lnTo>
                  <a:pt x="5745" y="9"/>
                </a:lnTo>
                <a:close/>
              </a:path>
            </a:pathLst>
          </a:custGeom>
          <a:solidFill>
            <a:srgbClr val="FFFFFF">
              <a:alpha val="49803"/>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pic>
        <p:nvPicPr>
          <p:cNvPr id="114" name="Google Shape;114;p27" descr="DHBK"/>
          <p:cNvPicPr preferRelativeResize="0"/>
          <p:nvPr/>
        </p:nvPicPr>
        <p:blipFill rotWithShape="1">
          <a:blip r:embed="rId3">
            <a:alphaModFix/>
          </a:blip>
          <a:srcRect/>
          <a:stretch/>
        </p:blipFill>
        <p:spPr>
          <a:xfrm>
            <a:off x="0" y="0"/>
            <a:ext cx="9144000" cy="3937000"/>
          </a:xfrm>
          <a:prstGeom prst="rect">
            <a:avLst/>
          </a:prstGeom>
          <a:noFill/>
          <a:ln>
            <a:noFill/>
          </a:ln>
        </p:spPr>
      </p:pic>
      <p:sp>
        <p:nvSpPr>
          <p:cNvPr id="115" name="Google Shape;115;p27"/>
          <p:cNvSpPr/>
          <p:nvPr/>
        </p:nvSpPr>
        <p:spPr>
          <a:xfrm>
            <a:off x="0" y="6346825"/>
            <a:ext cx="9131300" cy="511175"/>
          </a:xfrm>
          <a:custGeom>
            <a:avLst/>
            <a:gdLst/>
            <a:ahLst/>
            <a:cxnLst/>
            <a:rect l="l" t="t" r="r" b="b"/>
            <a:pathLst>
              <a:path w="5752" h="444" extrusionOk="0">
                <a:moveTo>
                  <a:pt x="5745" y="9"/>
                </a:moveTo>
                <a:lnTo>
                  <a:pt x="2449" y="8"/>
                </a:lnTo>
                <a:cubicBezTo>
                  <a:pt x="2309" y="8"/>
                  <a:pt x="2404" y="0"/>
                  <a:pt x="2347" y="14"/>
                </a:cubicBezTo>
                <a:lnTo>
                  <a:pt x="2174" y="93"/>
                </a:lnTo>
                <a:cubicBezTo>
                  <a:pt x="2124" y="112"/>
                  <a:pt x="2142" y="120"/>
                  <a:pt x="2046" y="127"/>
                </a:cubicBezTo>
                <a:cubicBezTo>
                  <a:pt x="1076" y="125"/>
                  <a:pt x="0" y="119"/>
                  <a:pt x="0" y="119"/>
                </a:cubicBezTo>
                <a:lnTo>
                  <a:pt x="0" y="444"/>
                </a:lnTo>
                <a:lnTo>
                  <a:pt x="3601" y="444"/>
                </a:lnTo>
                <a:lnTo>
                  <a:pt x="3672" y="424"/>
                </a:lnTo>
                <a:lnTo>
                  <a:pt x="3883" y="331"/>
                </a:lnTo>
                <a:lnTo>
                  <a:pt x="3985" y="325"/>
                </a:lnTo>
                <a:lnTo>
                  <a:pt x="5752" y="325"/>
                </a:lnTo>
                <a:lnTo>
                  <a:pt x="5745" y="9"/>
                </a:lnTo>
                <a:close/>
              </a:path>
            </a:pathLst>
          </a:custGeom>
          <a:solidFill>
            <a:srgbClr val="FFFFFF">
              <a:alpha val="49803"/>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16" name="Google Shape;116;p27"/>
          <p:cNvSpPr/>
          <p:nvPr/>
        </p:nvSpPr>
        <p:spPr>
          <a:xfrm>
            <a:off x="0" y="0"/>
            <a:ext cx="9153525" cy="1600200"/>
          </a:xfrm>
          <a:custGeom>
            <a:avLst/>
            <a:gdLst/>
            <a:ahLst/>
            <a:cxnLst/>
            <a:rect l="l" t="t" r="r" b="b"/>
            <a:pathLst>
              <a:path w="5766" h="1008" extrusionOk="0">
                <a:moveTo>
                  <a:pt x="0" y="1008"/>
                </a:moveTo>
                <a:lnTo>
                  <a:pt x="1884" y="1008"/>
                </a:lnTo>
                <a:cubicBezTo>
                  <a:pt x="2088" y="990"/>
                  <a:pt x="2034" y="1005"/>
                  <a:pt x="2152" y="921"/>
                </a:cubicBezTo>
                <a:lnTo>
                  <a:pt x="2560" y="531"/>
                </a:lnTo>
                <a:cubicBezTo>
                  <a:pt x="2683" y="452"/>
                  <a:pt x="2611" y="454"/>
                  <a:pt x="2892" y="448"/>
                </a:cubicBezTo>
                <a:lnTo>
                  <a:pt x="5766" y="461"/>
                </a:lnTo>
                <a:lnTo>
                  <a:pt x="5758" y="0"/>
                </a:lnTo>
                <a:lnTo>
                  <a:pt x="0" y="2"/>
                </a:lnTo>
                <a:lnTo>
                  <a:pt x="0" y="1008"/>
                </a:lnTo>
                <a:close/>
              </a:path>
            </a:pathLst>
          </a:custGeom>
          <a:gradFill>
            <a:gsLst>
              <a:gs pos="0">
                <a:schemeClr val="lt1"/>
              </a:gs>
              <a:gs pos="100000">
                <a:schemeClr val="lt2"/>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17" name="Google Shape;117;p27"/>
          <p:cNvSpPr/>
          <p:nvPr/>
        </p:nvSpPr>
        <p:spPr>
          <a:xfrm>
            <a:off x="0" y="0"/>
            <a:ext cx="9170988" cy="1362075"/>
          </a:xfrm>
          <a:custGeom>
            <a:avLst/>
            <a:gdLst/>
            <a:ahLst/>
            <a:cxnLst/>
            <a:rect l="l" t="t" r="r" b="b"/>
            <a:pathLst>
              <a:path w="5777" h="858" extrusionOk="0">
                <a:moveTo>
                  <a:pt x="0" y="858"/>
                </a:moveTo>
                <a:lnTo>
                  <a:pt x="1926" y="857"/>
                </a:lnTo>
                <a:cubicBezTo>
                  <a:pt x="2067" y="857"/>
                  <a:pt x="2068" y="850"/>
                  <a:pt x="2157" y="793"/>
                </a:cubicBezTo>
                <a:lnTo>
                  <a:pt x="2509" y="473"/>
                </a:lnTo>
                <a:cubicBezTo>
                  <a:pt x="2644" y="406"/>
                  <a:pt x="2477" y="396"/>
                  <a:pt x="2970" y="390"/>
                </a:cubicBezTo>
                <a:lnTo>
                  <a:pt x="5773" y="388"/>
                </a:lnTo>
                <a:lnTo>
                  <a:pt x="5777" y="0"/>
                </a:lnTo>
                <a:lnTo>
                  <a:pt x="0" y="2"/>
                </a:lnTo>
                <a:lnTo>
                  <a:pt x="0" y="858"/>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18" name="Google Shape;118;p27"/>
          <p:cNvSpPr/>
          <p:nvPr/>
        </p:nvSpPr>
        <p:spPr>
          <a:xfrm>
            <a:off x="0" y="4373562"/>
            <a:ext cx="9131300" cy="1036637"/>
          </a:xfrm>
          <a:custGeom>
            <a:avLst/>
            <a:gdLst/>
            <a:ahLst/>
            <a:cxnLst/>
            <a:rect l="l" t="t" r="r" b="b"/>
            <a:pathLst>
              <a:path w="5752" h="444" extrusionOk="0">
                <a:moveTo>
                  <a:pt x="5745" y="9"/>
                </a:moveTo>
                <a:lnTo>
                  <a:pt x="2449" y="8"/>
                </a:lnTo>
                <a:cubicBezTo>
                  <a:pt x="2309" y="8"/>
                  <a:pt x="2404" y="0"/>
                  <a:pt x="2347" y="14"/>
                </a:cubicBezTo>
                <a:lnTo>
                  <a:pt x="2174" y="93"/>
                </a:lnTo>
                <a:cubicBezTo>
                  <a:pt x="2124" y="112"/>
                  <a:pt x="2142" y="120"/>
                  <a:pt x="2046" y="127"/>
                </a:cubicBezTo>
                <a:cubicBezTo>
                  <a:pt x="1076" y="125"/>
                  <a:pt x="0" y="119"/>
                  <a:pt x="0" y="119"/>
                </a:cubicBezTo>
                <a:lnTo>
                  <a:pt x="0" y="444"/>
                </a:lnTo>
                <a:lnTo>
                  <a:pt x="3601" y="444"/>
                </a:lnTo>
                <a:lnTo>
                  <a:pt x="3672" y="424"/>
                </a:lnTo>
                <a:lnTo>
                  <a:pt x="3883" y="331"/>
                </a:lnTo>
                <a:lnTo>
                  <a:pt x="3985" y="325"/>
                </a:lnTo>
                <a:lnTo>
                  <a:pt x="5752" y="325"/>
                </a:lnTo>
                <a:lnTo>
                  <a:pt x="5745" y="9"/>
                </a:lnTo>
                <a:close/>
              </a:path>
            </a:pathLst>
          </a:custGeom>
          <a:solidFill>
            <a:srgbClr val="FFFFFF">
              <a:alpha val="49803"/>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pic>
        <p:nvPicPr>
          <p:cNvPr id="119" name="Google Shape;119;p27" descr="Logo_hcmut"/>
          <p:cNvPicPr preferRelativeResize="0"/>
          <p:nvPr/>
        </p:nvPicPr>
        <p:blipFill rotWithShape="1">
          <a:blip r:embed="rId5">
            <a:alphaModFix/>
          </a:blip>
          <a:srcRect/>
          <a:stretch/>
        </p:blipFill>
        <p:spPr>
          <a:xfrm>
            <a:off x="7581900" y="0"/>
            <a:ext cx="1562100" cy="1562100"/>
          </a:xfrm>
          <a:prstGeom prst="rect">
            <a:avLst/>
          </a:prstGeom>
          <a:noFill/>
          <a:ln>
            <a:noFill/>
          </a:ln>
          <a:effectLst>
            <a:outerShdw blurRad="50800" dist="50800" dir="5400000" algn="ctr" rotWithShape="0">
              <a:srgbClr val="000000">
                <a:alpha val="20784"/>
              </a:srgbClr>
            </a:outerShdw>
          </a:effectLst>
        </p:spPr>
      </p:pic>
      <p:sp>
        <p:nvSpPr>
          <p:cNvPr id="120" name="Google Shape;120;p27"/>
          <p:cNvSpPr txBox="1"/>
          <p:nvPr/>
        </p:nvSpPr>
        <p:spPr>
          <a:xfrm>
            <a:off x="0" y="4343400"/>
            <a:ext cx="9326562" cy="10160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0000"/>
              </a:buClr>
              <a:buSzPts val="3200"/>
              <a:buFont typeface="Arial"/>
              <a:buNone/>
            </a:pPr>
            <a:r>
              <a:rPr lang="en-US" sz="3200" b="1" i="0" u="none">
                <a:solidFill>
                  <a:srgbClr val="FF0000"/>
                </a:solidFill>
                <a:latin typeface="Arial"/>
                <a:ea typeface="Arial"/>
                <a:cs typeface="Arial"/>
                <a:sym typeface="Arial"/>
              </a:rPr>
              <a:t>Tầm nhìn-Sứ mạng-Mục tiêu-Nhiệm vụ (VMGO)</a:t>
            </a:r>
            <a:endParaRPr/>
          </a:p>
          <a:p>
            <a:pPr marL="0" marR="0" lvl="0" indent="0" algn="ctr" rtl="0">
              <a:lnSpc>
                <a:spcPct val="100000"/>
              </a:lnSpc>
              <a:spcBef>
                <a:spcPts val="0"/>
              </a:spcBef>
              <a:spcAft>
                <a:spcPts val="0"/>
              </a:spcAft>
              <a:buClr>
                <a:srgbClr val="FF0000"/>
              </a:buClr>
              <a:buSzPts val="2800"/>
              <a:buFont typeface="Arial"/>
              <a:buNone/>
            </a:pPr>
            <a:r>
              <a:rPr lang="en-US" sz="2800" b="1" i="0" u="none">
                <a:solidFill>
                  <a:srgbClr val="FF0000"/>
                </a:solidFill>
                <a:latin typeface="Arial"/>
                <a:ea typeface="Arial"/>
                <a:cs typeface="Arial"/>
                <a:sym typeface="Arial"/>
              </a:rPr>
              <a:t>Bộ môn Điện Tử</a:t>
            </a:r>
            <a:endParaRPr/>
          </a:p>
        </p:txBody>
      </p:sp>
      <p:sp>
        <p:nvSpPr>
          <p:cNvPr id="121" name="Google Shape;121;p27"/>
          <p:cNvSpPr txBox="1"/>
          <p:nvPr/>
        </p:nvSpPr>
        <p:spPr>
          <a:xfrm>
            <a:off x="3352800" y="6096000"/>
            <a:ext cx="2895600" cy="3365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22" name="Google Shape;122;p27"/>
          <p:cNvSpPr txBox="1"/>
          <p:nvPr/>
        </p:nvSpPr>
        <p:spPr>
          <a:xfrm>
            <a:off x="3390900" y="6453187"/>
            <a:ext cx="2895600" cy="3079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2F6ACB"/>
              </a:buClr>
              <a:buSzPts val="1400"/>
              <a:buFont typeface="Arial"/>
              <a:buNone/>
            </a:pPr>
            <a:r>
              <a:rPr lang="en-US" sz="1400" b="0" i="0" u="none">
                <a:solidFill>
                  <a:srgbClr val="2F6ACB"/>
                </a:solidFill>
                <a:latin typeface="Arial"/>
                <a:ea typeface="Arial"/>
                <a:cs typeface="Arial"/>
                <a:sym typeface="Arial"/>
              </a:rPr>
              <a:t>TP.Hồ Chí Minh  09/2011</a:t>
            </a:r>
            <a:endParaRPr/>
          </a:p>
        </p:txBody>
      </p:sp>
      <p:sp>
        <p:nvSpPr>
          <p:cNvPr id="123" name="Google Shape;123;p27"/>
          <p:cNvSpPr txBox="1"/>
          <p:nvPr/>
        </p:nvSpPr>
        <p:spPr>
          <a:xfrm>
            <a:off x="2971800" y="5791200"/>
            <a:ext cx="3048000" cy="36988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2060"/>
              </a:buClr>
              <a:buSzPts val="1800"/>
              <a:buFont typeface="Arial"/>
              <a:buNone/>
            </a:pPr>
            <a:r>
              <a:rPr lang="en-US" sz="1800" b="1" i="0" u="none">
                <a:solidFill>
                  <a:srgbClr val="002060"/>
                </a:solidFill>
                <a:latin typeface="Arial"/>
                <a:ea typeface="Arial"/>
                <a:cs typeface="Arial"/>
                <a:sym typeface="Arial"/>
              </a:rPr>
              <a:t>Hoàng Trang</a:t>
            </a:r>
            <a:endParaRPr/>
          </a:p>
        </p:txBody>
      </p:sp>
      <p:sp>
        <p:nvSpPr>
          <p:cNvPr id="124" name="Google Shape;124;p27"/>
          <p:cNvSpPr txBox="1">
            <a:spLocks noGrp="1"/>
          </p:cNvSpPr>
          <p:nvPr>
            <p:ph type="title"/>
          </p:nvPr>
        </p:nvSpPr>
        <p:spPr>
          <a:xfrm>
            <a:off x="457200" y="304800"/>
            <a:ext cx="8229600" cy="11430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4000" b="1" i="0" u="none" strike="noStrike" cap="none">
                <a:solidFill>
                  <a:schemeClr val="dk2"/>
                </a:solidFill>
                <a:latin typeface="Arial"/>
                <a:ea typeface="Arial"/>
                <a:cs typeface="Arial"/>
                <a:sym typeface="Arial"/>
              </a:defRPr>
            </a:lvl1pPr>
            <a:lvl2pPr marR="0" lvl="1" algn="l" rtl="0">
              <a:spcBef>
                <a:spcPts val="0"/>
              </a:spcBef>
              <a:spcAft>
                <a:spcPts val="0"/>
              </a:spcAft>
              <a:buSzPts val="1400"/>
              <a:buNone/>
              <a:defRPr sz="4000" b="1" i="0" u="none" strike="noStrike" cap="none">
                <a:solidFill>
                  <a:schemeClr val="dk2"/>
                </a:solidFill>
                <a:latin typeface="Arial"/>
                <a:ea typeface="Arial"/>
                <a:cs typeface="Arial"/>
                <a:sym typeface="Arial"/>
              </a:defRPr>
            </a:lvl2pPr>
            <a:lvl3pPr marR="0" lvl="2" algn="l" rtl="0">
              <a:spcBef>
                <a:spcPts val="0"/>
              </a:spcBef>
              <a:spcAft>
                <a:spcPts val="0"/>
              </a:spcAft>
              <a:buSzPts val="1400"/>
              <a:buNone/>
              <a:defRPr sz="4000" b="1" i="0" u="none" strike="noStrike" cap="none">
                <a:solidFill>
                  <a:schemeClr val="dk2"/>
                </a:solidFill>
                <a:latin typeface="Arial"/>
                <a:ea typeface="Arial"/>
                <a:cs typeface="Arial"/>
                <a:sym typeface="Arial"/>
              </a:defRPr>
            </a:lvl3pPr>
            <a:lvl4pPr marR="0" lvl="3" algn="l" rtl="0">
              <a:spcBef>
                <a:spcPts val="0"/>
              </a:spcBef>
              <a:spcAft>
                <a:spcPts val="0"/>
              </a:spcAft>
              <a:buSzPts val="1400"/>
              <a:buNone/>
              <a:defRPr sz="4000" b="1" i="0" u="none" strike="noStrike" cap="none">
                <a:solidFill>
                  <a:schemeClr val="dk2"/>
                </a:solidFill>
                <a:latin typeface="Arial"/>
                <a:ea typeface="Arial"/>
                <a:cs typeface="Arial"/>
                <a:sym typeface="Arial"/>
              </a:defRPr>
            </a:lvl4pPr>
            <a:lvl5pPr marR="0" lvl="4" algn="l" rtl="0">
              <a:spcBef>
                <a:spcPts val="0"/>
              </a:spcBef>
              <a:spcAft>
                <a:spcPts val="0"/>
              </a:spcAft>
              <a:buSzPts val="1400"/>
              <a:buNone/>
              <a:defRPr sz="4000" b="1" i="0" u="none" strike="noStrike" cap="none">
                <a:solidFill>
                  <a:schemeClr val="dk2"/>
                </a:solidFill>
                <a:latin typeface="Arial"/>
                <a:ea typeface="Arial"/>
                <a:cs typeface="Arial"/>
                <a:sym typeface="Arial"/>
              </a:defRPr>
            </a:lvl5pPr>
            <a:lvl6pPr marR="0" lvl="5" algn="l" rtl="0">
              <a:spcBef>
                <a:spcPts val="0"/>
              </a:spcBef>
              <a:spcAft>
                <a:spcPts val="0"/>
              </a:spcAft>
              <a:buSzPts val="1400"/>
              <a:buNone/>
              <a:defRPr sz="4000" b="1" i="0" u="none" strike="noStrike" cap="none">
                <a:solidFill>
                  <a:schemeClr val="dk2"/>
                </a:solidFill>
                <a:latin typeface="Arial"/>
                <a:ea typeface="Arial"/>
                <a:cs typeface="Arial"/>
                <a:sym typeface="Arial"/>
              </a:defRPr>
            </a:lvl6pPr>
            <a:lvl7pPr marR="0" lvl="6" algn="l" rtl="0">
              <a:spcBef>
                <a:spcPts val="0"/>
              </a:spcBef>
              <a:spcAft>
                <a:spcPts val="0"/>
              </a:spcAft>
              <a:buSzPts val="1400"/>
              <a:buNone/>
              <a:defRPr sz="4000" b="1" i="0" u="none" strike="noStrike" cap="none">
                <a:solidFill>
                  <a:schemeClr val="dk2"/>
                </a:solidFill>
                <a:latin typeface="Arial"/>
                <a:ea typeface="Arial"/>
                <a:cs typeface="Arial"/>
                <a:sym typeface="Arial"/>
              </a:defRPr>
            </a:lvl7pPr>
            <a:lvl8pPr marR="0" lvl="7" algn="l" rtl="0">
              <a:spcBef>
                <a:spcPts val="0"/>
              </a:spcBef>
              <a:spcAft>
                <a:spcPts val="0"/>
              </a:spcAft>
              <a:buSzPts val="1400"/>
              <a:buNone/>
              <a:defRPr sz="4000" b="1" i="0" u="none" strike="noStrike" cap="none">
                <a:solidFill>
                  <a:schemeClr val="dk2"/>
                </a:solidFill>
                <a:latin typeface="Arial"/>
                <a:ea typeface="Arial"/>
                <a:cs typeface="Arial"/>
                <a:sym typeface="Arial"/>
              </a:defRPr>
            </a:lvl8pPr>
            <a:lvl9pPr marR="0" lvl="8" algn="l" rtl="0">
              <a:spcBef>
                <a:spcPts val="0"/>
              </a:spcBef>
              <a:spcAft>
                <a:spcPts val="0"/>
              </a:spcAft>
              <a:buSzPts val="1400"/>
              <a:buNone/>
              <a:defRPr sz="4000" b="1" i="0" u="none" strike="noStrike" cap="none">
                <a:solidFill>
                  <a:schemeClr val="dk2"/>
                </a:solidFill>
                <a:latin typeface="Arial"/>
                <a:ea typeface="Arial"/>
                <a:cs typeface="Arial"/>
                <a:sym typeface="Arial"/>
              </a:defRPr>
            </a:lvl9pPr>
          </a:lstStyle>
          <a:p>
            <a:endParaRPr/>
          </a:p>
        </p:txBody>
      </p:sp>
      <p:sp>
        <p:nvSpPr>
          <p:cNvPr id="125" name="Google Shape;125;p27"/>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26" name="Google Shape;126;p27"/>
          <p:cNvSpPr txBox="1">
            <a:spLocks noGrp="1"/>
          </p:cNvSpPr>
          <p:nvPr>
            <p:ph type="sldNum" idx="12"/>
          </p:nvPr>
        </p:nvSpPr>
        <p:spPr>
          <a:xfrm>
            <a:off x="0" y="6610350"/>
            <a:ext cx="381000" cy="247650"/>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65" r:id="rId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17"/>
                                        </p:tgtEl>
                                        <p:attrNameLst>
                                          <p:attrName>style.visibility</p:attrName>
                                        </p:attrNameLst>
                                      </p:cBhvr>
                                      <p:to>
                                        <p:strVal val="visible"/>
                                      </p:to>
                                    </p:set>
                                    <p:animEffect transition="in" filter="fade">
                                      <p:cBhvr>
                                        <p:cTn id="7" dur="1000"/>
                                        <p:tgtEl>
                                          <p:spTgt spid="1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gradFill>
          <a:gsLst>
            <a:gs pos="0">
              <a:srgbClr val="5E9EFF"/>
            </a:gs>
            <a:gs pos="39999">
              <a:srgbClr val="85C2FF"/>
            </a:gs>
            <a:gs pos="69999">
              <a:srgbClr val="C4D6EB"/>
            </a:gs>
            <a:gs pos="100000">
              <a:srgbClr val="FFEBFA"/>
            </a:gs>
          </a:gsLst>
          <a:lin ang="2700000" scaled="0"/>
        </a:gradFill>
        <a:effectLst/>
      </p:bgPr>
    </p:bg>
    <p:spTree>
      <p:nvGrpSpPr>
        <p:cNvPr id="1" name="Shape 129"/>
        <p:cNvGrpSpPr/>
        <p:nvPr/>
      </p:nvGrpSpPr>
      <p:grpSpPr>
        <a:xfrm>
          <a:off x="0" y="0"/>
          <a:ext cx="0" cy="0"/>
          <a:chOff x="0" y="0"/>
          <a:chExt cx="0" cy="0"/>
        </a:xfrm>
      </p:grpSpPr>
      <p:sp>
        <p:nvSpPr>
          <p:cNvPr id="130" name="Google Shape;130;p29"/>
          <p:cNvSpPr/>
          <p:nvPr/>
        </p:nvSpPr>
        <p:spPr>
          <a:xfrm>
            <a:off x="0" y="76200"/>
            <a:ext cx="9131300" cy="1219200"/>
          </a:xfrm>
          <a:custGeom>
            <a:avLst/>
            <a:gdLst/>
            <a:ahLst/>
            <a:cxnLst/>
            <a:rect l="l" t="t" r="r" b="b"/>
            <a:pathLst>
              <a:path w="5752" h="444" extrusionOk="0">
                <a:moveTo>
                  <a:pt x="5745" y="9"/>
                </a:moveTo>
                <a:lnTo>
                  <a:pt x="2449" y="8"/>
                </a:lnTo>
                <a:cubicBezTo>
                  <a:pt x="2309" y="8"/>
                  <a:pt x="2404" y="0"/>
                  <a:pt x="2347" y="14"/>
                </a:cubicBezTo>
                <a:lnTo>
                  <a:pt x="2174" y="93"/>
                </a:lnTo>
                <a:cubicBezTo>
                  <a:pt x="2124" y="112"/>
                  <a:pt x="2142" y="120"/>
                  <a:pt x="2046" y="127"/>
                </a:cubicBezTo>
                <a:cubicBezTo>
                  <a:pt x="1076" y="125"/>
                  <a:pt x="0" y="119"/>
                  <a:pt x="0" y="119"/>
                </a:cubicBezTo>
                <a:lnTo>
                  <a:pt x="0" y="444"/>
                </a:lnTo>
                <a:lnTo>
                  <a:pt x="3601" y="444"/>
                </a:lnTo>
                <a:lnTo>
                  <a:pt x="3672" y="424"/>
                </a:lnTo>
                <a:lnTo>
                  <a:pt x="3883" y="331"/>
                </a:lnTo>
                <a:lnTo>
                  <a:pt x="3985" y="325"/>
                </a:lnTo>
                <a:lnTo>
                  <a:pt x="5752" y="325"/>
                </a:lnTo>
                <a:lnTo>
                  <a:pt x="5745" y="9"/>
                </a:lnTo>
                <a:close/>
              </a:path>
            </a:pathLst>
          </a:custGeom>
          <a:solidFill>
            <a:srgbClr val="FFFFFF">
              <a:alpha val="49803"/>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pic>
        <p:nvPicPr>
          <p:cNvPr id="131" name="Google Shape;131;p29" descr="hinh3.png"/>
          <p:cNvPicPr preferRelativeResize="0"/>
          <p:nvPr/>
        </p:nvPicPr>
        <p:blipFill rotWithShape="1">
          <a:blip r:embed="rId3">
            <a:alphaModFix/>
          </a:blip>
          <a:srcRect/>
          <a:stretch/>
        </p:blipFill>
        <p:spPr>
          <a:xfrm>
            <a:off x="0" y="0"/>
            <a:ext cx="9144000" cy="609600"/>
          </a:xfrm>
          <a:prstGeom prst="rect">
            <a:avLst/>
          </a:prstGeom>
          <a:noFill/>
          <a:ln>
            <a:noFill/>
          </a:ln>
        </p:spPr>
      </p:pic>
      <p:pic>
        <p:nvPicPr>
          <p:cNvPr id="132" name="Google Shape;132;p29" descr="Logo_hcmut"/>
          <p:cNvPicPr preferRelativeResize="0"/>
          <p:nvPr/>
        </p:nvPicPr>
        <p:blipFill rotWithShape="1">
          <a:blip r:embed="rId4">
            <a:alphaModFix/>
          </a:blip>
          <a:srcRect/>
          <a:stretch/>
        </p:blipFill>
        <p:spPr>
          <a:xfrm>
            <a:off x="0" y="0"/>
            <a:ext cx="838200" cy="838200"/>
          </a:xfrm>
          <a:prstGeom prst="rect">
            <a:avLst/>
          </a:prstGeom>
          <a:noFill/>
          <a:ln>
            <a:noFill/>
          </a:ln>
          <a:effectLst>
            <a:outerShdw blurRad="50800" dist="50800" dir="5400000" algn="ctr" rotWithShape="0">
              <a:srgbClr val="000000">
                <a:alpha val="20784"/>
              </a:srgbClr>
            </a:outerShdw>
          </a:effectLst>
        </p:spPr>
      </p:pic>
      <p:sp>
        <p:nvSpPr>
          <p:cNvPr id="133" name="Google Shape;133;p29"/>
          <p:cNvSpPr txBox="1"/>
          <p:nvPr/>
        </p:nvSpPr>
        <p:spPr>
          <a:xfrm>
            <a:off x="4114800" y="6597650"/>
            <a:ext cx="914400" cy="336550"/>
          </a:xfrm>
          <a:prstGeom prst="rect">
            <a:avLst/>
          </a:prstGeom>
          <a:noFill/>
          <a:ln>
            <a:noFill/>
          </a:ln>
          <a:effectLst>
            <a:outerShdw blurRad="63500" dist="17960" dir="2700000">
              <a:srgbClr val="853A55"/>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DD4805"/>
              </a:buClr>
              <a:buSzPts val="1600"/>
              <a:buFont typeface="Arial"/>
              <a:buNone/>
            </a:pPr>
            <a:r>
              <a:rPr lang="en-US" sz="1600" b="0" i="0" u="none">
                <a:solidFill>
                  <a:srgbClr val="DD4805"/>
                </a:solidFill>
                <a:latin typeface="Arial"/>
                <a:ea typeface="Arial"/>
                <a:cs typeface="Arial"/>
                <a:sym typeface="Arial"/>
              </a:rPr>
              <a:t>09/2011</a:t>
            </a:r>
            <a:endParaRPr/>
          </a:p>
        </p:txBody>
      </p:sp>
      <p:sp>
        <p:nvSpPr>
          <p:cNvPr id="134" name="Google Shape;134;p29"/>
          <p:cNvSpPr txBox="1">
            <a:spLocks noGrp="1"/>
          </p:cNvSpPr>
          <p:nvPr>
            <p:ph type="title"/>
          </p:nvPr>
        </p:nvSpPr>
        <p:spPr>
          <a:xfrm>
            <a:off x="457200" y="304800"/>
            <a:ext cx="8229600" cy="11430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4000" b="1" i="0" u="none" strike="noStrike" cap="none">
                <a:solidFill>
                  <a:schemeClr val="dk2"/>
                </a:solidFill>
                <a:latin typeface="Arial"/>
                <a:ea typeface="Arial"/>
                <a:cs typeface="Arial"/>
                <a:sym typeface="Arial"/>
              </a:defRPr>
            </a:lvl1pPr>
            <a:lvl2pPr marR="0" lvl="1" algn="l" rtl="0">
              <a:spcBef>
                <a:spcPts val="0"/>
              </a:spcBef>
              <a:spcAft>
                <a:spcPts val="0"/>
              </a:spcAft>
              <a:buSzPts val="1400"/>
              <a:buNone/>
              <a:defRPr sz="4000" b="1" i="0" u="none" strike="noStrike" cap="none">
                <a:solidFill>
                  <a:schemeClr val="dk2"/>
                </a:solidFill>
                <a:latin typeface="Arial"/>
                <a:ea typeface="Arial"/>
                <a:cs typeface="Arial"/>
                <a:sym typeface="Arial"/>
              </a:defRPr>
            </a:lvl2pPr>
            <a:lvl3pPr marR="0" lvl="2" algn="l" rtl="0">
              <a:spcBef>
                <a:spcPts val="0"/>
              </a:spcBef>
              <a:spcAft>
                <a:spcPts val="0"/>
              </a:spcAft>
              <a:buSzPts val="1400"/>
              <a:buNone/>
              <a:defRPr sz="4000" b="1" i="0" u="none" strike="noStrike" cap="none">
                <a:solidFill>
                  <a:schemeClr val="dk2"/>
                </a:solidFill>
                <a:latin typeface="Arial"/>
                <a:ea typeface="Arial"/>
                <a:cs typeface="Arial"/>
                <a:sym typeface="Arial"/>
              </a:defRPr>
            </a:lvl3pPr>
            <a:lvl4pPr marR="0" lvl="3" algn="l" rtl="0">
              <a:spcBef>
                <a:spcPts val="0"/>
              </a:spcBef>
              <a:spcAft>
                <a:spcPts val="0"/>
              </a:spcAft>
              <a:buSzPts val="1400"/>
              <a:buNone/>
              <a:defRPr sz="4000" b="1" i="0" u="none" strike="noStrike" cap="none">
                <a:solidFill>
                  <a:schemeClr val="dk2"/>
                </a:solidFill>
                <a:latin typeface="Arial"/>
                <a:ea typeface="Arial"/>
                <a:cs typeface="Arial"/>
                <a:sym typeface="Arial"/>
              </a:defRPr>
            </a:lvl4pPr>
            <a:lvl5pPr marR="0" lvl="4" algn="l" rtl="0">
              <a:spcBef>
                <a:spcPts val="0"/>
              </a:spcBef>
              <a:spcAft>
                <a:spcPts val="0"/>
              </a:spcAft>
              <a:buSzPts val="1400"/>
              <a:buNone/>
              <a:defRPr sz="4000" b="1" i="0" u="none" strike="noStrike" cap="none">
                <a:solidFill>
                  <a:schemeClr val="dk2"/>
                </a:solidFill>
                <a:latin typeface="Arial"/>
                <a:ea typeface="Arial"/>
                <a:cs typeface="Arial"/>
                <a:sym typeface="Arial"/>
              </a:defRPr>
            </a:lvl5pPr>
            <a:lvl6pPr marR="0" lvl="5" algn="l" rtl="0">
              <a:spcBef>
                <a:spcPts val="0"/>
              </a:spcBef>
              <a:spcAft>
                <a:spcPts val="0"/>
              </a:spcAft>
              <a:buSzPts val="1400"/>
              <a:buNone/>
              <a:defRPr sz="4000" b="1" i="0" u="none" strike="noStrike" cap="none">
                <a:solidFill>
                  <a:schemeClr val="dk2"/>
                </a:solidFill>
                <a:latin typeface="Arial"/>
                <a:ea typeface="Arial"/>
                <a:cs typeface="Arial"/>
                <a:sym typeface="Arial"/>
              </a:defRPr>
            </a:lvl6pPr>
            <a:lvl7pPr marR="0" lvl="6" algn="l" rtl="0">
              <a:spcBef>
                <a:spcPts val="0"/>
              </a:spcBef>
              <a:spcAft>
                <a:spcPts val="0"/>
              </a:spcAft>
              <a:buSzPts val="1400"/>
              <a:buNone/>
              <a:defRPr sz="4000" b="1" i="0" u="none" strike="noStrike" cap="none">
                <a:solidFill>
                  <a:schemeClr val="dk2"/>
                </a:solidFill>
                <a:latin typeface="Arial"/>
                <a:ea typeface="Arial"/>
                <a:cs typeface="Arial"/>
                <a:sym typeface="Arial"/>
              </a:defRPr>
            </a:lvl7pPr>
            <a:lvl8pPr marR="0" lvl="7" algn="l" rtl="0">
              <a:spcBef>
                <a:spcPts val="0"/>
              </a:spcBef>
              <a:spcAft>
                <a:spcPts val="0"/>
              </a:spcAft>
              <a:buSzPts val="1400"/>
              <a:buNone/>
              <a:defRPr sz="4000" b="1" i="0" u="none" strike="noStrike" cap="none">
                <a:solidFill>
                  <a:schemeClr val="dk2"/>
                </a:solidFill>
                <a:latin typeface="Arial"/>
                <a:ea typeface="Arial"/>
                <a:cs typeface="Arial"/>
                <a:sym typeface="Arial"/>
              </a:defRPr>
            </a:lvl8pPr>
            <a:lvl9pPr marR="0" lvl="8" algn="l" rtl="0">
              <a:spcBef>
                <a:spcPts val="0"/>
              </a:spcBef>
              <a:spcAft>
                <a:spcPts val="0"/>
              </a:spcAft>
              <a:buSzPts val="1400"/>
              <a:buNone/>
              <a:defRPr sz="4000" b="1" i="0" u="none" strike="noStrike" cap="none">
                <a:solidFill>
                  <a:schemeClr val="dk2"/>
                </a:solidFill>
                <a:latin typeface="Arial"/>
                <a:ea typeface="Arial"/>
                <a:cs typeface="Arial"/>
                <a:sym typeface="Arial"/>
              </a:defRPr>
            </a:lvl9pPr>
          </a:lstStyle>
          <a:p>
            <a:endParaRPr/>
          </a:p>
        </p:txBody>
      </p:sp>
      <p:sp>
        <p:nvSpPr>
          <p:cNvPr id="135" name="Google Shape;135;p29"/>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36" name="Google Shape;136;p29"/>
          <p:cNvSpPr txBox="1">
            <a:spLocks noGrp="1"/>
          </p:cNvSpPr>
          <p:nvPr>
            <p:ph type="sldNum" idx="12"/>
          </p:nvPr>
        </p:nvSpPr>
        <p:spPr>
          <a:xfrm>
            <a:off x="7086600" y="6553200"/>
            <a:ext cx="1676400" cy="304800"/>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chemeClr val="dk1"/>
              </a:buClr>
              <a:buSzPts val="1600"/>
              <a:buFont typeface="Arial"/>
              <a:buNone/>
              <a:defRPr sz="1600" b="0" i="0" u="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1600"/>
              <a:buFont typeface="Arial"/>
              <a:buNone/>
              <a:defRPr sz="1600" b="0" i="0" u="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1600"/>
              <a:buFont typeface="Arial"/>
              <a:buNone/>
              <a:defRPr sz="1600" b="0" i="0" u="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1600"/>
              <a:buFont typeface="Arial"/>
              <a:buNone/>
              <a:defRPr sz="1600" b="0" i="0" u="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1600"/>
              <a:buFont typeface="Arial"/>
              <a:buNone/>
              <a:defRPr sz="1600" b="0" i="0" u="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1600"/>
              <a:buFont typeface="Arial"/>
              <a:buNone/>
              <a:defRPr sz="1600" b="0" i="0" u="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1600"/>
              <a:buFont typeface="Arial"/>
              <a:buNone/>
              <a:defRPr sz="1600" b="0" i="0" u="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1600"/>
              <a:buFont typeface="Arial"/>
              <a:buNone/>
              <a:defRPr sz="1600" b="0" i="0" u="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1600"/>
              <a:buFont typeface="Arial"/>
              <a:buNone/>
              <a:defRPr sz="1600" b="0" i="0" u="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67"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gradFill>
          <a:gsLst>
            <a:gs pos="0">
              <a:srgbClr val="5E9EFF"/>
            </a:gs>
            <a:gs pos="39999">
              <a:srgbClr val="85C2FF"/>
            </a:gs>
            <a:gs pos="69999">
              <a:srgbClr val="C4D6EB"/>
            </a:gs>
            <a:gs pos="100000">
              <a:srgbClr val="FFEBFA"/>
            </a:gs>
          </a:gsLst>
          <a:lin ang="2700000" scaled="0"/>
        </a:gradFill>
        <a:effectLst/>
      </p:bgPr>
    </p:bg>
    <p:spTree>
      <p:nvGrpSpPr>
        <p:cNvPr id="1" name="Shape 141"/>
        <p:cNvGrpSpPr/>
        <p:nvPr/>
      </p:nvGrpSpPr>
      <p:grpSpPr>
        <a:xfrm>
          <a:off x="0" y="0"/>
          <a:ext cx="0" cy="0"/>
          <a:chOff x="0" y="0"/>
          <a:chExt cx="0" cy="0"/>
        </a:xfrm>
      </p:grpSpPr>
      <p:sp>
        <p:nvSpPr>
          <p:cNvPr id="142" name="Google Shape;142;p31"/>
          <p:cNvSpPr/>
          <p:nvPr/>
        </p:nvSpPr>
        <p:spPr>
          <a:xfrm>
            <a:off x="0" y="381000"/>
            <a:ext cx="9131300" cy="914400"/>
          </a:xfrm>
          <a:custGeom>
            <a:avLst/>
            <a:gdLst/>
            <a:ahLst/>
            <a:cxnLst/>
            <a:rect l="l" t="t" r="r" b="b"/>
            <a:pathLst>
              <a:path w="5752" h="444" extrusionOk="0">
                <a:moveTo>
                  <a:pt x="5745" y="9"/>
                </a:moveTo>
                <a:lnTo>
                  <a:pt x="2449" y="8"/>
                </a:lnTo>
                <a:cubicBezTo>
                  <a:pt x="2309" y="8"/>
                  <a:pt x="2404" y="0"/>
                  <a:pt x="2347" y="14"/>
                </a:cubicBezTo>
                <a:lnTo>
                  <a:pt x="2174" y="93"/>
                </a:lnTo>
                <a:cubicBezTo>
                  <a:pt x="2124" y="112"/>
                  <a:pt x="2142" y="120"/>
                  <a:pt x="2046" y="127"/>
                </a:cubicBezTo>
                <a:cubicBezTo>
                  <a:pt x="1076" y="125"/>
                  <a:pt x="0" y="119"/>
                  <a:pt x="0" y="119"/>
                </a:cubicBezTo>
                <a:lnTo>
                  <a:pt x="0" y="444"/>
                </a:lnTo>
                <a:lnTo>
                  <a:pt x="3601" y="444"/>
                </a:lnTo>
                <a:lnTo>
                  <a:pt x="3672" y="424"/>
                </a:lnTo>
                <a:lnTo>
                  <a:pt x="3883" y="331"/>
                </a:lnTo>
                <a:lnTo>
                  <a:pt x="3985" y="325"/>
                </a:lnTo>
                <a:lnTo>
                  <a:pt x="5752" y="325"/>
                </a:lnTo>
                <a:lnTo>
                  <a:pt x="5745" y="9"/>
                </a:lnTo>
                <a:close/>
              </a:path>
            </a:pathLst>
          </a:custGeom>
          <a:solidFill>
            <a:srgbClr val="FFFFFF">
              <a:alpha val="49803"/>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pic>
        <p:nvPicPr>
          <p:cNvPr id="143" name="Google Shape;143;p31" descr="DHBK"/>
          <p:cNvPicPr preferRelativeResize="0"/>
          <p:nvPr/>
        </p:nvPicPr>
        <p:blipFill rotWithShape="1">
          <a:blip r:embed="rId3">
            <a:alphaModFix/>
          </a:blip>
          <a:srcRect/>
          <a:stretch/>
        </p:blipFill>
        <p:spPr>
          <a:xfrm>
            <a:off x="0" y="0"/>
            <a:ext cx="9144000" cy="3937000"/>
          </a:xfrm>
          <a:prstGeom prst="rect">
            <a:avLst/>
          </a:prstGeom>
          <a:noFill/>
          <a:ln>
            <a:noFill/>
          </a:ln>
        </p:spPr>
      </p:pic>
      <p:sp>
        <p:nvSpPr>
          <p:cNvPr id="144" name="Google Shape;144;p31"/>
          <p:cNvSpPr/>
          <p:nvPr/>
        </p:nvSpPr>
        <p:spPr>
          <a:xfrm>
            <a:off x="0" y="6346825"/>
            <a:ext cx="9131300" cy="511175"/>
          </a:xfrm>
          <a:custGeom>
            <a:avLst/>
            <a:gdLst/>
            <a:ahLst/>
            <a:cxnLst/>
            <a:rect l="l" t="t" r="r" b="b"/>
            <a:pathLst>
              <a:path w="5752" h="444" extrusionOk="0">
                <a:moveTo>
                  <a:pt x="5745" y="9"/>
                </a:moveTo>
                <a:lnTo>
                  <a:pt x="2449" y="8"/>
                </a:lnTo>
                <a:cubicBezTo>
                  <a:pt x="2309" y="8"/>
                  <a:pt x="2404" y="0"/>
                  <a:pt x="2347" y="14"/>
                </a:cubicBezTo>
                <a:lnTo>
                  <a:pt x="2174" y="93"/>
                </a:lnTo>
                <a:cubicBezTo>
                  <a:pt x="2124" y="112"/>
                  <a:pt x="2142" y="120"/>
                  <a:pt x="2046" y="127"/>
                </a:cubicBezTo>
                <a:cubicBezTo>
                  <a:pt x="1076" y="125"/>
                  <a:pt x="0" y="119"/>
                  <a:pt x="0" y="119"/>
                </a:cubicBezTo>
                <a:lnTo>
                  <a:pt x="0" y="444"/>
                </a:lnTo>
                <a:lnTo>
                  <a:pt x="3601" y="444"/>
                </a:lnTo>
                <a:lnTo>
                  <a:pt x="3672" y="424"/>
                </a:lnTo>
                <a:lnTo>
                  <a:pt x="3883" y="331"/>
                </a:lnTo>
                <a:lnTo>
                  <a:pt x="3985" y="325"/>
                </a:lnTo>
                <a:lnTo>
                  <a:pt x="5752" y="325"/>
                </a:lnTo>
                <a:lnTo>
                  <a:pt x="5745" y="9"/>
                </a:lnTo>
                <a:close/>
              </a:path>
            </a:pathLst>
          </a:custGeom>
          <a:solidFill>
            <a:srgbClr val="FFFFFF">
              <a:alpha val="49803"/>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45" name="Google Shape;145;p31"/>
          <p:cNvSpPr/>
          <p:nvPr/>
        </p:nvSpPr>
        <p:spPr>
          <a:xfrm>
            <a:off x="0" y="0"/>
            <a:ext cx="9153525" cy="1600200"/>
          </a:xfrm>
          <a:custGeom>
            <a:avLst/>
            <a:gdLst/>
            <a:ahLst/>
            <a:cxnLst/>
            <a:rect l="l" t="t" r="r" b="b"/>
            <a:pathLst>
              <a:path w="5766" h="1008" extrusionOk="0">
                <a:moveTo>
                  <a:pt x="0" y="1008"/>
                </a:moveTo>
                <a:lnTo>
                  <a:pt x="1884" y="1008"/>
                </a:lnTo>
                <a:cubicBezTo>
                  <a:pt x="2088" y="990"/>
                  <a:pt x="2034" y="1005"/>
                  <a:pt x="2152" y="921"/>
                </a:cubicBezTo>
                <a:lnTo>
                  <a:pt x="2560" y="531"/>
                </a:lnTo>
                <a:cubicBezTo>
                  <a:pt x="2683" y="452"/>
                  <a:pt x="2611" y="454"/>
                  <a:pt x="2892" y="448"/>
                </a:cubicBezTo>
                <a:lnTo>
                  <a:pt x="5766" y="461"/>
                </a:lnTo>
                <a:lnTo>
                  <a:pt x="5758" y="0"/>
                </a:lnTo>
                <a:lnTo>
                  <a:pt x="0" y="2"/>
                </a:lnTo>
                <a:lnTo>
                  <a:pt x="0" y="1008"/>
                </a:lnTo>
                <a:close/>
              </a:path>
            </a:pathLst>
          </a:custGeom>
          <a:gradFill>
            <a:gsLst>
              <a:gs pos="0">
                <a:schemeClr val="lt1"/>
              </a:gs>
              <a:gs pos="100000">
                <a:schemeClr val="lt2"/>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46" name="Google Shape;146;p31"/>
          <p:cNvSpPr/>
          <p:nvPr/>
        </p:nvSpPr>
        <p:spPr>
          <a:xfrm>
            <a:off x="0" y="0"/>
            <a:ext cx="9170988" cy="1362075"/>
          </a:xfrm>
          <a:custGeom>
            <a:avLst/>
            <a:gdLst/>
            <a:ahLst/>
            <a:cxnLst/>
            <a:rect l="l" t="t" r="r" b="b"/>
            <a:pathLst>
              <a:path w="5777" h="858" extrusionOk="0">
                <a:moveTo>
                  <a:pt x="0" y="858"/>
                </a:moveTo>
                <a:lnTo>
                  <a:pt x="1926" y="857"/>
                </a:lnTo>
                <a:cubicBezTo>
                  <a:pt x="2067" y="857"/>
                  <a:pt x="2068" y="850"/>
                  <a:pt x="2157" y="793"/>
                </a:cubicBezTo>
                <a:lnTo>
                  <a:pt x="2509" y="473"/>
                </a:lnTo>
                <a:cubicBezTo>
                  <a:pt x="2644" y="406"/>
                  <a:pt x="2477" y="396"/>
                  <a:pt x="2970" y="390"/>
                </a:cubicBezTo>
                <a:lnTo>
                  <a:pt x="5773" y="388"/>
                </a:lnTo>
                <a:lnTo>
                  <a:pt x="5777" y="0"/>
                </a:lnTo>
                <a:lnTo>
                  <a:pt x="0" y="2"/>
                </a:lnTo>
                <a:lnTo>
                  <a:pt x="0" y="858"/>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7" name="Google Shape;147;p31"/>
          <p:cNvSpPr/>
          <p:nvPr/>
        </p:nvSpPr>
        <p:spPr>
          <a:xfrm>
            <a:off x="0" y="4373562"/>
            <a:ext cx="9131300" cy="1036637"/>
          </a:xfrm>
          <a:custGeom>
            <a:avLst/>
            <a:gdLst/>
            <a:ahLst/>
            <a:cxnLst/>
            <a:rect l="l" t="t" r="r" b="b"/>
            <a:pathLst>
              <a:path w="5752" h="444" extrusionOk="0">
                <a:moveTo>
                  <a:pt x="5745" y="9"/>
                </a:moveTo>
                <a:lnTo>
                  <a:pt x="2449" y="8"/>
                </a:lnTo>
                <a:cubicBezTo>
                  <a:pt x="2309" y="8"/>
                  <a:pt x="2404" y="0"/>
                  <a:pt x="2347" y="14"/>
                </a:cubicBezTo>
                <a:lnTo>
                  <a:pt x="2174" y="93"/>
                </a:lnTo>
                <a:cubicBezTo>
                  <a:pt x="2124" y="112"/>
                  <a:pt x="2142" y="120"/>
                  <a:pt x="2046" y="127"/>
                </a:cubicBezTo>
                <a:cubicBezTo>
                  <a:pt x="1076" y="125"/>
                  <a:pt x="0" y="119"/>
                  <a:pt x="0" y="119"/>
                </a:cubicBezTo>
                <a:lnTo>
                  <a:pt x="0" y="444"/>
                </a:lnTo>
                <a:lnTo>
                  <a:pt x="3601" y="444"/>
                </a:lnTo>
                <a:lnTo>
                  <a:pt x="3672" y="424"/>
                </a:lnTo>
                <a:lnTo>
                  <a:pt x="3883" y="331"/>
                </a:lnTo>
                <a:lnTo>
                  <a:pt x="3985" y="325"/>
                </a:lnTo>
                <a:lnTo>
                  <a:pt x="5752" y="325"/>
                </a:lnTo>
                <a:lnTo>
                  <a:pt x="5745" y="9"/>
                </a:lnTo>
                <a:close/>
              </a:path>
            </a:pathLst>
          </a:custGeom>
          <a:solidFill>
            <a:srgbClr val="FFFFFF">
              <a:alpha val="49803"/>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pic>
        <p:nvPicPr>
          <p:cNvPr id="148" name="Google Shape;148;p31" descr="Logo_hcmut"/>
          <p:cNvPicPr preferRelativeResize="0"/>
          <p:nvPr/>
        </p:nvPicPr>
        <p:blipFill rotWithShape="1">
          <a:blip r:embed="rId5">
            <a:alphaModFix/>
          </a:blip>
          <a:srcRect/>
          <a:stretch/>
        </p:blipFill>
        <p:spPr>
          <a:xfrm>
            <a:off x="7581900" y="0"/>
            <a:ext cx="1562100" cy="1562100"/>
          </a:xfrm>
          <a:prstGeom prst="rect">
            <a:avLst/>
          </a:prstGeom>
          <a:noFill/>
          <a:ln>
            <a:noFill/>
          </a:ln>
          <a:effectLst>
            <a:outerShdw blurRad="50800" dist="50800" dir="5400000" algn="ctr" rotWithShape="0">
              <a:srgbClr val="000000">
                <a:alpha val="20784"/>
              </a:srgbClr>
            </a:outerShdw>
          </a:effectLst>
        </p:spPr>
      </p:pic>
      <p:sp>
        <p:nvSpPr>
          <p:cNvPr id="149" name="Google Shape;149;p31"/>
          <p:cNvSpPr txBox="1"/>
          <p:nvPr/>
        </p:nvSpPr>
        <p:spPr>
          <a:xfrm>
            <a:off x="0" y="4343400"/>
            <a:ext cx="9326562" cy="10160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0000"/>
              </a:buClr>
              <a:buSzPts val="3200"/>
              <a:buFont typeface="Arial"/>
              <a:buNone/>
            </a:pPr>
            <a:r>
              <a:rPr lang="en-US" sz="3200" b="1" i="0" u="none">
                <a:solidFill>
                  <a:srgbClr val="FF0000"/>
                </a:solidFill>
                <a:latin typeface="Arial"/>
                <a:ea typeface="Arial"/>
                <a:cs typeface="Arial"/>
                <a:sym typeface="Arial"/>
              </a:rPr>
              <a:t>Tầm nhìn-Sứ mạng-Mục tiêu-Nhiệm vụ (VMGO)</a:t>
            </a:r>
            <a:endParaRPr/>
          </a:p>
          <a:p>
            <a:pPr marL="0" marR="0" lvl="0" indent="0" algn="ctr" rtl="0">
              <a:lnSpc>
                <a:spcPct val="100000"/>
              </a:lnSpc>
              <a:spcBef>
                <a:spcPts val="0"/>
              </a:spcBef>
              <a:spcAft>
                <a:spcPts val="0"/>
              </a:spcAft>
              <a:buClr>
                <a:srgbClr val="FF0000"/>
              </a:buClr>
              <a:buSzPts val="2800"/>
              <a:buFont typeface="Arial"/>
              <a:buNone/>
            </a:pPr>
            <a:r>
              <a:rPr lang="en-US" sz="2800" b="1" i="0" u="none">
                <a:solidFill>
                  <a:srgbClr val="FF0000"/>
                </a:solidFill>
                <a:latin typeface="Arial"/>
                <a:ea typeface="Arial"/>
                <a:cs typeface="Arial"/>
                <a:sym typeface="Arial"/>
              </a:rPr>
              <a:t>Bộ môn Điện Tử</a:t>
            </a:r>
            <a:endParaRPr/>
          </a:p>
        </p:txBody>
      </p:sp>
      <p:sp>
        <p:nvSpPr>
          <p:cNvPr id="150" name="Google Shape;150;p31"/>
          <p:cNvSpPr txBox="1"/>
          <p:nvPr/>
        </p:nvSpPr>
        <p:spPr>
          <a:xfrm>
            <a:off x="3352800" y="6096000"/>
            <a:ext cx="2895600" cy="3365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51" name="Google Shape;151;p31"/>
          <p:cNvSpPr txBox="1"/>
          <p:nvPr/>
        </p:nvSpPr>
        <p:spPr>
          <a:xfrm>
            <a:off x="3390900" y="6453187"/>
            <a:ext cx="2895600" cy="3079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2F6ACB"/>
              </a:buClr>
              <a:buSzPts val="1400"/>
              <a:buFont typeface="Arial"/>
              <a:buNone/>
            </a:pPr>
            <a:r>
              <a:rPr lang="en-US" sz="1400" b="0" i="0" u="none">
                <a:solidFill>
                  <a:srgbClr val="2F6ACB"/>
                </a:solidFill>
                <a:latin typeface="Arial"/>
                <a:ea typeface="Arial"/>
                <a:cs typeface="Arial"/>
                <a:sym typeface="Arial"/>
              </a:rPr>
              <a:t>TP.Hồ Chí Minh  09/2011</a:t>
            </a:r>
            <a:endParaRPr/>
          </a:p>
        </p:txBody>
      </p:sp>
      <p:sp>
        <p:nvSpPr>
          <p:cNvPr id="152" name="Google Shape;152;p31"/>
          <p:cNvSpPr txBox="1"/>
          <p:nvPr/>
        </p:nvSpPr>
        <p:spPr>
          <a:xfrm>
            <a:off x="2971800" y="5791200"/>
            <a:ext cx="3048000" cy="36988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2060"/>
              </a:buClr>
              <a:buSzPts val="1800"/>
              <a:buFont typeface="Arial"/>
              <a:buNone/>
            </a:pPr>
            <a:r>
              <a:rPr lang="en-US" sz="1800" b="1" i="0" u="none">
                <a:solidFill>
                  <a:srgbClr val="002060"/>
                </a:solidFill>
                <a:latin typeface="Arial"/>
                <a:ea typeface="Arial"/>
                <a:cs typeface="Arial"/>
                <a:sym typeface="Arial"/>
              </a:rPr>
              <a:t>Hoàng Trang</a:t>
            </a:r>
            <a:endParaRPr/>
          </a:p>
        </p:txBody>
      </p:sp>
      <p:sp>
        <p:nvSpPr>
          <p:cNvPr id="153" name="Google Shape;153;p31"/>
          <p:cNvSpPr txBox="1">
            <a:spLocks noGrp="1"/>
          </p:cNvSpPr>
          <p:nvPr>
            <p:ph type="title"/>
          </p:nvPr>
        </p:nvSpPr>
        <p:spPr>
          <a:xfrm>
            <a:off x="457200" y="304800"/>
            <a:ext cx="8229600" cy="11430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4000" b="1" i="0" u="none" strike="noStrike" cap="none">
                <a:solidFill>
                  <a:schemeClr val="dk2"/>
                </a:solidFill>
                <a:latin typeface="Arial"/>
                <a:ea typeface="Arial"/>
                <a:cs typeface="Arial"/>
                <a:sym typeface="Arial"/>
              </a:defRPr>
            </a:lvl1pPr>
            <a:lvl2pPr marR="0" lvl="1" algn="l" rtl="0">
              <a:spcBef>
                <a:spcPts val="0"/>
              </a:spcBef>
              <a:spcAft>
                <a:spcPts val="0"/>
              </a:spcAft>
              <a:buSzPts val="1400"/>
              <a:buNone/>
              <a:defRPr sz="4000" b="1" i="0" u="none" strike="noStrike" cap="none">
                <a:solidFill>
                  <a:schemeClr val="dk2"/>
                </a:solidFill>
                <a:latin typeface="Arial"/>
                <a:ea typeface="Arial"/>
                <a:cs typeface="Arial"/>
                <a:sym typeface="Arial"/>
              </a:defRPr>
            </a:lvl2pPr>
            <a:lvl3pPr marR="0" lvl="2" algn="l" rtl="0">
              <a:spcBef>
                <a:spcPts val="0"/>
              </a:spcBef>
              <a:spcAft>
                <a:spcPts val="0"/>
              </a:spcAft>
              <a:buSzPts val="1400"/>
              <a:buNone/>
              <a:defRPr sz="4000" b="1" i="0" u="none" strike="noStrike" cap="none">
                <a:solidFill>
                  <a:schemeClr val="dk2"/>
                </a:solidFill>
                <a:latin typeface="Arial"/>
                <a:ea typeface="Arial"/>
                <a:cs typeface="Arial"/>
                <a:sym typeface="Arial"/>
              </a:defRPr>
            </a:lvl3pPr>
            <a:lvl4pPr marR="0" lvl="3" algn="l" rtl="0">
              <a:spcBef>
                <a:spcPts val="0"/>
              </a:spcBef>
              <a:spcAft>
                <a:spcPts val="0"/>
              </a:spcAft>
              <a:buSzPts val="1400"/>
              <a:buNone/>
              <a:defRPr sz="4000" b="1" i="0" u="none" strike="noStrike" cap="none">
                <a:solidFill>
                  <a:schemeClr val="dk2"/>
                </a:solidFill>
                <a:latin typeface="Arial"/>
                <a:ea typeface="Arial"/>
                <a:cs typeface="Arial"/>
                <a:sym typeface="Arial"/>
              </a:defRPr>
            </a:lvl4pPr>
            <a:lvl5pPr marR="0" lvl="4" algn="l" rtl="0">
              <a:spcBef>
                <a:spcPts val="0"/>
              </a:spcBef>
              <a:spcAft>
                <a:spcPts val="0"/>
              </a:spcAft>
              <a:buSzPts val="1400"/>
              <a:buNone/>
              <a:defRPr sz="4000" b="1" i="0" u="none" strike="noStrike" cap="none">
                <a:solidFill>
                  <a:schemeClr val="dk2"/>
                </a:solidFill>
                <a:latin typeface="Arial"/>
                <a:ea typeface="Arial"/>
                <a:cs typeface="Arial"/>
                <a:sym typeface="Arial"/>
              </a:defRPr>
            </a:lvl5pPr>
            <a:lvl6pPr marR="0" lvl="5" algn="l" rtl="0">
              <a:spcBef>
                <a:spcPts val="0"/>
              </a:spcBef>
              <a:spcAft>
                <a:spcPts val="0"/>
              </a:spcAft>
              <a:buSzPts val="1400"/>
              <a:buNone/>
              <a:defRPr sz="4000" b="1" i="0" u="none" strike="noStrike" cap="none">
                <a:solidFill>
                  <a:schemeClr val="dk2"/>
                </a:solidFill>
                <a:latin typeface="Arial"/>
                <a:ea typeface="Arial"/>
                <a:cs typeface="Arial"/>
                <a:sym typeface="Arial"/>
              </a:defRPr>
            </a:lvl6pPr>
            <a:lvl7pPr marR="0" lvl="6" algn="l" rtl="0">
              <a:spcBef>
                <a:spcPts val="0"/>
              </a:spcBef>
              <a:spcAft>
                <a:spcPts val="0"/>
              </a:spcAft>
              <a:buSzPts val="1400"/>
              <a:buNone/>
              <a:defRPr sz="4000" b="1" i="0" u="none" strike="noStrike" cap="none">
                <a:solidFill>
                  <a:schemeClr val="dk2"/>
                </a:solidFill>
                <a:latin typeface="Arial"/>
                <a:ea typeface="Arial"/>
                <a:cs typeface="Arial"/>
                <a:sym typeface="Arial"/>
              </a:defRPr>
            </a:lvl7pPr>
            <a:lvl8pPr marR="0" lvl="7" algn="l" rtl="0">
              <a:spcBef>
                <a:spcPts val="0"/>
              </a:spcBef>
              <a:spcAft>
                <a:spcPts val="0"/>
              </a:spcAft>
              <a:buSzPts val="1400"/>
              <a:buNone/>
              <a:defRPr sz="4000" b="1" i="0" u="none" strike="noStrike" cap="none">
                <a:solidFill>
                  <a:schemeClr val="dk2"/>
                </a:solidFill>
                <a:latin typeface="Arial"/>
                <a:ea typeface="Arial"/>
                <a:cs typeface="Arial"/>
                <a:sym typeface="Arial"/>
              </a:defRPr>
            </a:lvl8pPr>
            <a:lvl9pPr marR="0" lvl="8" algn="l" rtl="0">
              <a:spcBef>
                <a:spcPts val="0"/>
              </a:spcBef>
              <a:spcAft>
                <a:spcPts val="0"/>
              </a:spcAft>
              <a:buSzPts val="1400"/>
              <a:buNone/>
              <a:defRPr sz="4000" b="1" i="0" u="none" strike="noStrike" cap="none">
                <a:solidFill>
                  <a:schemeClr val="dk2"/>
                </a:solidFill>
                <a:latin typeface="Arial"/>
                <a:ea typeface="Arial"/>
                <a:cs typeface="Arial"/>
                <a:sym typeface="Arial"/>
              </a:defRPr>
            </a:lvl9pPr>
          </a:lstStyle>
          <a:p>
            <a:endParaRPr/>
          </a:p>
        </p:txBody>
      </p:sp>
      <p:sp>
        <p:nvSpPr>
          <p:cNvPr id="154" name="Google Shape;154;p31"/>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55" name="Google Shape;155;p31"/>
          <p:cNvSpPr txBox="1">
            <a:spLocks noGrp="1"/>
          </p:cNvSpPr>
          <p:nvPr>
            <p:ph type="sldNum" idx="12"/>
          </p:nvPr>
        </p:nvSpPr>
        <p:spPr>
          <a:xfrm>
            <a:off x="0" y="6610350"/>
            <a:ext cx="381000" cy="247650"/>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1000"/>
              <a:buFont typeface="Arial"/>
              <a:buNone/>
              <a:defRPr sz="1000" b="0" i="0" u="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69" r:id="rId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46"/>
                                        </p:tgtEl>
                                        <p:attrNameLst>
                                          <p:attrName>style.visibility</p:attrName>
                                        </p:attrNameLst>
                                      </p:cBhvr>
                                      <p:to>
                                        <p:strVal val="visible"/>
                                      </p:to>
                                    </p:set>
                                    <p:animEffect transition="in" filter="fade">
                                      <p:cBhvr>
                                        <p:cTn id="7" dur="1000"/>
                                        <p:tgtEl>
                                          <p:spTgt spid="1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9.jpe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4.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3.wmf"/><Relationship Id="rId5" Type="http://schemas.openxmlformats.org/officeDocument/2006/relationships/oleObject" Target="../embeddings/oleObject2.bin"/><Relationship Id="rId10" Type="http://schemas.openxmlformats.org/officeDocument/2006/relationships/image" Target="../media/image15.wmf"/><Relationship Id="rId4" Type="http://schemas.openxmlformats.org/officeDocument/2006/relationships/image" Target="../media/image12.wmf"/><Relationship Id="rId9" Type="http://schemas.openxmlformats.org/officeDocument/2006/relationships/oleObject" Target="../embeddings/oleObject4.bin"/></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5.bin"/><Relationship Id="rId7"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7.emf"/><Relationship Id="rId5" Type="http://schemas.openxmlformats.org/officeDocument/2006/relationships/oleObject" Target="../embeddings/oleObject6.bin"/><Relationship Id="rId4" Type="http://schemas.openxmlformats.org/officeDocument/2006/relationships/image" Target="../media/image16.emf"/></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31.emf"/><Relationship Id="rId4" Type="http://schemas.openxmlformats.org/officeDocument/2006/relationships/oleObject" Target="../embeddings/oleObject7.bin"/></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3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41.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1"/>
          <p:cNvSpPr txBox="1"/>
          <p:nvPr/>
        </p:nvSpPr>
        <p:spPr>
          <a:xfrm>
            <a:off x="0" y="6610350"/>
            <a:ext cx="381000" cy="24765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000"/>
              <a:buFont typeface="Arial"/>
              <a:buNone/>
            </a:pPr>
            <a:fld id="{00000000-1234-1234-1234-123412341234}" type="slidenum">
              <a:rPr lang="en-US" sz="1000" b="0" i="0" u="none">
                <a:solidFill>
                  <a:srgbClr val="898989"/>
                </a:solidFill>
                <a:latin typeface="Arial"/>
                <a:ea typeface="Arial"/>
                <a:cs typeface="Arial"/>
                <a:sym typeface="Arial"/>
              </a:rPr>
              <a:t>1</a:t>
            </a:fld>
            <a:endParaRPr/>
          </a:p>
        </p:txBody>
      </p:sp>
      <p:sp>
        <p:nvSpPr>
          <p:cNvPr id="163" name="Google Shape;163;p1"/>
          <p:cNvSpPr txBox="1"/>
          <p:nvPr/>
        </p:nvSpPr>
        <p:spPr>
          <a:xfrm>
            <a:off x="0" y="6610350"/>
            <a:ext cx="381000" cy="24765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dk1"/>
              </a:buClr>
              <a:buSzPts val="1000"/>
              <a:buFont typeface="Arial"/>
              <a:buNone/>
            </a:pPr>
            <a:fld id="{00000000-1234-1234-1234-123412341234}" type="slidenum">
              <a:rPr lang="en-US" sz="1000" b="0" i="0" u="none">
                <a:solidFill>
                  <a:schemeClr val="dk1"/>
                </a:solidFill>
                <a:latin typeface="Arial"/>
                <a:ea typeface="Arial"/>
                <a:cs typeface="Arial"/>
                <a:sym typeface="Arial"/>
              </a:rPr>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2"/>
          <p:cNvSpPr txBox="1">
            <a:spLocks noGrp="1"/>
          </p:cNvSpPr>
          <p:nvPr>
            <p:ph type="title"/>
          </p:nvPr>
        </p:nvSpPr>
        <p:spPr>
          <a:xfrm>
            <a:off x="685800" y="274637"/>
            <a:ext cx="8001000" cy="715962"/>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3376C7"/>
              </a:buClr>
              <a:buSzPts val="4400"/>
              <a:buFont typeface="Arial"/>
              <a:buNone/>
            </a:pPr>
            <a:r>
              <a:rPr lang="en-US" sz="4400" b="1" i="0" u="none">
                <a:solidFill>
                  <a:srgbClr val="3376C7"/>
                </a:solidFill>
                <a:latin typeface="Arial"/>
                <a:ea typeface="Arial"/>
                <a:cs typeface="Arial"/>
                <a:sym typeface="Arial"/>
              </a:rPr>
              <a:t>Contents</a:t>
            </a:r>
            <a:endParaRPr/>
          </a:p>
        </p:txBody>
      </p:sp>
      <p:sp>
        <p:nvSpPr>
          <p:cNvPr id="169" name="Google Shape;169;p2"/>
          <p:cNvSpPr txBox="1">
            <a:spLocks noGrp="1"/>
          </p:cNvSpPr>
          <p:nvPr>
            <p:ph type="body" idx="1"/>
          </p:nvPr>
        </p:nvSpPr>
        <p:spPr>
          <a:xfrm>
            <a:off x="685800" y="1539875"/>
            <a:ext cx="8001000" cy="5135562"/>
          </a:xfrm>
          <a:prstGeom prst="rect">
            <a:avLst/>
          </a:prstGeom>
          <a:noFill/>
          <a:ln>
            <a:noFill/>
          </a:ln>
        </p:spPr>
        <p:txBody>
          <a:bodyPr spcFirstLastPara="1" wrap="square" lIns="91425" tIns="45700" rIns="91425" bIns="45700" anchor="t" anchorCtr="0">
            <a:noAutofit/>
          </a:bodyPr>
          <a:lstStyle/>
          <a:p>
            <a:pPr marL="514350" marR="0" lvl="0" indent="-514350" algn="l" rtl="0">
              <a:lnSpc>
                <a:spcPct val="100000"/>
              </a:lnSpc>
              <a:spcBef>
                <a:spcPts val="0"/>
              </a:spcBef>
              <a:spcAft>
                <a:spcPts val="0"/>
              </a:spcAft>
              <a:buClr>
                <a:schemeClr val="dk1"/>
              </a:buClr>
              <a:buSzPts val="3200"/>
              <a:buFont typeface="Calibri"/>
              <a:buAutoNum type="arabicPeriod"/>
            </a:pPr>
            <a:r>
              <a:rPr lang="en-US" sz="3200" b="0" i="0" u="none" strike="noStrike" cap="none">
                <a:solidFill>
                  <a:schemeClr val="dk1"/>
                </a:solidFill>
                <a:latin typeface="Calibri"/>
                <a:ea typeface="Calibri"/>
                <a:cs typeface="Calibri"/>
                <a:sym typeface="Calibri"/>
              </a:rPr>
              <a:t>Introduction</a:t>
            </a:r>
            <a:endParaRPr lang="en-US"/>
          </a:p>
          <a:p>
            <a:pPr marL="514350" marR="0" lvl="0" indent="-514350" algn="l" rtl="0">
              <a:lnSpc>
                <a:spcPct val="100000"/>
              </a:lnSpc>
              <a:spcBef>
                <a:spcPts val="640"/>
              </a:spcBef>
              <a:spcAft>
                <a:spcPts val="0"/>
              </a:spcAft>
              <a:buClr>
                <a:schemeClr val="dk1"/>
              </a:buClr>
              <a:buSzPts val="3200"/>
              <a:buFont typeface="Calibri"/>
              <a:buAutoNum type="arabicPeriod"/>
            </a:pPr>
            <a:r>
              <a:rPr lang="en-US" sz="3200" b="0" i="0" u="none" strike="noStrike" cap="none">
                <a:solidFill>
                  <a:schemeClr val="dk1"/>
                </a:solidFill>
                <a:latin typeface="Calibri"/>
                <a:ea typeface="Calibri"/>
                <a:cs typeface="Calibri"/>
                <a:sym typeface="Calibri"/>
              </a:rPr>
              <a:t>Research Objective</a:t>
            </a:r>
            <a:endParaRPr/>
          </a:p>
          <a:p>
            <a:pPr marL="514350" marR="0" lvl="0" indent="-514350" algn="l" rtl="0">
              <a:lnSpc>
                <a:spcPct val="100000"/>
              </a:lnSpc>
              <a:spcBef>
                <a:spcPts val="640"/>
              </a:spcBef>
              <a:spcAft>
                <a:spcPts val="0"/>
              </a:spcAft>
              <a:buClr>
                <a:schemeClr val="dk1"/>
              </a:buClr>
              <a:buSzPts val="3200"/>
              <a:buFont typeface="Calibri"/>
              <a:buAutoNum type="arabicPeriod"/>
            </a:pPr>
            <a:r>
              <a:rPr lang="en-US" sz="3200" b="0" i="0" u="none" strike="noStrike" cap="none">
                <a:solidFill>
                  <a:schemeClr val="dk1"/>
                </a:solidFill>
                <a:latin typeface="Calibri"/>
                <a:ea typeface="Calibri"/>
                <a:cs typeface="Calibri"/>
                <a:sym typeface="Calibri"/>
              </a:rPr>
              <a:t>Hardware Design</a:t>
            </a:r>
            <a:endParaRPr lang="en-US"/>
          </a:p>
          <a:p>
            <a:pPr marL="514350" indent="-514350">
              <a:spcBef>
                <a:spcPts val="640"/>
              </a:spcBef>
              <a:buSzPts val="3200"/>
              <a:buFont typeface="Calibri"/>
              <a:buAutoNum type="arabicPeriod"/>
            </a:pPr>
            <a:r>
              <a:rPr lang="en-US"/>
              <a:t>Software </a:t>
            </a:r>
            <a:r>
              <a:rPr lang="en-US" sz="3200" b="0" i="0" u="none" strike="noStrike" cap="none">
                <a:solidFill>
                  <a:schemeClr val="dk1"/>
                </a:solidFill>
                <a:latin typeface="Calibri"/>
                <a:ea typeface="Calibri"/>
                <a:cs typeface="Calibri"/>
                <a:sym typeface="Calibri"/>
              </a:rPr>
              <a:t>Design</a:t>
            </a:r>
            <a:endParaRPr/>
          </a:p>
          <a:p>
            <a:pPr marL="514350" marR="0" lvl="0" indent="-514350" algn="l" rtl="0">
              <a:lnSpc>
                <a:spcPct val="100000"/>
              </a:lnSpc>
              <a:spcBef>
                <a:spcPts val="640"/>
              </a:spcBef>
              <a:spcAft>
                <a:spcPts val="0"/>
              </a:spcAft>
              <a:buClr>
                <a:schemeClr val="dk1"/>
              </a:buClr>
              <a:buSzPts val="3200"/>
              <a:buFont typeface="Calibri"/>
              <a:buAutoNum type="arabicPeriod"/>
            </a:pPr>
            <a:r>
              <a:rPr lang="en-US"/>
              <a:t>Result</a:t>
            </a:r>
            <a:endParaRPr/>
          </a:p>
          <a:p>
            <a:pPr marL="514350" marR="0" lvl="0" indent="-514350" algn="l" rtl="0">
              <a:lnSpc>
                <a:spcPct val="100000"/>
              </a:lnSpc>
              <a:spcBef>
                <a:spcPts val="640"/>
              </a:spcBef>
              <a:spcAft>
                <a:spcPts val="0"/>
              </a:spcAft>
              <a:buClr>
                <a:schemeClr val="dk1"/>
              </a:buClr>
              <a:buSzPts val="3200"/>
              <a:buFont typeface="Calibri"/>
              <a:buAutoNum type="arabicPeriod"/>
            </a:pPr>
            <a:r>
              <a:rPr lang="en-US" sz="3200" b="0" i="0" u="none" strike="noStrike" cap="none">
                <a:solidFill>
                  <a:schemeClr val="dk1"/>
                </a:solidFill>
                <a:latin typeface="Calibri"/>
                <a:ea typeface="Calibri"/>
                <a:cs typeface="Calibri"/>
                <a:sym typeface="Calibri"/>
              </a:rPr>
              <a:t>Conclusion and Future Direction</a:t>
            </a:r>
            <a:endParaRPr/>
          </a:p>
          <a:p>
            <a:pPr marL="514350" marR="0" lvl="0" indent="-311150" algn="l" rtl="0">
              <a:lnSpc>
                <a:spcPct val="100000"/>
              </a:lnSpc>
              <a:spcBef>
                <a:spcPts val="640"/>
              </a:spcBef>
              <a:spcAft>
                <a:spcPts val="0"/>
              </a:spcAft>
              <a:buClr>
                <a:schemeClr val="dk1"/>
              </a:buClr>
              <a:buSzPts val="3200"/>
              <a:buFont typeface="Calibri"/>
              <a:buNone/>
            </a:pPr>
            <a:endParaRPr sz="3200" b="0" i="0" u="none" strike="noStrike" cap="none">
              <a:solidFill>
                <a:schemeClr val="dk1"/>
              </a:solidFill>
              <a:latin typeface="Calibri"/>
              <a:ea typeface="Calibri"/>
              <a:cs typeface="Calibri"/>
              <a:sym typeface="Calibri"/>
            </a:endParaRPr>
          </a:p>
          <a:p>
            <a:pPr marL="342900" marR="0" lvl="0" indent="-139700" algn="l" rtl="0">
              <a:spcBef>
                <a:spcPts val="640"/>
              </a:spcBef>
              <a:spcAft>
                <a:spcPts val="0"/>
              </a:spcAft>
              <a:buClr>
                <a:schemeClr val="dk1"/>
              </a:buClr>
              <a:buSzPts val="3200"/>
              <a:buFont typeface="Arial"/>
              <a:buNone/>
            </a:pPr>
            <a:endParaRPr sz="3200" b="0" i="0" u="none">
              <a:solidFill>
                <a:schemeClr val="dk1"/>
              </a:solidFill>
              <a:latin typeface="Calibri"/>
              <a:ea typeface="Calibri"/>
              <a:cs typeface="Calibri"/>
              <a:sym typeface="Calibri"/>
            </a:endParaRPr>
          </a:p>
        </p:txBody>
      </p:sp>
      <p:sp>
        <p:nvSpPr>
          <p:cNvPr id="170" name="Google Shape;170;p2"/>
          <p:cNvSpPr txBox="1"/>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898989"/>
              </a:buClr>
              <a:buSzPts val="1200"/>
              <a:buFont typeface="Arial"/>
              <a:buNone/>
            </a:pPr>
            <a:r>
              <a:rPr lang="en-US" sz="1200" b="0" i="0" u="none">
                <a:solidFill>
                  <a:srgbClr val="898989"/>
                </a:solidFill>
                <a:latin typeface="Arial"/>
                <a:ea typeface="Arial"/>
                <a:cs typeface="Arial"/>
                <a:sym typeface="Arial"/>
              </a:rPr>
              <a:t>*</a:t>
            </a:r>
            <a:endParaRPr/>
          </a:p>
        </p:txBody>
      </p:sp>
      <p:sp>
        <p:nvSpPr>
          <p:cNvPr id="171" name="Google Shape;171;p2"/>
          <p:cNvSpPr txBox="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72" name="Google Shape;172;p2"/>
          <p:cNvSpPr txBox="1"/>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Arial"/>
              <a:buNone/>
            </a:pPr>
            <a:fld id="{00000000-1234-1234-1234-123412341234}" type="slidenum">
              <a:rPr lang="en-US" sz="1200" b="0" i="0" u="none">
                <a:solidFill>
                  <a:srgbClr val="898989"/>
                </a:solidFill>
                <a:latin typeface="Arial"/>
                <a:ea typeface="Arial"/>
                <a:cs typeface="Arial"/>
                <a:sym typeface="Arial"/>
              </a:rPr>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3"/>
          <p:cNvSpPr txBox="1">
            <a:spLocks noGrp="1"/>
          </p:cNvSpPr>
          <p:nvPr>
            <p:ph type="title"/>
          </p:nvPr>
        </p:nvSpPr>
        <p:spPr>
          <a:xfrm>
            <a:off x="893762" y="288925"/>
            <a:ext cx="6573837" cy="674687"/>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00000"/>
              </a:lnSpc>
              <a:spcBef>
                <a:spcPts val="0"/>
              </a:spcBef>
              <a:spcAft>
                <a:spcPts val="0"/>
              </a:spcAft>
              <a:buClr>
                <a:srgbClr val="3376C7"/>
              </a:buClr>
              <a:buSzPts val="4000"/>
              <a:buFont typeface="Arial"/>
              <a:buNone/>
            </a:pPr>
            <a:r>
              <a:rPr lang="en-US" sz="4000" b="1" i="0" u="none">
                <a:solidFill>
                  <a:srgbClr val="3376C7"/>
                </a:solidFill>
                <a:latin typeface="Arial"/>
                <a:ea typeface="Arial"/>
                <a:cs typeface="Arial"/>
                <a:sym typeface="Arial"/>
              </a:rPr>
              <a:t>1. Introduction</a:t>
            </a:r>
            <a:endParaRPr/>
          </a:p>
        </p:txBody>
      </p:sp>
      <p:sp>
        <p:nvSpPr>
          <p:cNvPr id="179" name="Google Shape;179;p3"/>
          <p:cNvSpPr txBox="1"/>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Arial"/>
              <a:buNone/>
            </a:pPr>
            <a:fld id="{00000000-1234-1234-1234-123412341234}" type="slidenum">
              <a:rPr lang="en-US" sz="1200" b="0" i="0" u="none">
                <a:solidFill>
                  <a:srgbClr val="898989"/>
                </a:solidFill>
                <a:latin typeface="Arial"/>
                <a:ea typeface="Arial"/>
                <a:cs typeface="Arial"/>
                <a:sym typeface="Arial"/>
              </a:rPr>
              <a:t>3</a:t>
            </a:fld>
            <a:endParaRPr/>
          </a:p>
        </p:txBody>
      </p:sp>
      <p:pic>
        <p:nvPicPr>
          <p:cNvPr id="1026" name="Picture 2" descr="PaLM AI - $PALM (@palmaierc) / X">
            <a:extLst>
              <a:ext uri="{FF2B5EF4-FFF2-40B4-BE49-F238E27FC236}">
                <a16:creationId xmlns:a16="http://schemas.microsoft.com/office/drawing/2014/main" id="{51F16AAE-57D5-E60F-EDED-ACA67EFA59F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294" t="25441" r="13518" b="25440"/>
          <a:stretch/>
        </p:blipFill>
        <p:spPr bwMode="auto">
          <a:xfrm>
            <a:off x="348676" y="2654805"/>
            <a:ext cx="2626468" cy="160881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Llama 3.2: Latest open multimodal AI model from Meta">
            <a:extLst>
              <a:ext uri="{FF2B5EF4-FFF2-40B4-BE49-F238E27FC236}">
                <a16:creationId xmlns:a16="http://schemas.microsoft.com/office/drawing/2014/main" id="{BFFFA58D-49DE-E580-EB7F-F034F39784A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75232" y="2654805"/>
            <a:ext cx="2920092" cy="1537611"/>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GPT-4 can help data mining for energy management: Researchers">
            <a:extLst>
              <a:ext uri="{FF2B5EF4-FFF2-40B4-BE49-F238E27FC236}">
                <a16:creationId xmlns:a16="http://schemas.microsoft.com/office/drawing/2014/main" id="{1CABDFE2-3489-96D9-85DA-10E12A9FCF46}"/>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7830" t="14615" r="27358" b="10470"/>
          <a:stretch/>
        </p:blipFill>
        <p:spPr bwMode="auto">
          <a:xfrm>
            <a:off x="3574018" y="2447062"/>
            <a:ext cx="1702340" cy="213446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BA6B927-90B8-3344-2429-E1CFEC27998B}"/>
              </a:ext>
            </a:extLst>
          </p:cNvPr>
          <p:cNvSpPr txBox="1"/>
          <p:nvPr/>
        </p:nvSpPr>
        <p:spPr>
          <a:xfrm>
            <a:off x="726230" y="889465"/>
            <a:ext cx="8069094" cy="1323439"/>
          </a:xfrm>
          <a:prstGeom prst="rect">
            <a:avLst/>
          </a:prstGeom>
          <a:noFill/>
          <a:ln>
            <a:noFill/>
          </a:ln>
        </p:spPr>
        <p:txBody>
          <a:bodyPr spcFirstLastPara="1" wrap="square" lIns="91425" tIns="45700" rIns="91425" bIns="45700" anchor="ctr" anchorCtr="0">
            <a:normAutofit fontScale="97500"/>
          </a:bodyPr>
          <a:lstStyle>
            <a:defPPr marR="0" lvl="0" algn="l" rtl="0">
              <a:lnSpc>
                <a:spcPct val="100000"/>
              </a:lnSpc>
              <a:spcBef>
                <a:spcPts val="0"/>
              </a:spcBef>
              <a:spcAft>
                <a:spcPts val="0"/>
              </a:spcAft>
            </a:defPPr>
            <a:lvl1pPr marL="0" indent="0">
              <a:buClr>
                <a:srgbClr val="3376C7"/>
              </a:buClr>
              <a:buSzPts val="4000"/>
              <a:buNone/>
              <a:defRPr sz="4000" b="1">
                <a:solidFill>
                  <a:srgbClr val="3376C7"/>
                </a:solidFill>
                <a:sym typeface="Calibri"/>
              </a:defRPr>
            </a:lvl1pPr>
            <a:lvl2pPr algn="ctr">
              <a:buSzPts val="1400"/>
              <a:buNone/>
              <a:defRPr sz="4400">
                <a:solidFill>
                  <a:schemeClr val="dk1"/>
                </a:solidFill>
                <a:latin typeface="Calibri"/>
                <a:ea typeface="Calibri"/>
                <a:cs typeface="Calibri"/>
                <a:sym typeface="Calibri"/>
              </a:defRPr>
            </a:lvl2pPr>
            <a:lvl3pPr algn="ctr">
              <a:buSzPts val="1400"/>
              <a:buNone/>
              <a:defRPr sz="4400">
                <a:solidFill>
                  <a:schemeClr val="dk1"/>
                </a:solidFill>
                <a:latin typeface="Calibri"/>
                <a:ea typeface="Calibri"/>
                <a:cs typeface="Calibri"/>
                <a:sym typeface="Calibri"/>
              </a:defRPr>
            </a:lvl3pPr>
            <a:lvl4pPr algn="ctr">
              <a:buSzPts val="1400"/>
              <a:buNone/>
              <a:defRPr sz="4400">
                <a:solidFill>
                  <a:schemeClr val="dk1"/>
                </a:solidFill>
                <a:latin typeface="Calibri"/>
                <a:ea typeface="Calibri"/>
                <a:cs typeface="Calibri"/>
                <a:sym typeface="Calibri"/>
              </a:defRPr>
            </a:lvl4pPr>
            <a:lvl5pPr algn="ctr">
              <a:buSzPts val="1400"/>
              <a:buNone/>
              <a:defRPr sz="4400">
                <a:solidFill>
                  <a:schemeClr val="dk1"/>
                </a:solidFill>
                <a:latin typeface="Calibri"/>
                <a:ea typeface="Calibri"/>
                <a:cs typeface="Calibri"/>
                <a:sym typeface="Calibri"/>
              </a:defRPr>
            </a:lvl5pPr>
            <a:lvl6pPr algn="ctr">
              <a:buSzPts val="1400"/>
              <a:buNone/>
              <a:defRPr sz="4400">
                <a:solidFill>
                  <a:schemeClr val="dk1"/>
                </a:solidFill>
                <a:latin typeface="Calibri"/>
                <a:ea typeface="Calibri"/>
                <a:cs typeface="Calibri"/>
                <a:sym typeface="Calibri"/>
              </a:defRPr>
            </a:lvl6pPr>
            <a:lvl7pPr algn="ctr">
              <a:buSzPts val="1400"/>
              <a:buNone/>
              <a:defRPr sz="4400">
                <a:solidFill>
                  <a:schemeClr val="dk1"/>
                </a:solidFill>
                <a:latin typeface="Calibri"/>
                <a:ea typeface="Calibri"/>
                <a:cs typeface="Calibri"/>
                <a:sym typeface="Calibri"/>
              </a:defRPr>
            </a:lvl7pPr>
            <a:lvl8pPr algn="ctr">
              <a:buSzPts val="1400"/>
              <a:buNone/>
              <a:defRPr sz="4400">
                <a:solidFill>
                  <a:schemeClr val="dk1"/>
                </a:solidFill>
                <a:latin typeface="Calibri"/>
                <a:ea typeface="Calibri"/>
                <a:cs typeface="Calibri"/>
                <a:sym typeface="Calibri"/>
              </a:defRPr>
            </a:lvl8pPr>
            <a:lvl9pPr algn="ctr">
              <a:buSzPts val="1400"/>
              <a:buNone/>
              <a:defRPr sz="4400">
                <a:solidFill>
                  <a:schemeClr val="dk1"/>
                </a:solidFill>
                <a:latin typeface="Calibri"/>
                <a:ea typeface="Calibri"/>
                <a:cs typeface="Calibri"/>
                <a:sym typeface="Calibri"/>
              </a:defRPr>
            </a:lvl9pPr>
          </a:lstStyle>
          <a:p>
            <a:r>
              <a:rPr lang="en-US">
                <a:solidFill>
                  <a:schemeClr val="bg2"/>
                </a:solidFill>
              </a:rPr>
              <a:t>Large Language Models (LLMs)</a:t>
            </a:r>
            <a:endParaRPr lang="vi-VN">
              <a:solidFill>
                <a:schemeClr val="bg2"/>
              </a:solidFill>
            </a:endParaRPr>
          </a:p>
        </p:txBody>
      </p:sp>
      <p:sp>
        <p:nvSpPr>
          <p:cNvPr id="6" name="TextBox 5">
            <a:extLst>
              <a:ext uri="{FF2B5EF4-FFF2-40B4-BE49-F238E27FC236}">
                <a16:creationId xmlns:a16="http://schemas.microsoft.com/office/drawing/2014/main" id="{6CEBFC19-02ED-648D-07A8-56EAAB273431}"/>
              </a:ext>
            </a:extLst>
          </p:cNvPr>
          <p:cNvSpPr txBox="1"/>
          <p:nvPr/>
        </p:nvSpPr>
        <p:spPr>
          <a:xfrm>
            <a:off x="1483012" y="4614657"/>
            <a:ext cx="6177975" cy="1323439"/>
          </a:xfrm>
          <a:prstGeom prst="rect">
            <a:avLst/>
          </a:prstGeom>
          <a:noFill/>
          <a:ln>
            <a:noFill/>
          </a:ln>
        </p:spPr>
        <p:txBody>
          <a:bodyPr spcFirstLastPara="1" wrap="square" lIns="91425" tIns="45700" rIns="91425" bIns="45700" anchor="ctr" anchorCtr="0">
            <a:normAutofit fontScale="97500"/>
          </a:bodyPr>
          <a:lstStyle>
            <a:defPPr marR="0" lvl="0" algn="l" rtl="0">
              <a:lnSpc>
                <a:spcPct val="100000"/>
              </a:lnSpc>
              <a:spcBef>
                <a:spcPts val="0"/>
              </a:spcBef>
              <a:spcAft>
                <a:spcPts val="0"/>
              </a:spcAft>
              <a:defRPr/>
            </a:defPPr>
            <a:lvl1pPr marL="0" indent="0">
              <a:buClr>
                <a:srgbClr val="3376C7"/>
              </a:buClr>
              <a:buSzPts val="4000"/>
              <a:buNone/>
              <a:defRPr sz="4000" b="1">
                <a:solidFill>
                  <a:schemeClr val="tx1"/>
                </a:solidFill>
              </a:defRPr>
            </a:lvl1pPr>
            <a:lvl2pPr algn="ctr">
              <a:buSzPts val="1400"/>
              <a:buNone/>
              <a:defRPr sz="4400">
                <a:solidFill>
                  <a:schemeClr val="dk1"/>
                </a:solidFill>
                <a:latin typeface="Calibri"/>
                <a:ea typeface="Calibri"/>
                <a:cs typeface="Calibri"/>
              </a:defRPr>
            </a:lvl2pPr>
            <a:lvl3pPr algn="ctr">
              <a:buSzPts val="1400"/>
              <a:buNone/>
              <a:defRPr sz="4400">
                <a:solidFill>
                  <a:schemeClr val="dk1"/>
                </a:solidFill>
                <a:latin typeface="Calibri"/>
                <a:ea typeface="Calibri"/>
                <a:cs typeface="Calibri"/>
              </a:defRPr>
            </a:lvl3pPr>
            <a:lvl4pPr algn="ctr">
              <a:buSzPts val="1400"/>
              <a:buNone/>
              <a:defRPr sz="4400">
                <a:solidFill>
                  <a:schemeClr val="dk1"/>
                </a:solidFill>
                <a:latin typeface="Calibri"/>
                <a:ea typeface="Calibri"/>
                <a:cs typeface="Calibri"/>
              </a:defRPr>
            </a:lvl4pPr>
            <a:lvl5pPr algn="ctr">
              <a:buSzPts val="1400"/>
              <a:buNone/>
              <a:defRPr sz="4400">
                <a:solidFill>
                  <a:schemeClr val="dk1"/>
                </a:solidFill>
                <a:latin typeface="Calibri"/>
                <a:ea typeface="Calibri"/>
                <a:cs typeface="Calibri"/>
              </a:defRPr>
            </a:lvl5pPr>
            <a:lvl6pPr algn="ctr">
              <a:buSzPts val="1400"/>
              <a:buNone/>
              <a:defRPr sz="4400">
                <a:solidFill>
                  <a:schemeClr val="dk1"/>
                </a:solidFill>
                <a:latin typeface="Calibri"/>
                <a:ea typeface="Calibri"/>
                <a:cs typeface="Calibri"/>
              </a:defRPr>
            </a:lvl6pPr>
            <a:lvl7pPr algn="ctr">
              <a:buSzPts val="1400"/>
              <a:buNone/>
              <a:defRPr sz="4400">
                <a:solidFill>
                  <a:schemeClr val="dk1"/>
                </a:solidFill>
                <a:latin typeface="Calibri"/>
                <a:ea typeface="Calibri"/>
                <a:cs typeface="Calibri"/>
              </a:defRPr>
            </a:lvl7pPr>
            <a:lvl8pPr algn="ctr">
              <a:buSzPts val="1400"/>
              <a:buNone/>
              <a:defRPr sz="4400">
                <a:solidFill>
                  <a:schemeClr val="dk1"/>
                </a:solidFill>
                <a:latin typeface="Calibri"/>
                <a:ea typeface="Calibri"/>
                <a:cs typeface="Calibri"/>
              </a:defRPr>
            </a:lvl8pPr>
            <a:lvl9pPr algn="ctr">
              <a:buSzPts val="1400"/>
              <a:buNone/>
              <a:defRPr sz="4400">
                <a:solidFill>
                  <a:schemeClr val="dk1"/>
                </a:solidFill>
                <a:latin typeface="Calibri"/>
                <a:ea typeface="Calibri"/>
                <a:cs typeface="Calibri"/>
              </a:defRPr>
            </a:lvl9pPr>
          </a:lstStyle>
          <a:p>
            <a:r>
              <a:rPr lang="vi-VN"/>
              <a:t>NET USD 5,617.4 million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7">
          <a:extLst>
            <a:ext uri="{FF2B5EF4-FFF2-40B4-BE49-F238E27FC236}">
              <a16:creationId xmlns:a16="http://schemas.microsoft.com/office/drawing/2014/main" id="{006CB7B2-0DD9-63B9-2D4F-4E1560FCD037}"/>
            </a:ext>
          </a:extLst>
        </p:cNvPr>
        <p:cNvGrpSpPr/>
        <p:nvPr/>
      </p:nvGrpSpPr>
      <p:grpSpPr>
        <a:xfrm>
          <a:off x="0" y="0"/>
          <a:ext cx="0" cy="0"/>
          <a:chOff x="0" y="0"/>
          <a:chExt cx="0" cy="0"/>
        </a:xfrm>
      </p:grpSpPr>
      <p:sp>
        <p:nvSpPr>
          <p:cNvPr id="178" name="Google Shape;178;p3">
            <a:extLst>
              <a:ext uri="{FF2B5EF4-FFF2-40B4-BE49-F238E27FC236}">
                <a16:creationId xmlns:a16="http://schemas.microsoft.com/office/drawing/2014/main" id="{B0EB7081-A9FE-4877-969B-775B2E22C88D}"/>
              </a:ext>
            </a:extLst>
          </p:cNvPr>
          <p:cNvSpPr txBox="1">
            <a:spLocks noGrp="1"/>
          </p:cNvSpPr>
          <p:nvPr>
            <p:ph type="title"/>
          </p:nvPr>
        </p:nvSpPr>
        <p:spPr>
          <a:xfrm>
            <a:off x="893762" y="288925"/>
            <a:ext cx="6573837" cy="674687"/>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00000"/>
              </a:lnSpc>
              <a:spcBef>
                <a:spcPts val="0"/>
              </a:spcBef>
              <a:spcAft>
                <a:spcPts val="0"/>
              </a:spcAft>
              <a:buClr>
                <a:srgbClr val="3376C7"/>
              </a:buClr>
              <a:buSzPts val="4000"/>
              <a:buFont typeface="Arial"/>
              <a:buNone/>
            </a:pPr>
            <a:r>
              <a:rPr lang="en-US" sz="4000" b="1" i="0" u="none">
                <a:solidFill>
                  <a:srgbClr val="3376C7"/>
                </a:solidFill>
                <a:latin typeface="Arial"/>
                <a:ea typeface="Arial"/>
                <a:cs typeface="Arial"/>
                <a:sym typeface="Arial"/>
              </a:rPr>
              <a:t>1. Introduction</a:t>
            </a:r>
            <a:endParaRPr/>
          </a:p>
        </p:txBody>
      </p:sp>
      <p:sp>
        <p:nvSpPr>
          <p:cNvPr id="179" name="Google Shape;179;p3">
            <a:extLst>
              <a:ext uri="{FF2B5EF4-FFF2-40B4-BE49-F238E27FC236}">
                <a16:creationId xmlns:a16="http://schemas.microsoft.com/office/drawing/2014/main" id="{6B598066-C8AB-4A82-9F6A-2F8BE4695074}"/>
              </a:ext>
            </a:extLst>
          </p:cNvPr>
          <p:cNvSpPr txBox="1"/>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Arial"/>
              <a:buNone/>
            </a:pPr>
            <a:fld id="{00000000-1234-1234-1234-123412341234}" type="slidenum">
              <a:rPr lang="en-US" sz="1200" b="0" i="0" u="none">
                <a:solidFill>
                  <a:srgbClr val="898989"/>
                </a:solidFill>
                <a:latin typeface="Arial"/>
                <a:ea typeface="Arial"/>
                <a:cs typeface="Arial"/>
                <a:sym typeface="Arial"/>
              </a:rPr>
              <a:t>4</a:t>
            </a:fld>
            <a:endParaRPr/>
          </a:p>
        </p:txBody>
      </p:sp>
      <p:pic>
        <p:nvPicPr>
          <p:cNvPr id="2050" name="Picture 2" descr="20240823_TrainingAIModelsCost_R 2">
            <a:extLst>
              <a:ext uri="{FF2B5EF4-FFF2-40B4-BE49-F238E27FC236}">
                <a16:creationId xmlns:a16="http://schemas.microsoft.com/office/drawing/2014/main" id="{CCB898FD-A82B-CF61-63D1-FF152646B7A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906" b="17188"/>
          <a:stretch/>
        </p:blipFill>
        <p:spPr bwMode="auto">
          <a:xfrm>
            <a:off x="1175445" y="1076379"/>
            <a:ext cx="6793109" cy="52922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62247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7">
          <a:extLst>
            <a:ext uri="{FF2B5EF4-FFF2-40B4-BE49-F238E27FC236}">
              <a16:creationId xmlns:a16="http://schemas.microsoft.com/office/drawing/2014/main" id="{9434DB52-784D-BA8F-F2EF-7751D2F6184B}"/>
            </a:ext>
          </a:extLst>
        </p:cNvPr>
        <p:cNvGrpSpPr/>
        <p:nvPr/>
      </p:nvGrpSpPr>
      <p:grpSpPr>
        <a:xfrm>
          <a:off x="0" y="0"/>
          <a:ext cx="0" cy="0"/>
          <a:chOff x="0" y="0"/>
          <a:chExt cx="0" cy="0"/>
        </a:xfrm>
      </p:grpSpPr>
      <p:sp>
        <p:nvSpPr>
          <p:cNvPr id="178" name="Google Shape;178;p3">
            <a:extLst>
              <a:ext uri="{FF2B5EF4-FFF2-40B4-BE49-F238E27FC236}">
                <a16:creationId xmlns:a16="http://schemas.microsoft.com/office/drawing/2014/main" id="{8A224A04-794C-A79D-BD2F-DE478C74FAF8}"/>
              </a:ext>
            </a:extLst>
          </p:cNvPr>
          <p:cNvSpPr txBox="1">
            <a:spLocks noGrp="1"/>
          </p:cNvSpPr>
          <p:nvPr>
            <p:ph type="title"/>
          </p:nvPr>
        </p:nvSpPr>
        <p:spPr>
          <a:xfrm>
            <a:off x="893762" y="288925"/>
            <a:ext cx="6573837" cy="674687"/>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00000"/>
              </a:lnSpc>
              <a:spcBef>
                <a:spcPts val="0"/>
              </a:spcBef>
              <a:spcAft>
                <a:spcPts val="0"/>
              </a:spcAft>
              <a:buClr>
                <a:srgbClr val="3376C7"/>
              </a:buClr>
              <a:buSzPts val="4000"/>
              <a:buFont typeface="Arial"/>
              <a:buNone/>
            </a:pPr>
            <a:r>
              <a:rPr lang="en-US" sz="4000" b="1" i="0" u="none">
                <a:solidFill>
                  <a:srgbClr val="3376C7"/>
                </a:solidFill>
                <a:latin typeface="Arial"/>
                <a:ea typeface="Arial"/>
                <a:cs typeface="Arial"/>
                <a:sym typeface="Arial"/>
              </a:rPr>
              <a:t>1. Introduction</a:t>
            </a:r>
            <a:endParaRPr/>
          </a:p>
        </p:txBody>
      </p:sp>
      <p:sp>
        <p:nvSpPr>
          <p:cNvPr id="179" name="Google Shape;179;p3">
            <a:extLst>
              <a:ext uri="{FF2B5EF4-FFF2-40B4-BE49-F238E27FC236}">
                <a16:creationId xmlns:a16="http://schemas.microsoft.com/office/drawing/2014/main" id="{2A0F7314-0882-B31B-EFBA-3B64253A8BA0}"/>
              </a:ext>
            </a:extLst>
          </p:cNvPr>
          <p:cNvSpPr txBox="1"/>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Arial"/>
              <a:buNone/>
            </a:pPr>
            <a:fld id="{00000000-1234-1234-1234-123412341234}" type="slidenum">
              <a:rPr lang="en-US" sz="1200" b="0" i="0" u="none">
                <a:solidFill>
                  <a:srgbClr val="898989"/>
                </a:solidFill>
                <a:latin typeface="Arial"/>
                <a:ea typeface="Arial"/>
                <a:cs typeface="Arial"/>
                <a:sym typeface="Arial"/>
              </a:rPr>
              <a:t>5</a:t>
            </a:fld>
            <a:endParaRPr/>
          </a:p>
        </p:txBody>
      </p:sp>
      <p:pic>
        <p:nvPicPr>
          <p:cNvPr id="2" name="Picture 1" descr="MatMul-free LMs vs. Transformers: memory and latency comparison">
            <a:extLst>
              <a:ext uri="{FF2B5EF4-FFF2-40B4-BE49-F238E27FC236}">
                <a16:creationId xmlns:a16="http://schemas.microsoft.com/office/drawing/2014/main" id="{7E40F2ED-D39A-1AAB-A8F0-8D71B6A8AF8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195930" y="1895094"/>
            <a:ext cx="4752139" cy="4528073"/>
          </a:xfrm>
          <a:prstGeom prst="rect">
            <a:avLst/>
          </a:prstGeom>
          <a:noFill/>
          <a:ln>
            <a:noFill/>
          </a:ln>
        </p:spPr>
      </p:pic>
      <p:sp>
        <p:nvSpPr>
          <p:cNvPr id="5" name="TextBox 4">
            <a:extLst>
              <a:ext uri="{FF2B5EF4-FFF2-40B4-BE49-F238E27FC236}">
                <a16:creationId xmlns:a16="http://schemas.microsoft.com/office/drawing/2014/main" id="{8E085ACC-DB9E-82D2-5EC6-F3ADA2FCEC74}"/>
              </a:ext>
            </a:extLst>
          </p:cNvPr>
          <p:cNvSpPr txBox="1"/>
          <p:nvPr/>
        </p:nvSpPr>
        <p:spPr>
          <a:xfrm>
            <a:off x="282102" y="1033320"/>
            <a:ext cx="8638161" cy="861774"/>
          </a:xfrm>
          <a:prstGeom prst="rect">
            <a:avLst/>
          </a:prstGeom>
          <a:noFill/>
        </p:spPr>
        <p:txBody>
          <a:bodyPr wrap="square">
            <a:spAutoFit/>
          </a:bodyPr>
          <a:lstStyle/>
          <a:p>
            <a:pPr algn="ctr">
              <a:spcAft>
                <a:spcPts val="1000"/>
              </a:spcAft>
            </a:pPr>
            <a:r>
              <a:rPr lang="en-US" sz="2500" b="1">
                <a:effectLst/>
                <a:latin typeface="+mj-lt"/>
                <a:ea typeface="Times New Roman" panose="02020603050405020304" pitchFamily="18" charset="0"/>
              </a:rPr>
              <a:t>Comparison of GPU Memory and Latency in inference between MatMul-free LM and Transformer++</a:t>
            </a:r>
            <a:endParaRPr lang="vi-VN" sz="2500" b="1">
              <a:effectLst/>
              <a:latin typeface="+mj-lt"/>
              <a:ea typeface="Times New Roman" panose="02020603050405020304" pitchFamily="18" charset="0"/>
            </a:endParaRPr>
          </a:p>
        </p:txBody>
      </p:sp>
    </p:spTree>
    <p:extLst>
      <p:ext uri="{BB962C8B-B14F-4D97-AF65-F5344CB8AC3E}">
        <p14:creationId xmlns:p14="http://schemas.microsoft.com/office/powerpoint/2010/main" val="15804817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7">
          <a:extLst>
            <a:ext uri="{FF2B5EF4-FFF2-40B4-BE49-F238E27FC236}">
              <a16:creationId xmlns:a16="http://schemas.microsoft.com/office/drawing/2014/main" id="{2F3210C1-FE38-29F0-8DD2-94C07FF6DC20}"/>
            </a:ext>
          </a:extLst>
        </p:cNvPr>
        <p:cNvGrpSpPr/>
        <p:nvPr/>
      </p:nvGrpSpPr>
      <p:grpSpPr>
        <a:xfrm>
          <a:off x="0" y="0"/>
          <a:ext cx="0" cy="0"/>
          <a:chOff x="0" y="0"/>
          <a:chExt cx="0" cy="0"/>
        </a:xfrm>
      </p:grpSpPr>
      <p:sp>
        <p:nvSpPr>
          <p:cNvPr id="178" name="Google Shape;178;p3">
            <a:extLst>
              <a:ext uri="{FF2B5EF4-FFF2-40B4-BE49-F238E27FC236}">
                <a16:creationId xmlns:a16="http://schemas.microsoft.com/office/drawing/2014/main" id="{9F188BC8-92A5-6D68-0DC9-5CE8923150A0}"/>
              </a:ext>
            </a:extLst>
          </p:cNvPr>
          <p:cNvSpPr txBox="1">
            <a:spLocks noGrp="1"/>
          </p:cNvSpPr>
          <p:nvPr>
            <p:ph type="title"/>
          </p:nvPr>
        </p:nvSpPr>
        <p:spPr>
          <a:xfrm>
            <a:off x="893762" y="288925"/>
            <a:ext cx="6573837" cy="674687"/>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00000"/>
              </a:lnSpc>
              <a:spcBef>
                <a:spcPts val="0"/>
              </a:spcBef>
              <a:spcAft>
                <a:spcPts val="0"/>
              </a:spcAft>
              <a:buClr>
                <a:srgbClr val="3376C7"/>
              </a:buClr>
              <a:buSzPts val="4000"/>
              <a:buFont typeface="Arial"/>
              <a:buNone/>
            </a:pPr>
            <a:r>
              <a:rPr lang="en-US" sz="4000" b="1" i="0" u="none">
                <a:solidFill>
                  <a:srgbClr val="3376C7"/>
                </a:solidFill>
                <a:latin typeface="Arial"/>
                <a:ea typeface="Arial"/>
                <a:cs typeface="Arial"/>
                <a:sym typeface="Arial"/>
              </a:rPr>
              <a:t>1. Introduction</a:t>
            </a:r>
            <a:endParaRPr/>
          </a:p>
        </p:txBody>
      </p:sp>
      <p:sp>
        <p:nvSpPr>
          <p:cNvPr id="179" name="Google Shape;179;p3">
            <a:extLst>
              <a:ext uri="{FF2B5EF4-FFF2-40B4-BE49-F238E27FC236}">
                <a16:creationId xmlns:a16="http://schemas.microsoft.com/office/drawing/2014/main" id="{81825A89-35AD-FFD4-5516-2D0F0414C878}"/>
              </a:ext>
            </a:extLst>
          </p:cNvPr>
          <p:cNvSpPr txBox="1"/>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Arial"/>
              <a:buNone/>
            </a:pPr>
            <a:fld id="{00000000-1234-1234-1234-123412341234}" type="slidenum">
              <a:rPr lang="en-US" sz="1200" b="0" i="0" u="none">
                <a:solidFill>
                  <a:srgbClr val="898989"/>
                </a:solidFill>
                <a:latin typeface="Arial"/>
                <a:ea typeface="Arial"/>
                <a:cs typeface="Arial"/>
                <a:sym typeface="Arial"/>
              </a:rPr>
              <a:t>6</a:t>
            </a:fld>
            <a:endParaRPr/>
          </a:p>
        </p:txBody>
      </p:sp>
      <p:sp>
        <p:nvSpPr>
          <p:cNvPr id="4" name="TextBox 3">
            <a:extLst>
              <a:ext uri="{FF2B5EF4-FFF2-40B4-BE49-F238E27FC236}">
                <a16:creationId xmlns:a16="http://schemas.microsoft.com/office/drawing/2014/main" id="{02A2A23F-186F-651A-E498-5E4D8D76A7B5}"/>
              </a:ext>
            </a:extLst>
          </p:cNvPr>
          <p:cNvSpPr txBox="1"/>
          <p:nvPr/>
        </p:nvSpPr>
        <p:spPr>
          <a:xfrm>
            <a:off x="2249739" y="2126196"/>
            <a:ext cx="4212077" cy="1108252"/>
          </a:xfrm>
          <a:prstGeom prst="rect">
            <a:avLst/>
          </a:prstGeom>
          <a:noFill/>
        </p:spPr>
        <p:txBody>
          <a:bodyPr wrap="square">
            <a:spAutoFit/>
          </a:bodyPr>
          <a:lstStyle/>
          <a:p>
            <a:pPr indent="457200" algn="ctr">
              <a:lnSpc>
                <a:spcPct val="150000"/>
              </a:lnSpc>
              <a:spcBef>
                <a:spcPts val="600"/>
              </a:spcBef>
              <a:spcAft>
                <a:spcPts val="1000"/>
              </a:spcAft>
            </a:pPr>
            <a:r>
              <a:rPr lang="vi-VN" sz="5000" i="1">
                <a:effectLst/>
                <a:latin typeface="Times New Roman" panose="02020603050405020304" pitchFamily="18" charset="0"/>
                <a:ea typeface="Times New Roman" panose="02020603050405020304" pitchFamily="18" charset="0"/>
              </a:rPr>
              <a:t>Y=XW+b</a:t>
            </a:r>
            <a:endParaRPr lang="vi-VN" sz="5000">
              <a:effectLst/>
              <a:latin typeface="Times New Roman" panose="02020603050405020304" pitchFamily="18" charset="0"/>
              <a:ea typeface="Times New Roman" panose="02020603050405020304" pitchFamily="18" charset="0"/>
            </a:endParaRPr>
          </a:p>
        </p:txBody>
      </p:sp>
      <p:sp>
        <p:nvSpPr>
          <p:cNvPr id="7" name="TextBox 6">
            <a:extLst>
              <a:ext uri="{FF2B5EF4-FFF2-40B4-BE49-F238E27FC236}">
                <a16:creationId xmlns:a16="http://schemas.microsoft.com/office/drawing/2014/main" id="{87FF4AA4-0C33-FAF2-BEF7-A5DF34C62308}"/>
              </a:ext>
            </a:extLst>
          </p:cNvPr>
          <p:cNvSpPr txBox="1"/>
          <p:nvPr/>
        </p:nvSpPr>
        <p:spPr>
          <a:xfrm>
            <a:off x="0" y="1023243"/>
            <a:ext cx="9153727" cy="1323439"/>
          </a:xfrm>
          <a:prstGeom prst="rect">
            <a:avLst/>
          </a:prstGeom>
          <a:noFill/>
        </p:spPr>
        <p:txBody>
          <a:bodyPr wrap="square">
            <a:spAutoFit/>
          </a:bodyPr>
          <a:lstStyle/>
          <a:p>
            <a:pPr algn="ctr"/>
            <a:r>
              <a:rPr lang="vi-VN" sz="4000" b="1">
                <a:effectLst/>
                <a:latin typeface="Times New Roman" panose="02020603050405020304" pitchFamily="18" charset="0"/>
                <a:ea typeface="Times New Roman" panose="02020603050405020304" pitchFamily="18" charset="0"/>
              </a:rPr>
              <a:t>LLMs rely heavily on linear transformations </a:t>
            </a:r>
            <a:endParaRPr lang="vi-VN" sz="4000" b="1"/>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2C018EC-FF0C-BCDF-0DFB-68EDB37AC627}"/>
                  </a:ext>
                </a:extLst>
              </p:cNvPr>
              <p:cNvSpPr txBox="1"/>
              <p:nvPr/>
            </p:nvSpPr>
            <p:spPr>
              <a:xfrm>
                <a:off x="9728" y="3330257"/>
                <a:ext cx="9144000" cy="2147063"/>
              </a:xfrm>
              <a:prstGeom prst="rect">
                <a:avLst/>
              </a:prstGeom>
              <a:noFill/>
            </p:spPr>
            <p:txBody>
              <a:bodyPr wrap="square">
                <a:spAutoFit/>
              </a:bodyPr>
              <a:lstStyle/>
              <a:p>
                <a:pPr marL="285750" indent="-285750">
                  <a:lnSpc>
                    <a:spcPct val="150000"/>
                  </a:lnSpc>
                  <a:buFont typeface="Arial" panose="020B0604020202020204" pitchFamily="34" charset="0"/>
                  <a:buChar char="•"/>
                </a:pPr>
                <a14:m>
                  <m:oMath xmlns:m="http://schemas.openxmlformats.org/officeDocument/2006/math">
                    <m:r>
                      <a:rPr lang="en-US" sz="3000" b="0" i="1" smtClean="0">
                        <a:effectLst/>
                        <a:latin typeface="Cambria Math" panose="02040503050406030204" pitchFamily="18" charset="0"/>
                        <a:ea typeface="Times New Roman" panose="02020603050405020304" pitchFamily="18" charset="0"/>
                      </a:rPr>
                      <m:t>𝑋</m:t>
                    </m:r>
                    <m:r>
                      <a:rPr lang="en-US" sz="3000" i="1" smtClean="0">
                        <a:effectLst/>
                        <a:latin typeface="Cambria Math" panose="02040503050406030204" pitchFamily="18" charset="0"/>
                        <a:ea typeface="Cambria Math" panose="02040503050406030204" pitchFamily="18" charset="0"/>
                      </a:rPr>
                      <m:t>∈</m:t>
                    </m:r>
                    <m:sSup>
                      <m:sSupPr>
                        <m:ctrlPr>
                          <a:rPr lang="en-US" sz="3000" i="1" smtClean="0">
                            <a:effectLst/>
                            <a:latin typeface="Cambria Math" panose="02040503050406030204" pitchFamily="18" charset="0"/>
                            <a:ea typeface="Times New Roman" panose="02020603050405020304" pitchFamily="18" charset="0"/>
                          </a:rPr>
                        </m:ctrlPr>
                      </m:sSupPr>
                      <m:e>
                        <m:r>
                          <a:rPr lang="en-US" sz="3000" b="0" i="1" smtClean="0">
                            <a:effectLst/>
                            <a:latin typeface="Cambria Math" panose="02040503050406030204" pitchFamily="18" charset="0"/>
                            <a:ea typeface="Times New Roman" panose="02020603050405020304" pitchFamily="18" charset="0"/>
                          </a:rPr>
                          <m:t>𝑅</m:t>
                        </m:r>
                      </m:e>
                      <m:sup>
                        <m:r>
                          <a:rPr lang="en-US" sz="3000" b="0" i="1" smtClean="0">
                            <a:effectLst/>
                            <a:latin typeface="Cambria Math" panose="02040503050406030204" pitchFamily="18" charset="0"/>
                            <a:ea typeface="Times New Roman" panose="02020603050405020304" pitchFamily="18" charset="0"/>
                          </a:rPr>
                          <m:t>1</m:t>
                        </m:r>
                        <m:r>
                          <a:rPr lang="en-US" sz="3000" b="0" i="1" smtClean="0">
                            <a:effectLst/>
                            <a:latin typeface="Cambria Math" panose="02040503050406030204" pitchFamily="18" charset="0"/>
                            <a:ea typeface="Cambria Math" panose="02040503050406030204" pitchFamily="18" charset="0"/>
                          </a:rPr>
                          <m:t>×</m:t>
                        </m:r>
                        <m:r>
                          <a:rPr lang="en-US" sz="3000" b="0" i="1" smtClean="0">
                            <a:effectLst/>
                            <a:latin typeface="Cambria Math" panose="02040503050406030204" pitchFamily="18" charset="0"/>
                            <a:ea typeface="Cambria Math" panose="02040503050406030204" pitchFamily="18" charset="0"/>
                          </a:rPr>
                          <m:t>𝑑</m:t>
                        </m:r>
                      </m:sup>
                    </m:sSup>
                  </m:oMath>
                </a14:m>
                <a:r>
                  <a:rPr lang="en-US" sz="3000">
                    <a:effectLst/>
                    <a:latin typeface="+mj-lt"/>
                    <a:ea typeface="Times New Roman" panose="02020603050405020304" pitchFamily="18" charset="0"/>
                  </a:rPr>
                  <a:t> is the input row vector</a:t>
                </a:r>
              </a:p>
              <a:p>
                <a:pPr marL="285750" indent="-285750">
                  <a:lnSpc>
                    <a:spcPct val="150000"/>
                  </a:lnSpc>
                  <a:buFont typeface="Arial" panose="020B0604020202020204" pitchFamily="34" charset="0"/>
                  <a:buChar char="•"/>
                </a:pPr>
                <a14:m>
                  <m:oMath xmlns:m="http://schemas.openxmlformats.org/officeDocument/2006/math">
                    <m:r>
                      <m:rPr>
                        <m:sty m:val="p"/>
                      </m:rPr>
                      <a:rPr lang="en-US" sz="3000">
                        <a:latin typeface="Cambria Math" panose="02040503050406030204" pitchFamily="18" charset="0"/>
                        <a:ea typeface="Cambria Math" panose="02040503050406030204" pitchFamily="18" charset="0"/>
                      </a:rPr>
                      <m:t>W</m:t>
                    </m:r>
                    <m:r>
                      <a:rPr lang="en-US" sz="3000" i="1" smtClean="0">
                        <a:effectLst/>
                        <a:latin typeface="Cambria Math" panose="02040503050406030204" pitchFamily="18" charset="0"/>
                        <a:ea typeface="Cambria Math" panose="02040503050406030204" pitchFamily="18" charset="0"/>
                      </a:rPr>
                      <m:t>∈</m:t>
                    </m:r>
                    <m:sSup>
                      <m:sSupPr>
                        <m:ctrlPr>
                          <a:rPr lang="en-US" sz="3000" i="1" smtClean="0">
                            <a:effectLst/>
                            <a:latin typeface="Cambria Math" panose="02040503050406030204" pitchFamily="18" charset="0"/>
                            <a:ea typeface="Times New Roman" panose="02020603050405020304" pitchFamily="18" charset="0"/>
                          </a:rPr>
                        </m:ctrlPr>
                      </m:sSupPr>
                      <m:e>
                        <m:r>
                          <a:rPr lang="en-US" sz="3000" b="0" i="1" smtClean="0">
                            <a:effectLst/>
                            <a:latin typeface="Cambria Math" panose="02040503050406030204" pitchFamily="18" charset="0"/>
                            <a:ea typeface="Times New Roman" panose="02020603050405020304" pitchFamily="18" charset="0"/>
                          </a:rPr>
                          <m:t>𝑅</m:t>
                        </m:r>
                      </m:e>
                      <m:sup>
                        <m:r>
                          <a:rPr lang="en-US" sz="3000" b="0" i="1" smtClean="0">
                            <a:effectLst/>
                            <a:latin typeface="Cambria Math" panose="02040503050406030204" pitchFamily="18" charset="0"/>
                            <a:ea typeface="Times New Roman" panose="02020603050405020304" pitchFamily="18" charset="0"/>
                          </a:rPr>
                          <m:t>𝑑</m:t>
                        </m:r>
                        <m:r>
                          <a:rPr lang="en-US" sz="3000" b="0" i="1" smtClean="0">
                            <a:effectLst/>
                            <a:latin typeface="Cambria Math" panose="02040503050406030204" pitchFamily="18" charset="0"/>
                            <a:ea typeface="Cambria Math" panose="02040503050406030204" pitchFamily="18" charset="0"/>
                          </a:rPr>
                          <m:t>×</m:t>
                        </m:r>
                        <m:r>
                          <a:rPr lang="en-US" sz="3000" b="0" i="1" smtClean="0">
                            <a:effectLst/>
                            <a:latin typeface="Cambria Math" panose="02040503050406030204" pitchFamily="18" charset="0"/>
                            <a:ea typeface="Cambria Math" panose="02040503050406030204" pitchFamily="18" charset="0"/>
                          </a:rPr>
                          <m:t>𝑚</m:t>
                        </m:r>
                      </m:sup>
                    </m:sSup>
                    <m:r>
                      <a:rPr lang="en-US" sz="3000" b="0" i="1" smtClean="0">
                        <a:effectLst/>
                        <a:latin typeface="Cambria Math" panose="02040503050406030204" pitchFamily="18" charset="0"/>
                        <a:ea typeface="Cambria Math" panose="02040503050406030204" pitchFamily="18" charset="0"/>
                      </a:rPr>
                      <m:t> </m:t>
                    </m:r>
                  </m:oMath>
                </a14:m>
                <a:r>
                  <a:rPr lang="en-US" sz="3000">
                    <a:effectLst/>
                    <a:latin typeface="+mj-lt"/>
                    <a:ea typeface="Times New Roman" panose="02020603050405020304" pitchFamily="18" charset="0"/>
                  </a:rPr>
                  <a:t>is the learned weight matrix of the layer.</a:t>
                </a:r>
              </a:p>
              <a:p>
                <a:pPr marL="285750" indent="-285750">
                  <a:lnSpc>
                    <a:spcPct val="150000"/>
                  </a:lnSpc>
                  <a:buFont typeface="Arial" panose="020B0604020202020204" pitchFamily="34" charset="0"/>
                  <a:buChar char="•"/>
                </a:pPr>
                <a14:m>
                  <m:oMath xmlns:m="http://schemas.openxmlformats.org/officeDocument/2006/math">
                    <m:r>
                      <m:rPr>
                        <m:sty m:val="p"/>
                      </m:rPr>
                      <a:rPr lang="en-US" sz="3000">
                        <a:latin typeface="Cambria Math" panose="02040503050406030204" pitchFamily="18" charset="0"/>
                        <a:ea typeface="Cambria Math" panose="02040503050406030204" pitchFamily="18" charset="0"/>
                      </a:rPr>
                      <m:t>Y</m:t>
                    </m:r>
                    <m:r>
                      <a:rPr lang="en-US" sz="3000" i="1" smtClean="0">
                        <a:effectLst/>
                        <a:latin typeface="Cambria Math" panose="02040503050406030204" pitchFamily="18" charset="0"/>
                        <a:ea typeface="Cambria Math" panose="02040503050406030204" pitchFamily="18" charset="0"/>
                      </a:rPr>
                      <m:t>∈</m:t>
                    </m:r>
                    <m:sSup>
                      <m:sSupPr>
                        <m:ctrlPr>
                          <a:rPr lang="en-US" sz="3000" i="1" smtClean="0">
                            <a:effectLst/>
                            <a:latin typeface="Cambria Math" panose="02040503050406030204" pitchFamily="18" charset="0"/>
                            <a:ea typeface="Times New Roman" panose="02020603050405020304" pitchFamily="18" charset="0"/>
                          </a:rPr>
                        </m:ctrlPr>
                      </m:sSupPr>
                      <m:e>
                        <m:r>
                          <a:rPr lang="en-US" sz="3000" b="0" i="1" smtClean="0">
                            <a:effectLst/>
                            <a:latin typeface="Cambria Math" panose="02040503050406030204" pitchFamily="18" charset="0"/>
                            <a:ea typeface="Times New Roman" panose="02020603050405020304" pitchFamily="18" charset="0"/>
                          </a:rPr>
                          <m:t>𝑅</m:t>
                        </m:r>
                      </m:e>
                      <m:sup>
                        <m:r>
                          <a:rPr lang="en-US" sz="3000" b="0" i="1" smtClean="0">
                            <a:effectLst/>
                            <a:latin typeface="Cambria Math" panose="02040503050406030204" pitchFamily="18" charset="0"/>
                            <a:ea typeface="Times New Roman" panose="02020603050405020304" pitchFamily="18" charset="0"/>
                          </a:rPr>
                          <m:t>1</m:t>
                        </m:r>
                        <m:r>
                          <a:rPr lang="en-US" sz="3000" b="0" i="1" smtClean="0">
                            <a:effectLst/>
                            <a:latin typeface="Cambria Math" panose="02040503050406030204" pitchFamily="18" charset="0"/>
                            <a:ea typeface="Cambria Math" panose="02040503050406030204" pitchFamily="18" charset="0"/>
                          </a:rPr>
                          <m:t>×</m:t>
                        </m:r>
                        <m:r>
                          <a:rPr lang="en-US" sz="3000" b="0" i="1" smtClean="0">
                            <a:effectLst/>
                            <a:latin typeface="Cambria Math" panose="02040503050406030204" pitchFamily="18" charset="0"/>
                            <a:ea typeface="Cambria Math" panose="02040503050406030204" pitchFamily="18" charset="0"/>
                          </a:rPr>
                          <m:t>𝑚</m:t>
                        </m:r>
                      </m:sup>
                    </m:sSup>
                    <m:r>
                      <a:rPr lang="en-US" sz="3000" b="0" i="1" smtClean="0">
                        <a:effectLst/>
                        <a:latin typeface="Cambria Math" panose="02040503050406030204" pitchFamily="18" charset="0"/>
                        <a:ea typeface="Cambria Math" panose="02040503050406030204" pitchFamily="18" charset="0"/>
                      </a:rPr>
                      <m:t> </m:t>
                    </m:r>
                  </m:oMath>
                </a14:m>
                <a:r>
                  <a:rPr lang="en-US" sz="3000">
                    <a:effectLst/>
                    <a:latin typeface="+mj-lt"/>
                    <a:ea typeface="Times New Roman" panose="02020603050405020304" pitchFamily="18" charset="0"/>
                  </a:rPr>
                  <a:t>is the output vector of the transformation.</a:t>
                </a:r>
              </a:p>
            </p:txBody>
          </p:sp>
        </mc:Choice>
        <mc:Fallback xmlns="">
          <p:sp>
            <p:nvSpPr>
              <p:cNvPr id="10" name="TextBox 9">
                <a:extLst>
                  <a:ext uri="{FF2B5EF4-FFF2-40B4-BE49-F238E27FC236}">
                    <a16:creationId xmlns:a16="http://schemas.microsoft.com/office/drawing/2014/main" id="{62C018EC-FF0C-BCDF-0DFB-68EDB37AC627}"/>
                  </a:ext>
                </a:extLst>
              </p:cNvPr>
              <p:cNvSpPr txBox="1">
                <a:spLocks noRot="1" noChangeAspect="1" noMove="1" noResize="1" noEditPoints="1" noAdjustHandles="1" noChangeArrowheads="1" noChangeShapeType="1" noTextEdit="1"/>
              </p:cNvSpPr>
              <p:nvPr/>
            </p:nvSpPr>
            <p:spPr>
              <a:xfrm>
                <a:off x="9728" y="3330257"/>
                <a:ext cx="9144000" cy="2147063"/>
              </a:xfrm>
              <a:prstGeom prst="rect">
                <a:avLst/>
              </a:prstGeom>
              <a:blipFill>
                <a:blip r:embed="rId3"/>
                <a:stretch>
                  <a:fillRect r="-133" b="-7649"/>
                </a:stretch>
              </a:blipFill>
            </p:spPr>
            <p:txBody>
              <a:bodyPr/>
              <a:lstStyle/>
              <a:p>
                <a:r>
                  <a:rPr lang="vi-VN">
                    <a:noFill/>
                  </a:rPr>
                  <a:t> </a:t>
                </a:r>
              </a:p>
            </p:txBody>
          </p:sp>
        </mc:Fallback>
      </mc:AlternateContent>
      <p:sp>
        <p:nvSpPr>
          <p:cNvPr id="15" name="Rectangle 4">
            <a:extLst>
              <a:ext uri="{FF2B5EF4-FFF2-40B4-BE49-F238E27FC236}">
                <a16:creationId xmlns:a16="http://schemas.microsoft.com/office/drawing/2014/main" id="{A8715979-FCCD-503E-730A-71BC914B6F1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vi-VN" sz="1800" b="0" i="0" u="none" strike="noStrike" cap="none" normalizeH="0" baseline="0">
              <a:ln>
                <a:noFill/>
              </a:ln>
              <a:solidFill>
                <a:schemeClr val="tx1"/>
              </a:solidFill>
              <a:effectLst/>
              <a:latin typeface="Arial" panose="020B0604020202020204" pitchFamily="34" charset="0"/>
            </a:endParaRPr>
          </a:p>
        </p:txBody>
      </p:sp>
      <p:sp>
        <p:nvSpPr>
          <p:cNvPr id="22" name="TextBox 21">
            <a:extLst>
              <a:ext uri="{FF2B5EF4-FFF2-40B4-BE49-F238E27FC236}">
                <a16:creationId xmlns:a16="http://schemas.microsoft.com/office/drawing/2014/main" id="{628DFB1A-C194-01ED-DFA1-CABF3650189C}"/>
              </a:ext>
            </a:extLst>
          </p:cNvPr>
          <p:cNvSpPr txBox="1"/>
          <p:nvPr/>
        </p:nvSpPr>
        <p:spPr>
          <a:xfrm>
            <a:off x="9728" y="5573129"/>
            <a:ext cx="9144000" cy="496996"/>
          </a:xfrm>
          <a:prstGeom prst="rect">
            <a:avLst/>
          </a:prstGeom>
          <a:noFill/>
        </p:spPr>
        <p:txBody>
          <a:bodyPr wrap="square">
            <a:spAutoFit/>
          </a:bodyPr>
          <a:lstStyle/>
          <a:p>
            <a:pPr algn="ctr">
              <a:lnSpc>
                <a:spcPct val="150000"/>
              </a:lnSpc>
            </a:pPr>
            <a:r>
              <a:rPr lang="en-US" sz="2000" i="1">
                <a:solidFill>
                  <a:srgbClr val="FF0000"/>
                </a:solidFill>
                <a:latin typeface="+mj-lt"/>
                <a:ea typeface="Times New Roman" panose="02020603050405020304" pitchFamily="18" charset="0"/>
              </a:rPr>
              <a:t>Note: This hardware </a:t>
            </a:r>
            <a:r>
              <a:rPr lang="en-US" sz="2000" i="1">
                <a:solidFill>
                  <a:srgbClr val="FF0000"/>
                </a:solidFill>
                <a:effectLst/>
                <a:latin typeface="+mj-lt"/>
                <a:ea typeface="Times New Roman" panose="02020603050405020304" pitchFamily="18" charset="0"/>
              </a:rPr>
              <a:t>design focus on d=512, m=512</a:t>
            </a:r>
          </a:p>
        </p:txBody>
      </p:sp>
    </p:spTree>
    <p:extLst>
      <p:ext uri="{BB962C8B-B14F-4D97-AF65-F5344CB8AC3E}">
        <p14:creationId xmlns:p14="http://schemas.microsoft.com/office/powerpoint/2010/main" val="16133280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7">
          <a:extLst>
            <a:ext uri="{FF2B5EF4-FFF2-40B4-BE49-F238E27FC236}">
              <a16:creationId xmlns:a16="http://schemas.microsoft.com/office/drawing/2014/main" id="{94A7F48E-1E34-13B7-4D76-7A915B5CC715}"/>
            </a:ext>
          </a:extLst>
        </p:cNvPr>
        <p:cNvGrpSpPr/>
        <p:nvPr/>
      </p:nvGrpSpPr>
      <p:grpSpPr>
        <a:xfrm>
          <a:off x="0" y="0"/>
          <a:ext cx="0" cy="0"/>
          <a:chOff x="0" y="0"/>
          <a:chExt cx="0" cy="0"/>
        </a:xfrm>
      </p:grpSpPr>
      <p:sp>
        <p:nvSpPr>
          <p:cNvPr id="178" name="Google Shape;178;p3">
            <a:extLst>
              <a:ext uri="{FF2B5EF4-FFF2-40B4-BE49-F238E27FC236}">
                <a16:creationId xmlns:a16="http://schemas.microsoft.com/office/drawing/2014/main" id="{DEA026C7-14E6-09A4-9CEE-3AC401A8F984}"/>
              </a:ext>
            </a:extLst>
          </p:cNvPr>
          <p:cNvSpPr txBox="1">
            <a:spLocks noGrp="1"/>
          </p:cNvSpPr>
          <p:nvPr>
            <p:ph type="title"/>
          </p:nvPr>
        </p:nvSpPr>
        <p:spPr>
          <a:xfrm>
            <a:off x="893762" y="288925"/>
            <a:ext cx="6573837" cy="674687"/>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00000"/>
              </a:lnSpc>
              <a:spcBef>
                <a:spcPts val="0"/>
              </a:spcBef>
              <a:spcAft>
                <a:spcPts val="0"/>
              </a:spcAft>
              <a:buClr>
                <a:srgbClr val="3376C7"/>
              </a:buClr>
              <a:buSzPts val="4000"/>
              <a:buFont typeface="Arial"/>
              <a:buNone/>
            </a:pPr>
            <a:r>
              <a:rPr lang="en-US" sz="4000" b="1" i="0" u="none">
                <a:solidFill>
                  <a:srgbClr val="3376C7"/>
                </a:solidFill>
                <a:latin typeface="Arial"/>
                <a:ea typeface="Arial"/>
                <a:cs typeface="Arial"/>
                <a:sym typeface="Arial"/>
              </a:rPr>
              <a:t>1. Introduction</a:t>
            </a:r>
            <a:endParaRPr/>
          </a:p>
        </p:txBody>
      </p:sp>
      <p:sp>
        <p:nvSpPr>
          <p:cNvPr id="179" name="Google Shape;179;p3">
            <a:extLst>
              <a:ext uri="{FF2B5EF4-FFF2-40B4-BE49-F238E27FC236}">
                <a16:creationId xmlns:a16="http://schemas.microsoft.com/office/drawing/2014/main" id="{FB01E3AD-033C-7F31-EAEB-4C17CEDEA35E}"/>
              </a:ext>
            </a:extLst>
          </p:cNvPr>
          <p:cNvSpPr txBox="1"/>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Arial"/>
              <a:buNone/>
            </a:pPr>
            <a:fld id="{00000000-1234-1234-1234-123412341234}" type="slidenum">
              <a:rPr lang="en-US" sz="1200" b="0" i="0" u="none">
                <a:solidFill>
                  <a:srgbClr val="898989"/>
                </a:solidFill>
                <a:latin typeface="Arial"/>
                <a:ea typeface="Arial"/>
                <a:cs typeface="Arial"/>
                <a:sym typeface="Arial"/>
              </a:rPr>
              <a:t>7</a:t>
            </a:fld>
            <a:endParaRPr/>
          </a:p>
        </p:txBody>
      </p:sp>
      <p:sp>
        <p:nvSpPr>
          <p:cNvPr id="7" name="TextBox 6">
            <a:extLst>
              <a:ext uri="{FF2B5EF4-FFF2-40B4-BE49-F238E27FC236}">
                <a16:creationId xmlns:a16="http://schemas.microsoft.com/office/drawing/2014/main" id="{E396CB12-915A-D948-73D3-0A8E3BE88F48}"/>
              </a:ext>
            </a:extLst>
          </p:cNvPr>
          <p:cNvSpPr txBox="1"/>
          <p:nvPr/>
        </p:nvSpPr>
        <p:spPr>
          <a:xfrm>
            <a:off x="0" y="1230501"/>
            <a:ext cx="9153727" cy="707886"/>
          </a:xfrm>
          <a:prstGeom prst="rect">
            <a:avLst/>
          </a:prstGeom>
          <a:noFill/>
        </p:spPr>
        <p:txBody>
          <a:bodyPr wrap="square">
            <a:spAutoFit/>
          </a:bodyPr>
          <a:lstStyle/>
          <a:p>
            <a:pPr algn="ctr"/>
            <a:r>
              <a:rPr lang="en-US" sz="4000" b="1">
                <a:effectLst/>
                <a:latin typeface="Times New Roman" panose="02020603050405020304" pitchFamily="18" charset="0"/>
                <a:ea typeface="Times New Roman" panose="02020603050405020304" pitchFamily="18" charset="0"/>
              </a:rPr>
              <a:t>Standard GRU</a:t>
            </a:r>
            <a:endParaRPr lang="vi-VN" sz="4000" b="1"/>
          </a:p>
        </p:txBody>
      </p:sp>
      <p:sp>
        <p:nvSpPr>
          <p:cNvPr id="15" name="Rectangle 4">
            <a:extLst>
              <a:ext uri="{FF2B5EF4-FFF2-40B4-BE49-F238E27FC236}">
                <a16:creationId xmlns:a16="http://schemas.microsoft.com/office/drawing/2014/main" id="{8FFA3556-BFF0-0708-067E-773AD21B43F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vi-VN" sz="1800" b="0" i="0" u="none" strike="noStrike" cap="none" normalizeH="0" baseline="0">
              <a:ln>
                <a:noFill/>
              </a:ln>
              <a:solidFill>
                <a:schemeClr val="tx1"/>
              </a:solidFill>
              <a:effectLst/>
              <a:latin typeface="Arial" panose="020B0604020202020204" pitchFamily="34" charset="0"/>
            </a:endParaRPr>
          </a:p>
        </p:txBody>
      </p:sp>
      <p:graphicFrame>
        <p:nvGraphicFramePr>
          <p:cNvPr id="16" name="Object 15">
            <a:extLst>
              <a:ext uri="{FF2B5EF4-FFF2-40B4-BE49-F238E27FC236}">
                <a16:creationId xmlns:a16="http://schemas.microsoft.com/office/drawing/2014/main" id="{F1B05320-372A-75B0-B798-537B52D6BC75}"/>
              </a:ext>
            </a:extLst>
          </p:cNvPr>
          <p:cNvGraphicFramePr>
            <a:graphicFrameLocks noChangeAspect="1"/>
          </p:cNvGraphicFramePr>
          <p:nvPr>
            <p:extLst>
              <p:ext uri="{D42A27DB-BD31-4B8C-83A1-F6EECF244321}">
                <p14:modId xmlns:p14="http://schemas.microsoft.com/office/powerpoint/2010/main" val="1907523721"/>
              </p:ext>
            </p:extLst>
          </p:nvPr>
        </p:nvGraphicFramePr>
        <p:xfrm>
          <a:off x="2935673" y="4602162"/>
          <a:ext cx="3461657" cy="457200"/>
        </p:xfrm>
        <a:graphic>
          <a:graphicData uri="http://schemas.openxmlformats.org/presentationml/2006/ole">
            <mc:AlternateContent xmlns:mc="http://schemas.openxmlformats.org/markup-compatibility/2006">
              <mc:Choice xmlns:v="urn:schemas-microsoft-com:vml" Requires="v">
                <p:oleObj name="Equation" r:id="rId3" imgW="1854200" imgH="241300" progId="Equation.DSMT4">
                  <p:embed/>
                </p:oleObj>
              </mc:Choice>
              <mc:Fallback>
                <p:oleObj name="Equation" r:id="rId3" imgW="1854200" imgH="241300" progId="Equation.DSMT4">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35673" y="4602162"/>
                        <a:ext cx="3461657" cy="457200"/>
                      </a:xfrm>
                      <a:prstGeom prst="rect">
                        <a:avLst/>
                      </a:prstGeom>
                      <a:noFill/>
                    </p:spPr>
                  </p:pic>
                </p:oleObj>
              </mc:Fallback>
            </mc:AlternateContent>
          </a:graphicData>
        </a:graphic>
      </p:graphicFrame>
      <p:graphicFrame>
        <p:nvGraphicFramePr>
          <p:cNvPr id="17" name="Object 16">
            <a:extLst>
              <a:ext uri="{FF2B5EF4-FFF2-40B4-BE49-F238E27FC236}">
                <a16:creationId xmlns:a16="http://schemas.microsoft.com/office/drawing/2014/main" id="{1A94FC8B-3864-8ACF-5C3A-5A8EEA90F79D}"/>
              </a:ext>
            </a:extLst>
          </p:cNvPr>
          <p:cNvGraphicFramePr>
            <a:graphicFrameLocks noChangeAspect="1"/>
          </p:cNvGraphicFramePr>
          <p:nvPr>
            <p:extLst>
              <p:ext uri="{D42A27DB-BD31-4B8C-83A1-F6EECF244321}">
                <p14:modId xmlns:p14="http://schemas.microsoft.com/office/powerpoint/2010/main" val="2506197205"/>
              </p:ext>
            </p:extLst>
          </p:nvPr>
        </p:nvGraphicFramePr>
        <p:xfrm>
          <a:off x="2864419" y="2260100"/>
          <a:ext cx="3603625" cy="514350"/>
        </p:xfrm>
        <a:graphic>
          <a:graphicData uri="http://schemas.openxmlformats.org/presentationml/2006/ole">
            <mc:AlternateContent xmlns:mc="http://schemas.openxmlformats.org/markup-compatibility/2006">
              <mc:Choice xmlns:v="urn:schemas-microsoft-com:vml" Requires="v">
                <p:oleObj name="Equation" r:id="rId5" imgW="1930400" imgH="266700" progId="Equation.DSMT4">
                  <p:embed/>
                </p:oleObj>
              </mc:Choice>
              <mc:Fallback>
                <p:oleObj name="Equation" r:id="rId5" imgW="1930400" imgH="266700" progId="Equation.DSMT4">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64419" y="2260100"/>
                        <a:ext cx="3603625" cy="514350"/>
                      </a:xfrm>
                      <a:prstGeom prst="rect">
                        <a:avLst/>
                      </a:prstGeom>
                      <a:noFill/>
                    </p:spPr>
                  </p:pic>
                </p:oleObj>
              </mc:Fallback>
            </mc:AlternateContent>
          </a:graphicData>
        </a:graphic>
      </p:graphicFrame>
      <p:graphicFrame>
        <p:nvGraphicFramePr>
          <p:cNvPr id="18" name="Object 17">
            <a:extLst>
              <a:ext uri="{FF2B5EF4-FFF2-40B4-BE49-F238E27FC236}">
                <a16:creationId xmlns:a16="http://schemas.microsoft.com/office/drawing/2014/main" id="{142640B6-DE21-BE4D-E8F9-13543F9BFC2D}"/>
              </a:ext>
            </a:extLst>
          </p:cNvPr>
          <p:cNvGraphicFramePr>
            <a:graphicFrameLocks noChangeAspect="1"/>
          </p:cNvGraphicFramePr>
          <p:nvPr>
            <p:extLst>
              <p:ext uri="{D42A27DB-BD31-4B8C-83A1-F6EECF244321}">
                <p14:modId xmlns:p14="http://schemas.microsoft.com/office/powerpoint/2010/main" val="1132135452"/>
              </p:ext>
            </p:extLst>
          </p:nvPr>
        </p:nvGraphicFramePr>
        <p:xfrm>
          <a:off x="2314918" y="3010536"/>
          <a:ext cx="4702626" cy="540327"/>
        </p:xfrm>
        <a:graphic>
          <a:graphicData uri="http://schemas.openxmlformats.org/presentationml/2006/ole">
            <mc:AlternateContent xmlns:mc="http://schemas.openxmlformats.org/markup-compatibility/2006">
              <mc:Choice xmlns:v="urn:schemas-microsoft-com:vml" Requires="v">
                <p:oleObj name="Equation" r:id="rId7" imgW="2514600" imgH="279400" progId="Equation.DSMT4">
                  <p:embed/>
                </p:oleObj>
              </mc:Choice>
              <mc:Fallback>
                <p:oleObj name="Equation" r:id="rId7" imgW="2514600" imgH="279400" progId="Equation.DSMT4">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14918" y="3010536"/>
                        <a:ext cx="4702626" cy="540327"/>
                      </a:xfrm>
                      <a:prstGeom prst="rect">
                        <a:avLst/>
                      </a:prstGeom>
                      <a:noFill/>
                    </p:spPr>
                  </p:pic>
                </p:oleObj>
              </mc:Fallback>
            </mc:AlternateContent>
          </a:graphicData>
        </a:graphic>
      </p:graphicFrame>
      <p:graphicFrame>
        <p:nvGraphicFramePr>
          <p:cNvPr id="19" name="Object 18">
            <a:extLst>
              <a:ext uri="{FF2B5EF4-FFF2-40B4-BE49-F238E27FC236}">
                <a16:creationId xmlns:a16="http://schemas.microsoft.com/office/drawing/2014/main" id="{E7CE1FBE-590A-290F-DEC2-776507225C6F}"/>
              </a:ext>
            </a:extLst>
          </p:cNvPr>
          <p:cNvGraphicFramePr>
            <a:graphicFrameLocks noChangeAspect="1"/>
          </p:cNvGraphicFramePr>
          <p:nvPr>
            <p:extLst>
              <p:ext uri="{D42A27DB-BD31-4B8C-83A1-F6EECF244321}">
                <p14:modId xmlns:p14="http://schemas.microsoft.com/office/powerpoint/2010/main" val="2874022476"/>
              </p:ext>
            </p:extLst>
          </p:nvPr>
        </p:nvGraphicFramePr>
        <p:xfrm>
          <a:off x="2811484" y="3754554"/>
          <a:ext cx="3521032" cy="540327"/>
        </p:xfrm>
        <a:graphic>
          <a:graphicData uri="http://schemas.openxmlformats.org/presentationml/2006/ole">
            <mc:AlternateContent xmlns:mc="http://schemas.openxmlformats.org/markup-compatibility/2006">
              <mc:Choice xmlns:v="urn:schemas-microsoft-com:vml" Requires="v">
                <p:oleObj name="Equation" r:id="rId9" imgW="1879600" imgH="279400" progId="Equation.DSMT4">
                  <p:embed/>
                </p:oleObj>
              </mc:Choice>
              <mc:Fallback>
                <p:oleObj name="Equation" r:id="rId9" imgW="1879600" imgH="279400" progId="Equation.DSMT4">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811484" y="3754554"/>
                        <a:ext cx="3521032" cy="540327"/>
                      </a:xfrm>
                      <a:prstGeom prst="rect">
                        <a:avLst/>
                      </a:prstGeom>
                      <a:noFill/>
                    </p:spPr>
                  </p:pic>
                </p:oleObj>
              </mc:Fallback>
            </mc:AlternateContent>
          </a:graphicData>
        </a:graphic>
      </p:graphicFrame>
      <p:sp>
        <p:nvSpPr>
          <p:cNvPr id="20" name="Rectangle 13">
            <a:extLst>
              <a:ext uri="{FF2B5EF4-FFF2-40B4-BE49-F238E27FC236}">
                <a16:creationId xmlns:a16="http://schemas.microsoft.com/office/drawing/2014/main" id="{2F97A001-96B6-0F91-5F58-72C99C4512A2}"/>
              </a:ext>
            </a:extLst>
          </p:cNvPr>
          <p:cNvSpPr>
            <a:spLocks noChangeArrowheads="1"/>
          </p:cNvSpPr>
          <p:nvPr/>
        </p:nvSpPr>
        <p:spPr bwMode="auto">
          <a:xfrm>
            <a:off x="193040" y="1252537"/>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23" name="Rectangle 15">
            <a:extLst>
              <a:ext uri="{FF2B5EF4-FFF2-40B4-BE49-F238E27FC236}">
                <a16:creationId xmlns:a16="http://schemas.microsoft.com/office/drawing/2014/main" id="{DF464775-34EA-622E-8868-B1028B18662E}"/>
              </a:ext>
            </a:extLst>
          </p:cNvPr>
          <p:cNvSpPr>
            <a:spLocks noChangeArrowheads="1"/>
          </p:cNvSpPr>
          <p:nvPr/>
        </p:nvSpPr>
        <p:spPr bwMode="auto">
          <a:xfrm>
            <a:off x="193040" y="268605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Tree>
    <p:extLst>
      <p:ext uri="{BB962C8B-B14F-4D97-AF65-F5344CB8AC3E}">
        <p14:creationId xmlns:p14="http://schemas.microsoft.com/office/powerpoint/2010/main" val="28602937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7">
          <a:extLst>
            <a:ext uri="{FF2B5EF4-FFF2-40B4-BE49-F238E27FC236}">
              <a16:creationId xmlns:a16="http://schemas.microsoft.com/office/drawing/2014/main" id="{A11D6C86-BC43-F7FD-5D20-0082B3BFFDC7}"/>
            </a:ext>
          </a:extLst>
        </p:cNvPr>
        <p:cNvGrpSpPr/>
        <p:nvPr/>
      </p:nvGrpSpPr>
      <p:grpSpPr>
        <a:xfrm>
          <a:off x="0" y="0"/>
          <a:ext cx="0" cy="0"/>
          <a:chOff x="0" y="0"/>
          <a:chExt cx="0" cy="0"/>
        </a:xfrm>
      </p:grpSpPr>
      <p:sp>
        <p:nvSpPr>
          <p:cNvPr id="178" name="Google Shape;178;p3">
            <a:extLst>
              <a:ext uri="{FF2B5EF4-FFF2-40B4-BE49-F238E27FC236}">
                <a16:creationId xmlns:a16="http://schemas.microsoft.com/office/drawing/2014/main" id="{191CE0ED-0241-A0B1-CFCC-C997315AAC84}"/>
              </a:ext>
            </a:extLst>
          </p:cNvPr>
          <p:cNvSpPr txBox="1">
            <a:spLocks noGrp="1"/>
          </p:cNvSpPr>
          <p:nvPr>
            <p:ph type="title"/>
          </p:nvPr>
        </p:nvSpPr>
        <p:spPr>
          <a:xfrm>
            <a:off x="893762" y="288925"/>
            <a:ext cx="6573837" cy="674687"/>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00000"/>
              </a:lnSpc>
              <a:spcBef>
                <a:spcPts val="0"/>
              </a:spcBef>
              <a:spcAft>
                <a:spcPts val="0"/>
              </a:spcAft>
              <a:buClr>
                <a:srgbClr val="3376C7"/>
              </a:buClr>
              <a:buSzPts val="4000"/>
              <a:buFont typeface="Arial"/>
              <a:buNone/>
            </a:pPr>
            <a:r>
              <a:rPr lang="en-US" sz="4000" b="1" i="0" u="none">
                <a:solidFill>
                  <a:srgbClr val="3376C7"/>
                </a:solidFill>
                <a:latin typeface="Arial"/>
                <a:ea typeface="Arial"/>
                <a:cs typeface="Arial"/>
                <a:sym typeface="Arial"/>
              </a:rPr>
              <a:t>1. Introduction</a:t>
            </a:r>
            <a:endParaRPr/>
          </a:p>
        </p:txBody>
      </p:sp>
      <p:sp>
        <p:nvSpPr>
          <p:cNvPr id="179" name="Google Shape;179;p3">
            <a:extLst>
              <a:ext uri="{FF2B5EF4-FFF2-40B4-BE49-F238E27FC236}">
                <a16:creationId xmlns:a16="http://schemas.microsoft.com/office/drawing/2014/main" id="{F52F679F-CF0F-9054-F2BB-97E02F5A2B8F}"/>
              </a:ext>
            </a:extLst>
          </p:cNvPr>
          <p:cNvSpPr txBox="1"/>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Arial"/>
              <a:buNone/>
            </a:pPr>
            <a:fld id="{00000000-1234-1234-1234-123412341234}" type="slidenum">
              <a:rPr lang="en-US" sz="1200" b="0" i="0" u="none">
                <a:solidFill>
                  <a:srgbClr val="898989"/>
                </a:solidFill>
                <a:latin typeface="Arial"/>
                <a:ea typeface="Arial"/>
                <a:cs typeface="Arial"/>
                <a:sym typeface="Arial"/>
              </a:rPr>
              <a:t>8</a:t>
            </a:fld>
            <a:endParaRPr/>
          </a:p>
        </p:txBody>
      </p:sp>
      <p:sp>
        <p:nvSpPr>
          <p:cNvPr id="13" name="Rectangle 8">
            <a:extLst>
              <a:ext uri="{FF2B5EF4-FFF2-40B4-BE49-F238E27FC236}">
                <a16:creationId xmlns:a16="http://schemas.microsoft.com/office/drawing/2014/main" id="{01763E02-0A6C-F513-FF6C-D8F45767A06E}"/>
              </a:ext>
            </a:extLst>
          </p:cNvPr>
          <p:cNvSpPr>
            <a:spLocks noChangeArrowheads="1"/>
          </p:cNvSpPr>
          <p:nvPr/>
        </p:nvSpPr>
        <p:spPr bwMode="auto">
          <a:xfrm>
            <a:off x="0" y="195917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graphicFrame>
        <p:nvGraphicFramePr>
          <p:cNvPr id="14" name="Object 13">
            <a:extLst>
              <a:ext uri="{FF2B5EF4-FFF2-40B4-BE49-F238E27FC236}">
                <a16:creationId xmlns:a16="http://schemas.microsoft.com/office/drawing/2014/main" id="{CBAFC4B2-02A5-50B3-2FD1-05E6AC17EFFF}"/>
              </a:ext>
            </a:extLst>
          </p:cNvPr>
          <p:cNvGraphicFramePr>
            <a:graphicFrameLocks noChangeAspect="1"/>
          </p:cNvGraphicFramePr>
          <p:nvPr>
            <p:extLst>
              <p:ext uri="{D42A27DB-BD31-4B8C-83A1-F6EECF244321}">
                <p14:modId xmlns:p14="http://schemas.microsoft.com/office/powerpoint/2010/main" val="3591193930"/>
              </p:ext>
            </p:extLst>
          </p:nvPr>
        </p:nvGraphicFramePr>
        <p:xfrm>
          <a:off x="4572000" y="2766435"/>
          <a:ext cx="4600194" cy="1101948"/>
        </p:xfrm>
        <a:graphic>
          <a:graphicData uri="http://schemas.openxmlformats.org/presentationml/2006/ole">
            <mc:AlternateContent xmlns:mc="http://schemas.openxmlformats.org/markup-compatibility/2006">
              <mc:Choice xmlns:v="urn:schemas-microsoft-com:vml" Requires="v">
                <p:oleObj name="Equation" r:id="rId3" imgW="1670289" imgH="399862" progId="Equation.DSMT4">
                  <p:embed/>
                </p:oleObj>
              </mc:Choice>
              <mc:Fallback>
                <p:oleObj name="Equation" r:id="rId3" imgW="1670289" imgH="399862" progId="Equation.DSMT4">
                  <p:embed/>
                  <p:pic>
                    <p:nvPicPr>
                      <p:cNvPr id="0" name=""/>
                      <p:cNvPicPr/>
                      <p:nvPr/>
                    </p:nvPicPr>
                    <p:blipFill>
                      <a:blip r:embed="rId4"/>
                      <a:stretch>
                        <a:fillRect/>
                      </a:stretch>
                    </p:blipFill>
                    <p:spPr>
                      <a:xfrm>
                        <a:off x="4572000" y="2766435"/>
                        <a:ext cx="4600194" cy="1101948"/>
                      </a:xfrm>
                      <a:prstGeom prst="rect">
                        <a:avLst/>
                      </a:prstGeom>
                    </p:spPr>
                  </p:pic>
                </p:oleObj>
              </mc:Fallback>
            </mc:AlternateContent>
          </a:graphicData>
        </a:graphic>
      </p:graphicFrame>
      <p:graphicFrame>
        <p:nvGraphicFramePr>
          <p:cNvPr id="15" name="Object 14">
            <a:extLst>
              <a:ext uri="{FF2B5EF4-FFF2-40B4-BE49-F238E27FC236}">
                <a16:creationId xmlns:a16="http://schemas.microsoft.com/office/drawing/2014/main" id="{C78745E6-61D8-A67F-0226-ED30AFE8B59E}"/>
              </a:ext>
            </a:extLst>
          </p:cNvPr>
          <p:cNvGraphicFramePr>
            <a:graphicFrameLocks noChangeAspect="1"/>
          </p:cNvGraphicFramePr>
          <p:nvPr>
            <p:extLst>
              <p:ext uri="{D42A27DB-BD31-4B8C-83A1-F6EECF244321}">
                <p14:modId xmlns:p14="http://schemas.microsoft.com/office/powerpoint/2010/main" val="722161112"/>
              </p:ext>
            </p:extLst>
          </p:nvPr>
        </p:nvGraphicFramePr>
        <p:xfrm>
          <a:off x="637338" y="2040709"/>
          <a:ext cx="3696511" cy="1953147"/>
        </p:xfrm>
        <a:graphic>
          <a:graphicData uri="http://schemas.openxmlformats.org/presentationml/2006/ole">
            <mc:AlternateContent xmlns:mc="http://schemas.openxmlformats.org/markup-compatibility/2006">
              <mc:Choice xmlns:v="urn:schemas-microsoft-com:vml" Requires="v">
                <p:oleObj name="Equation" r:id="rId5" imgW="1622670" imgH="856949" progId="Equation.DSMT4">
                  <p:embed/>
                </p:oleObj>
              </mc:Choice>
              <mc:Fallback>
                <p:oleObj name="Equation" r:id="rId5" imgW="1622670" imgH="856949" progId="Equation.DSMT4">
                  <p:embed/>
                  <p:pic>
                    <p:nvPicPr>
                      <p:cNvPr id="0" name=""/>
                      <p:cNvPicPr/>
                      <p:nvPr/>
                    </p:nvPicPr>
                    <p:blipFill>
                      <a:blip r:embed="rId6"/>
                      <a:stretch>
                        <a:fillRect/>
                      </a:stretch>
                    </p:blipFill>
                    <p:spPr>
                      <a:xfrm>
                        <a:off x="637338" y="2040709"/>
                        <a:ext cx="3696511" cy="1953147"/>
                      </a:xfrm>
                      <a:prstGeom prst="rect">
                        <a:avLst/>
                      </a:prstGeom>
                    </p:spPr>
                  </p:pic>
                </p:oleObj>
              </mc:Fallback>
            </mc:AlternateContent>
          </a:graphicData>
        </a:graphic>
      </p:graphicFrame>
      <p:sp>
        <p:nvSpPr>
          <p:cNvPr id="18" name="TextBox 17">
            <a:extLst>
              <a:ext uri="{FF2B5EF4-FFF2-40B4-BE49-F238E27FC236}">
                <a16:creationId xmlns:a16="http://schemas.microsoft.com/office/drawing/2014/main" id="{E467283B-8457-3D80-67DC-87E3138DC11E}"/>
              </a:ext>
            </a:extLst>
          </p:cNvPr>
          <p:cNvSpPr txBox="1"/>
          <p:nvPr/>
        </p:nvSpPr>
        <p:spPr>
          <a:xfrm>
            <a:off x="5597370" y="2042310"/>
            <a:ext cx="2826059" cy="477054"/>
          </a:xfrm>
          <a:prstGeom prst="rect">
            <a:avLst/>
          </a:prstGeom>
          <a:noFill/>
        </p:spPr>
        <p:txBody>
          <a:bodyPr wrap="square">
            <a:spAutoFit/>
          </a:bodyPr>
          <a:lstStyle/>
          <a:p>
            <a:r>
              <a:rPr lang="vi-VN" sz="2500">
                <a:effectLst/>
                <a:latin typeface="Times New Roman" panose="02020603050405020304" pitchFamily="18" charset="0"/>
                <a:ea typeface="Times New Roman" panose="02020603050405020304" pitchFamily="18" charset="0"/>
              </a:rPr>
              <a:t>where Δ=mean(</a:t>
            </a:r>
            <a:r>
              <a:rPr lang="vi-VN" sz="2500">
                <a:effectLst/>
                <a:latin typeface="Cambria Math" panose="02040503050406030204" pitchFamily="18" charset="0"/>
                <a:ea typeface="Times New Roman" panose="02020603050405020304" pitchFamily="18" charset="0"/>
                <a:cs typeface="Cambria Math" panose="02040503050406030204" pitchFamily="18" charset="0"/>
              </a:rPr>
              <a:t>∣</a:t>
            </a:r>
            <a:r>
              <a:rPr lang="vi-VN" sz="2500">
                <a:effectLst/>
                <a:latin typeface="Times New Roman" panose="02020603050405020304" pitchFamily="18" charset="0"/>
                <a:ea typeface="Times New Roman" panose="02020603050405020304" pitchFamily="18" charset="0"/>
              </a:rPr>
              <a:t>W</a:t>
            </a:r>
            <a:r>
              <a:rPr lang="vi-VN" sz="2500">
                <a:effectLst/>
                <a:latin typeface="Cambria Math" panose="02040503050406030204" pitchFamily="18" charset="0"/>
                <a:ea typeface="Times New Roman" panose="02020603050405020304" pitchFamily="18" charset="0"/>
                <a:cs typeface="Cambria Math" panose="02040503050406030204" pitchFamily="18" charset="0"/>
              </a:rPr>
              <a:t>∣</a:t>
            </a:r>
            <a:r>
              <a:rPr lang="vi-VN" sz="2500">
                <a:effectLst/>
                <a:latin typeface="Times New Roman" panose="02020603050405020304" pitchFamily="18" charset="0"/>
                <a:ea typeface="Times New Roman" panose="02020603050405020304" pitchFamily="18" charset="0"/>
              </a:rPr>
              <a:t>)</a:t>
            </a:r>
            <a:endParaRPr lang="vi-VN" sz="2500"/>
          </a:p>
        </p:txBody>
      </p:sp>
      <p:sp>
        <p:nvSpPr>
          <p:cNvPr id="25" name="TextBox 24">
            <a:extLst>
              <a:ext uri="{FF2B5EF4-FFF2-40B4-BE49-F238E27FC236}">
                <a16:creationId xmlns:a16="http://schemas.microsoft.com/office/drawing/2014/main" id="{AA3ED7AB-3225-F371-F6FF-BCD48D4C33AB}"/>
              </a:ext>
            </a:extLst>
          </p:cNvPr>
          <p:cNvSpPr txBox="1"/>
          <p:nvPr/>
        </p:nvSpPr>
        <p:spPr>
          <a:xfrm>
            <a:off x="145914" y="1037176"/>
            <a:ext cx="8822987" cy="1015663"/>
          </a:xfrm>
          <a:prstGeom prst="rect">
            <a:avLst/>
          </a:prstGeom>
          <a:noFill/>
        </p:spPr>
        <p:txBody>
          <a:bodyPr wrap="square">
            <a:spAutoFit/>
          </a:bodyPr>
          <a:lstStyle/>
          <a:p>
            <a:pPr algn="ctr"/>
            <a:r>
              <a:rPr lang="en-US" sz="3000" b="1"/>
              <a:t>Transformation from a full-precision weight matrix  to a ternary matrix </a:t>
            </a:r>
            <a:endParaRPr lang="vi-VN" sz="3000" b="1"/>
          </a:p>
        </p:txBody>
      </p:sp>
      <p:pic>
        <p:nvPicPr>
          <p:cNvPr id="3" name="Picture 2" descr="A diagram of a function&#10;&#10;AI-generated content may be incorrect.">
            <a:extLst>
              <a:ext uri="{FF2B5EF4-FFF2-40B4-BE49-F238E27FC236}">
                <a16:creationId xmlns:a16="http://schemas.microsoft.com/office/drawing/2014/main" id="{DB52621B-0D7B-8299-4282-D1C1ED2F13E8}"/>
              </a:ext>
            </a:extLst>
          </p:cNvPr>
          <p:cNvPicPr>
            <a:picLocks noChangeAspect="1"/>
          </p:cNvPicPr>
          <p:nvPr/>
        </p:nvPicPr>
        <p:blipFill>
          <a:blip r:embed="rId7"/>
          <a:stretch>
            <a:fillRect/>
          </a:stretch>
        </p:blipFill>
        <p:spPr>
          <a:xfrm>
            <a:off x="1624012" y="3990004"/>
            <a:ext cx="5895975" cy="2381250"/>
          </a:xfrm>
          <a:prstGeom prst="rect">
            <a:avLst/>
          </a:prstGeom>
        </p:spPr>
      </p:pic>
    </p:spTree>
    <p:extLst>
      <p:ext uri="{BB962C8B-B14F-4D97-AF65-F5344CB8AC3E}">
        <p14:creationId xmlns:p14="http://schemas.microsoft.com/office/powerpoint/2010/main" val="19161533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4"/>
          <p:cNvSpPr txBox="1">
            <a:spLocks noGrp="1"/>
          </p:cNvSpPr>
          <p:nvPr>
            <p:ph type="title"/>
          </p:nvPr>
        </p:nvSpPr>
        <p:spPr>
          <a:xfrm>
            <a:off x="893761" y="288925"/>
            <a:ext cx="6800817" cy="674687"/>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00000"/>
              </a:lnSpc>
              <a:spcBef>
                <a:spcPts val="0"/>
              </a:spcBef>
              <a:spcAft>
                <a:spcPts val="0"/>
              </a:spcAft>
              <a:buClr>
                <a:srgbClr val="3376C7"/>
              </a:buClr>
              <a:buSzPts val="4000"/>
              <a:buFont typeface="Arial"/>
              <a:buNone/>
            </a:pPr>
            <a:r>
              <a:rPr lang="en-US" sz="4000" b="1" i="0" u="none">
                <a:solidFill>
                  <a:srgbClr val="3376C7"/>
                </a:solidFill>
                <a:latin typeface="Arial"/>
                <a:ea typeface="Arial"/>
                <a:cs typeface="Arial"/>
                <a:sym typeface="Arial"/>
              </a:rPr>
              <a:t>2. Research Objective</a:t>
            </a:r>
            <a:endParaRPr/>
          </a:p>
        </p:txBody>
      </p:sp>
      <p:sp>
        <p:nvSpPr>
          <p:cNvPr id="186" name="Google Shape;186;p4"/>
          <p:cNvSpPr txBox="1"/>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Arial"/>
              <a:buNone/>
            </a:pPr>
            <a:fld id="{00000000-1234-1234-1234-123412341234}" type="slidenum">
              <a:rPr lang="en-US" sz="1200" b="0" i="0" u="none">
                <a:solidFill>
                  <a:srgbClr val="898989"/>
                </a:solidFill>
                <a:latin typeface="Arial"/>
                <a:ea typeface="Arial"/>
                <a:cs typeface="Arial"/>
                <a:sym typeface="Arial"/>
              </a:rPr>
              <a:t>9</a:t>
            </a:fld>
            <a:endParaRPr/>
          </a:p>
        </p:txBody>
      </p:sp>
      <p:sp>
        <p:nvSpPr>
          <p:cNvPr id="10" name="TextBox 9">
            <a:extLst>
              <a:ext uri="{FF2B5EF4-FFF2-40B4-BE49-F238E27FC236}">
                <a16:creationId xmlns:a16="http://schemas.microsoft.com/office/drawing/2014/main" id="{001F0114-53FA-A8E6-4760-5CC119607DA6}"/>
              </a:ext>
            </a:extLst>
          </p:cNvPr>
          <p:cNvSpPr txBox="1"/>
          <p:nvPr/>
        </p:nvSpPr>
        <p:spPr>
          <a:xfrm>
            <a:off x="331470" y="1409371"/>
            <a:ext cx="8481060" cy="4637744"/>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500"/>
              <a:t>A hardware-level implementation of MatMul-free token generation tailored for LLMs.</a:t>
            </a:r>
          </a:p>
          <a:p>
            <a:pPr marL="342900" indent="-342900">
              <a:lnSpc>
                <a:spcPct val="150000"/>
              </a:lnSpc>
              <a:buFont typeface="Arial" panose="020B0604020202020204" pitchFamily="34" charset="0"/>
              <a:buChar char="•"/>
            </a:pPr>
            <a:r>
              <a:rPr lang="en-US" sz="2500"/>
              <a:t>A custom instruction set and RISC-style pipeline supporting vectorized and ternary operations.</a:t>
            </a:r>
          </a:p>
          <a:p>
            <a:pPr marL="342900" indent="-342900">
              <a:lnSpc>
                <a:spcPct val="150000"/>
              </a:lnSpc>
              <a:buFont typeface="Arial" panose="020B0604020202020204" pitchFamily="34" charset="0"/>
              <a:buChar char="•"/>
            </a:pPr>
            <a:r>
              <a:rPr lang="en-US" sz="2500"/>
              <a:t>A processor which can run parallel matrix operation and ternary matrix for LLMs</a:t>
            </a:r>
          </a:p>
          <a:p>
            <a:pPr marL="342900" indent="-342900">
              <a:lnSpc>
                <a:spcPct val="150000"/>
              </a:lnSpc>
              <a:buFont typeface="Arial" panose="020B0604020202020204" pitchFamily="34" charset="0"/>
              <a:buChar char="•"/>
            </a:pPr>
            <a:r>
              <a:rPr lang="en-US" sz="2500"/>
              <a:t>Empirical benchmarks and comparisons with related works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4">
          <a:extLst>
            <a:ext uri="{FF2B5EF4-FFF2-40B4-BE49-F238E27FC236}">
              <a16:creationId xmlns:a16="http://schemas.microsoft.com/office/drawing/2014/main" id="{FAD6A4BE-A351-B8B9-0949-BC5871DECA1A}"/>
            </a:ext>
          </a:extLst>
        </p:cNvPr>
        <p:cNvGrpSpPr/>
        <p:nvPr/>
      </p:nvGrpSpPr>
      <p:grpSpPr>
        <a:xfrm>
          <a:off x="0" y="0"/>
          <a:ext cx="0" cy="0"/>
          <a:chOff x="0" y="0"/>
          <a:chExt cx="0" cy="0"/>
        </a:xfrm>
      </p:grpSpPr>
      <p:sp>
        <p:nvSpPr>
          <p:cNvPr id="185" name="Google Shape;185;p4">
            <a:extLst>
              <a:ext uri="{FF2B5EF4-FFF2-40B4-BE49-F238E27FC236}">
                <a16:creationId xmlns:a16="http://schemas.microsoft.com/office/drawing/2014/main" id="{019D6A41-2D4E-FF2B-619C-94D8EB7CAA36}"/>
              </a:ext>
            </a:extLst>
          </p:cNvPr>
          <p:cNvSpPr txBox="1">
            <a:spLocks noGrp="1"/>
          </p:cNvSpPr>
          <p:nvPr>
            <p:ph type="title"/>
          </p:nvPr>
        </p:nvSpPr>
        <p:spPr>
          <a:xfrm>
            <a:off x="893761" y="288925"/>
            <a:ext cx="6800817" cy="674687"/>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00000"/>
              </a:lnSpc>
              <a:spcBef>
                <a:spcPts val="0"/>
              </a:spcBef>
              <a:spcAft>
                <a:spcPts val="0"/>
              </a:spcAft>
              <a:buClr>
                <a:srgbClr val="3376C7"/>
              </a:buClr>
              <a:buSzPts val="4000"/>
              <a:buFont typeface="Arial"/>
              <a:buNone/>
            </a:pPr>
            <a:r>
              <a:rPr lang="en-US" sz="4000" b="1" i="0" u="none">
                <a:solidFill>
                  <a:srgbClr val="3376C7"/>
                </a:solidFill>
                <a:latin typeface="Arial"/>
                <a:ea typeface="Arial"/>
                <a:cs typeface="Arial"/>
                <a:sym typeface="Arial"/>
              </a:rPr>
              <a:t>2. Research Objective</a:t>
            </a:r>
            <a:endParaRPr/>
          </a:p>
        </p:txBody>
      </p:sp>
      <p:sp>
        <p:nvSpPr>
          <p:cNvPr id="186" name="Google Shape;186;p4">
            <a:extLst>
              <a:ext uri="{FF2B5EF4-FFF2-40B4-BE49-F238E27FC236}">
                <a16:creationId xmlns:a16="http://schemas.microsoft.com/office/drawing/2014/main" id="{513A6267-525E-F66C-6BFB-F6F4A741E524}"/>
              </a:ext>
            </a:extLst>
          </p:cNvPr>
          <p:cNvSpPr txBox="1"/>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Arial"/>
              <a:buNone/>
            </a:pPr>
            <a:fld id="{00000000-1234-1234-1234-123412341234}" type="slidenum">
              <a:rPr lang="en-US" sz="1200" b="0" i="0" u="none">
                <a:solidFill>
                  <a:srgbClr val="898989"/>
                </a:solidFill>
                <a:latin typeface="Arial"/>
                <a:ea typeface="Arial"/>
                <a:cs typeface="Arial"/>
                <a:sym typeface="Arial"/>
              </a:rPr>
              <a:t>10</a:t>
            </a:fld>
            <a:endParaRPr/>
          </a:p>
        </p:txBody>
      </p:sp>
      <p:pic>
        <p:nvPicPr>
          <p:cNvPr id="2" name="Picture 1">
            <a:extLst>
              <a:ext uri="{FF2B5EF4-FFF2-40B4-BE49-F238E27FC236}">
                <a16:creationId xmlns:a16="http://schemas.microsoft.com/office/drawing/2014/main" id="{7690FB9B-143A-E577-50E3-5BC3ABC33B3E}"/>
              </a:ext>
            </a:extLst>
          </p:cNvPr>
          <p:cNvPicPr>
            <a:picLocks noChangeAspect="1"/>
          </p:cNvPicPr>
          <p:nvPr/>
        </p:nvPicPr>
        <p:blipFill>
          <a:blip r:embed="rId3"/>
          <a:stretch>
            <a:fillRect/>
          </a:stretch>
        </p:blipFill>
        <p:spPr>
          <a:xfrm>
            <a:off x="0" y="1154534"/>
            <a:ext cx="9144000" cy="4548932"/>
          </a:xfrm>
          <a:prstGeom prst="rect">
            <a:avLst/>
          </a:prstGeom>
        </p:spPr>
      </p:pic>
    </p:spTree>
    <p:extLst>
      <p:ext uri="{BB962C8B-B14F-4D97-AF65-F5344CB8AC3E}">
        <p14:creationId xmlns:p14="http://schemas.microsoft.com/office/powerpoint/2010/main" val="27597326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5"/>
          <p:cNvSpPr txBox="1">
            <a:spLocks noGrp="1"/>
          </p:cNvSpPr>
          <p:nvPr>
            <p:ph type="title"/>
          </p:nvPr>
        </p:nvSpPr>
        <p:spPr>
          <a:xfrm>
            <a:off x="893762" y="288925"/>
            <a:ext cx="8250237" cy="674687"/>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00000"/>
              </a:lnSpc>
              <a:spcBef>
                <a:spcPts val="0"/>
              </a:spcBef>
              <a:spcAft>
                <a:spcPts val="0"/>
              </a:spcAft>
              <a:buClr>
                <a:srgbClr val="3376C7"/>
              </a:buClr>
              <a:buSzPts val="4000"/>
              <a:buFont typeface="Arial"/>
              <a:buNone/>
            </a:pPr>
            <a:r>
              <a:rPr lang="en-US" sz="4000" b="1" i="0" u="none">
                <a:solidFill>
                  <a:srgbClr val="3376C7"/>
                </a:solidFill>
                <a:latin typeface="Arial"/>
                <a:ea typeface="Arial"/>
                <a:cs typeface="Arial"/>
                <a:sym typeface="Arial"/>
              </a:rPr>
              <a:t>3. Hardware Implementation </a:t>
            </a:r>
            <a:endParaRPr/>
          </a:p>
        </p:txBody>
      </p:sp>
      <p:sp>
        <p:nvSpPr>
          <p:cNvPr id="193" name="Google Shape;193;p5"/>
          <p:cNvSpPr txBox="1"/>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Arial"/>
              <a:buNone/>
            </a:pPr>
            <a:fld id="{00000000-1234-1234-1234-123412341234}" type="slidenum">
              <a:rPr lang="en-US" sz="1200" b="0" i="0" u="none">
                <a:solidFill>
                  <a:srgbClr val="898989"/>
                </a:solidFill>
                <a:latin typeface="Arial"/>
                <a:ea typeface="Arial"/>
                <a:cs typeface="Arial"/>
                <a:sym typeface="Arial"/>
              </a:rPr>
              <a:t>11</a:t>
            </a:fld>
            <a:endParaRPr/>
          </a:p>
        </p:txBody>
      </p:sp>
      <p:pic>
        <p:nvPicPr>
          <p:cNvPr id="2" name="Picture 1" descr="A diagram of a program code&#10;&#10;AI-generated content may be incorrect.">
            <a:extLst>
              <a:ext uri="{FF2B5EF4-FFF2-40B4-BE49-F238E27FC236}">
                <a16:creationId xmlns:a16="http://schemas.microsoft.com/office/drawing/2014/main" id="{1DCBCEC3-CC80-8966-FBB2-13973721263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2438685"/>
            <a:ext cx="9110474" cy="3095057"/>
          </a:xfrm>
          <a:prstGeom prst="rect">
            <a:avLst/>
          </a:prstGeom>
          <a:noFill/>
          <a:ln>
            <a:noFill/>
          </a:ln>
        </p:spPr>
      </p:pic>
      <p:sp>
        <p:nvSpPr>
          <p:cNvPr id="5" name="TextBox 4">
            <a:extLst>
              <a:ext uri="{FF2B5EF4-FFF2-40B4-BE49-F238E27FC236}">
                <a16:creationId xmlns:a16="http://schemas.microsoft.com/office/drawing/2014/main" id="{860CF576-98F3-893B-CC94-6364B7361A32}"/>
              </a:ext>
            </a:extLst>
          </p:cNvPr>
          <p:cNvSpPr txBox="1"/>
          <p:nvPr/>
        </p:nvSpPr>
        <p:spPr>
          <a:xfrm>
            <a:off x="2271409" y="1237718"/>
            <a:ext cx="4601182" cy="630942"/>
          </a:xfrm>
          <a:prstGeom prst="rect">
            <a:avLst/>
          </a:prstGeom>
          <a:noFill/>
        </p:spPr>
        <p:txBody>
          <a:bodyPr wrap="square">
            <a:spAutoFit/>
          </a:bodyPr>
          <a:lstStyle/>
          <a:p>
            <a:pPr algn="ctr">
              <a:spcAft>
                <a:spcPts val="1000"/>
              </a:spcAft>
            </a:pPr>
            <a:r>
              <a:rPr lang="en-US" sz="3500" b="1">
                <a:effectLst/>
                <a:latin typeface="+mj-lt"/>
                <a:ea typeface="Times New Roman" panose="02020603050405020304" pitchFamily="18" charset="0"/>
              </a:rPr>
              <a:t>Overall Schematic</a:t>
            </a:r>
            <a:endParaRPr lang="vi-VN" sz="3500" b="1">
              <a:effectLst/>
              <a:latin typeface="+mj-lt"/>
              <a:ea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1">
          <a:extLst>
            <a:ext uri="{FF2B5EF4-FFF2-40B4-BE49-F238E27FC236}">
              <a16:creationId xmlns:a16="http://schemas.microsoft.com/office/drawing/2014/main" id="{4ACD2BF7-E1E5-5B24-03C3-839011A28290}"/>
            </a:ext>
          </a:extLst>
        </p:cNvPr>
        <p:cNvGrpSpPr/>
        <p:nvPr/>
      </p:nvGrpSpPr>
      <p:grpSpPr>
        <a:xfrm>
          <a:off x="0" y="0"/>
          <a:ext cx="0" cy="0"/>
          <a:chOff x="0" y="0"/>
          <a:chExt cx="0" cy="0"/>
        </a:xfrm>
      </p:grpSpPr>
      <p:sp>
        <p:nvSpPr>
          <p:cNvPr id="192" name="Google Shape;192;p5">
            <a:extLst>
              <a:ext uri="{FF2B5EF4-FFF2-40B4-BE49-F238E27FC236}">
                <a16:creationId xmlns:a16="http://schemas.microsoft.com/office/drawing/2014/main" id="{C5B40790-FB2B-D655-49C2-96DCF8B297D5}"/>
              </a:ext>
            </a:extLst>
          </p:cNvPr>
          <p:cNvSpPr txBox="1">
            <a:spLocks noGrp="1"/>
          </p:cNvSpPr>
          <p:nvPr>
            <p:ph type="title"/>
          </p:nvPr>
        </p:nvSpPr>
        <p:spPr>
          <a:xfrm>
            <a:off x="893762" y="288925"/>
            <a:ext cx="8250237" cy="674687"/>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00000"/>
              </a:lnSpc>
              <a:spcBef>
                <a:spcPts val="0"/>
              </a:spcBef>
              <a:spcAft>
                <a:spcPts val="0"/>
              </a:spcAft>
              <a:buClr>
                <a:srgbClr val="3376C7"/>
              </a:buClr>
              <a:buSzPts val="4000"/>
              <a:buFont typeface="Arial"/>
              <a:buNone/>
            </a:pPr>
            <a:r>
              <a:rPr lang="en-US" sz="4000" b="1" i="0" u="none">
                <a:solidFill>
                  <a:srgbClr val="3376C7"/>
                </a:solidFill>
                <a:latin typeface="Arial"/>
                <a:ea typeface="Arial"/>
                <a:cs typeface="Arial"/>
                <a:sym typeface="Arial"/>
              </a:rPr>
              <a:t>3. Hardware Implementation </a:t>
            </a:r>
            <a:endParaRPr/>
          </a:p>
        </p:txBody>
      </p:sp>
      <p:sp>
        <p:nvSpPr>
          <p:cNvPr id="193" name="Google Shape;193;p5">
            <a:extLst>
              <a:ext uri="{FF2B5EF4-FFF2-40B4-BE49-F238E27FC236}">
                <a16:creationId xmlns:a16="http://schemas.microsoft.com/office/drawing/2014/main" id="{0508378F-6102-DECD-9078-74CE1A78272A}"/>
              </a:ext>
            </a:extLst>
          </p:cNvPr>
          <p:cNvSpPr txBox="1"/>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Arial"/>
              <a:buNone/>
            </a:pPr>
            <a:fld id="{00000000-1234-1234-1234-123412341234}" type="slidenum">
              <a:rPr lang="en-US" sz="1200" b="0" i="0" u="none">
                <a:solidFill>
                  <a:srgbClr val="898989"/>
                </a:solidFill>
                <a:latin typeface="Arial"/>
                <a:ea typeface="Arial"/>
                <a:cs typeface="Arial"/>
                <a:sym typeface="Arial"/>
              </a:rPr>
              <a:t>12</a:t>
            </a:fld>
            <a:endParaRPr/>
          </a:p>
        </p:txBody>
      </p:sp>
      <p:pic>
        <p:nvPicPr>
          <p:cNvPr id="2" name="Picture 1" descr="A diagram of a program code&#10;&#10;AI-generated content may be incorrect.">
            <a:extLst>
              <a:ext uri="{FF2B5EF4-FFF2-40B4-BE49-F238E27FC236}">
                <a16:creationId xmlns:a16="http://schemas.microsoft.com/office/drawing/2014/main" id="{42FDC294-670B-0579-F02C-EB27A7CCDCA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1378369"/>
            <a:ext cx="9110474" cy="3095057"/>
          </a:xfrm>
          <a:prstGeom prst="rect">
            <a:avLst/>
          </a:prstGeom>
          <a:noFill/>
          <a:ln>
            <a:noFill/>
          </a:ln>
        </p:spPr>
      </p:pic>
      <p:sp>
        <p:nvSpPr>
          <p:cNvPr id="3" name="Rectangle 2">
            <a:extLst>
              <a:ext uri="{FF2B5EF4-FFF2-40B4-BE49-F238E27FC236}">
                <a16:creationId xmlns:a16="http://schemas.microsoft.com/office/drawing/2014/main" id="{91763D88-3CC2-EAA7-015C-5F1154E5822B}"/>
              </a:ext>
            </a:extLst>
          </p:cNvPr>
          <p:cNvSpPr/>
          <p:nvPr/>
        </p:nvSpPr>
        <p:spPr>
          <a:xfrm>
            <a:off x="77825" y="1274323"/>
            <a:ext cx="2431911" cy="3394952"/>
          </a:xfrm>
          <a:prstGeom prst="rect">
            <a:avLst/>
          </a:prstGeom>
          <a:noFill/>
          <a:ln w="5715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vi-VN"/>
          </a:p>
        </p:txBody>
      </p:sp>
      <p:sp>
        <p:nvSpPr>
          <p:cNvPr id="9" name="TextBox 8">
            <a:extLst>
              <a:ext uri="{FF2B5EF4-FFF2-40B4-BE49-F238E27FC236}">
                <a16:creationId xmlns:a16="http://schemas.microsoft.com/office/drawing/2014/main" id="{6AD09908-166D-5532-3224-61FE5F6F01D0}"/>
              </a:ext>
            </a:extLst>
          </p:cNvPr>
          <p:cNvSpPr txBox="1"/>
          <p:nvPr/>
        </p:nvSpPr>
        <p:spPr>
          <a:xfrm>
            <a:off x="-1" y="4799035"/>
            <a:ext cx="9144000" cy="1631216"/>
          </a:xfrm>
          <a:prstGeom prst="rect">
            <a:avLst/>
          </a:prstGeom>
          <a:noFill/>
        </p:spPr>
        <p:txBody>
          <a:bodyPr wrap="square">
            <a:spAutoFit/>
          </a:bodyPr>
          <a:lstStyle/>
          <a:p>
            <a:pPr marL="342900" indent="-342900">
              <a:buFont typeface="Arial" panose="020B0604020202020204" pitchFamily="34" charset="0"/>
              <a:buChar char="•"/>
            </a:pPr>
            <a:r>
              <a:rPr lang="vi-VN" sz="2500" b="1">
                <a:effectLst/>
                <a:latin typeface="+mn-lt"/>
                <a:ea typeface="Times New Roman" panose="02020603050405020304" pitchFamily="18" charset="0"/>
              </a:rPr>
              <a:t>Instruction Memory</a:t>
            </a:r>
            <a:r>
              <a:rPr lang="vi-VN" sz="2500">
                <a:effectLst/>
                <a:latin typeface="+mn-lt"/>
                <a:ea typeface="Times New Roman" panose="02020603050405020304" pitchFamily="18" charset="0"/>
              </a:rPr>
              <a:t> is utilized to store the program containing custom instructions</a:t>
            </a:r>
          </a:p>
          <a:p>
            <a:pPr marL="342900" indent="-342900">
              <a:buFont typeface="Arial" panose="020B0604020202020204" pitchFamily="34" charset="0"/>
              <a:buChar char="•"/>
            </a:pPr>
            <a:r>
              <a:rPr lang="vi-VN" sz="2500" b="1">
                <a:effectLst/>
                <a:latin typeface="+mn-lt"/>
                <a:ea typeface="Times New Roman" panose="02020603050405020304" pitchFamily="18" charset="0"/>
              </a:rPr>
              <a:t>PC</a:t>
            </a:r>
            <a:r>
              <a:rPr lang="vi-VN" sz="2500">
                <a:effectLst/>
                <a:latin typeface="+mn-lt"/>
                <a:ea typeface="Times New Roman" panose="02020603050405020304" pitchFamily="18" charset="0"/>
              </a:rPr>
              <a:t> retrieves instructions directly from the ROM, preparing them for subsequent processing stages.</a:t>
            </a:r>
          </a:p>
        </p:txBody>
      </p:sp>
    </p:spTree>
    <p:extLst>
      <p:ext uri="{BB962C8B-B14F-4D97-AF65-F5344CB8AC3E}">
        <p14:creationId xmlns:p14="http://schemas.microsoft.com/office/powerpoint/2010/main" val="1425122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1">
          <a:extLst>
            <a:ext uri="{FF2B5EF4-FFF2-40B4-BE49-F238E27FC236}">
              <a16:creationId xmlns:a16="http://schemas.microsoft.com/office/drawing/2014/main" id="{70ED3601-5CDA-D61D-83AE-18FDB3E9A856}"/>
            </a:ext>
          </a:extLst>
        </p:cNvPr>
        <p:cNvGrpSpPr/>
        <p:nvPr/>
      </p:nvGrpSpPr>
      <p:grpSpPr>
        <a:xfrm>
          <a:off x="0" y="0"/>
          <a:ext cx="0" cy="0"/>
          <a:chOff x="0" y="0"/>
          <a:chExt cx="0" cy="0"/>
        </a:xfrm>
      </p:grpSpPr>
      <p:sp>
        <p:nvSpPr>
          <p:cNvPr id="192" name="Google Shape;192;p5">
            <a:extLst>
              <a:ext uri="{FF2B5EF4-FFF2-40B4-BE49-F238E27FC236}">
                <a16:creationId xmlns:a16="http://schemas.microsoft.com/office/drawing/2014/main" id="{15F42430-C01E-542D-150C-9D8042E47167}"/>
              </a:ext>
            </a:extLst>
          </p:cNvPr>
          <p:cNvSpPr txBox="1">
            <a:spLocks noGrp="1"/>
          </p:cNvSpPr>
          <p:nvPr>
            <p:ph type="title"/>
          </p:nvPr>
        </p:nvSpPr>
        <p:spPr>
          <a:xfrm>
            <a:off x="893762" y="288925"/>
            <a:ext cx="8250237" cy="674687"/>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00000"/>
              </a:lnSpc>
              <a:spcBef>
                <a:spcPts val="0"/>
              </a:spcBef>
              <a:spcAft>
                <a:spcPts val="0"/>
              </a:spcAft>
              <a:buClr>
                <a:srgbClr val="3376C7"/>
              </a:buClr>
              <a:buSzPts val="4000"/>
              <a:buFont typeface="Arial"/>
              <a:buNone/>
            </a:pPr>
            <a:r>
              <a:rPr lang="en-US" sz="4000" b="1" i="0" u="none">
                <a:solidFill>
                  <a:srgbClr val="3376C7"/>
                </a:solidFill>
                <a:latin typeface="Arial"/>
                <a:ea typeface="Arial"/>
                <a:cs typeface="Arial"/>
                <a:sym typeface="Arial"/>
              </a:rPr>
              <a:t>3. Hardware Implementation </a:t>
            </a:r>
            <a:endParaRPr/>
          </a:p>
        </p:txBody>
      </p:sp>
      <p:sp>
        <p:nvSpPr>
          <p:cNvPr id="193" name="Google Shape;193;p5">
            <a:extLst>
              <a:ext uri="{FF2B5EF4-FFF2-40B4-BE49-F238E27FC236}">
                <a16:creationId xmlns:a16="http://schemas.microsoft.com/office/drawing/2014/main" id="{BA903FE7-890F-BCF5-CFBF-7AE9C4ACDA51}"/>
              </a:ext>
            </a:extLst>
          </p:cNvPr>
          <p:cNvSpPr txBox="1"/>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Arial"/>
              <a:buNone/>
            </a:pPr>
            <a:fld id="{00000000-1234-1234-1234-123412341234}" type="slidenum">
              <a:rPr lang="en-US" sz="1200" b="0" i="0" u="none">
                <a:solidFill>
                  <a:srgbClr val="898989"/>
                </a:solidFill>
                <a:latin typeface="Arial"/>
                <a:ea typeface="Arial"/>
                <a:cs typeface="Arial"/>
                <a:sym typeface="Arial"/>
              </a:rPr>
              <a:t>13</a:t>
            </a:fld>
            <a:endParaRPr/>
          </a:p>
        </p:txBody>
      </p:sp>
      <p:pic>
        <p:nvPicPr>
          <p:cNvPr id="2" name="Picture 1" descr="A diagram of a program code&#10;&#10;AI-generated content may be incorrect.">
            <a:extLst>
              <a:ext uri="{FF2B5EF4-FFF2-40B4-BE49-F238E27FC236}">
                <a16:creationId xmlns:a16="http://schemas.microsoft.com/office/drawing/2014/main" id="{98F4895A-DB8F-3F6B-A22B-C6003C7340B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1378369"/>
            <a:ext cx="9110474" cy="3095057"/>
          </a:xfrm>
          <a:prstGeom prst="rect">
            <a:avLst/>
          </a:prstGeom>
          <a:noFill/>
          <a:ln>
            <a:noFill/>
          </a:ln>
        </p:spPr>
      </p:pic>
      <p:sp>
        <p:nvSpPr>
          <p:cNvPr id="3" name="Rectangle 2">
            <a:extLst>
              <a:ext uri="{FF2B5EF4-FFF2-40B4-BE49-F238E27FC236}">
                <a16:creationId xmlns:a16="http://schemas.microsoft.com/office/drawing/2014/main" id="{137D8033-7080-9913-8F69-4ADF7B19A338}"/>
              </a:ext>
            </a:extLst>
          </p:cNvPr>
          <p:cNvSpPr/>
          <p:nvPr/>
        </p:nvSpPr>
        <p:spPr>
          <a:xfrm>
            <a:off x="2879387" y="1274323"/>
            <a:ext cx="1215958" cy="3199103"/>
          </a:xfrm>
          <a:prstGeom prst="rect">
            <a:avLst/>
          </a:prstGeom>
          <a:noFill/>
          <a:ln w="5715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vi-VN"/>
          </a:p>
        </p:txBody>
      </p:sp>
      <p:sp>
        <p:nvSpPr>
          <p:cNvPr id="6" name="TextBox 5">
            <a:extLst>
              <a:ext uri="{FF2B5EF4-FFF2-40B4-BE49-F238E27FC236}">
                <a16:creationId xmlns:a16="http://schemas.microsoft.com/office/drawing/2014/main" id="{BFF0DE71-3824-41EE-A94C-5A981A432E99}"/>
              </a:ext>
            </a:extLst>
          </p:cNvPr>
          <p:cNvSpPr txBox="1"/>
          <p:nvPr/>
        </p:nvSpPr>
        <p:spPr>
          <a:xfrm>
            <a:off x="0" y="4698320"/>
            <a:ext cx="9144000" cy="1631216"/>
          </a:xfrm>
          <a:prstGeom prst="rect">
            <a:avLst/>
          </a:prstGeom>
          <a:noFill/>
        </p:spPr>
        <p:txBody>
          <a:bodyPr wrap="square">
            <a:spAutoFit/>
          </a:bodyPr>
          <a:lstStyle/>
          <a:p>
            <a:pPr marL="342900" indent="-342900">
              <a:buFont typeface="Arial" panose="020B0604020202020204" pitchFamily="34" charset="0"/>
              <a:buChar char="•"/>
            </a:pPr>
            <a:r>
              <a:rPr lang="vi-VN" sz="2500" b="1">
                <a:effectLst/>
                <a:latin typeface="+mn-lt"/>
                <a:ea typeface="Times New Roman" panose="02020603050405020304" pitchFamily="18" charset="0"/>
              </a:rPr>
              <a:t>The Control Unit (Ctrl Unit)</a:t>
            </a:r>
            <a:r>
              <a:rPr lang="vi-VN" sz="2500">
                <a:effectLst/>
                <a:latin typeface="+mn-lt"/>
                <a:ea typeface="Times New Roman" panose="02020603050405020304" pitchFamily="18" charset="0"/>
              </a:rPr>
              <a:t> decodes the fetched instructions and generates control signals (ctrl_signal)</a:t>
            </a:r>
          </a:p>
          <a:p>
            <a:pPr marL="342900" indent="-342900">
              <a:buFont typeface="Arial" panose="020B0604020202020204" pitchFamily="34" charset="0"/>
              <a:buChar char="•"/>
            </a:pPr>
            <a:r>
              <a:rPr lang="en-US" sz="2500" b="1">
                <a:latin typeface="+mn-lt"/>
              </a:rPr>
              <a:t>Register File (Regfile)</a:t>
            </a:r>
            <a:r>
              <a:rPr lang="en-US" sz="2500">
                <a:latin typeface="+mn-lt"/>
              </a:rPr>
              <a:t> contains general-purpose vector registers that provide register data (Reg_data)</a:t>
            </a:r>
            <a:endParaRPr lang="vi-VN" sz="2500">
              <a:latin typeface="+mn-lt"/>
            </a:endParaRPr>
          </a:p>
        </p:txBody>
      </p:sp>
    </p:spTree>
    <p:extLst>
      <p:ext uri="{BB962C8B-B14F-4D97-AF65-F5344CB8AC3E}">
        <p14:creationId xmlns:p14="http://schemas.microsoft.com/office/powerpoint/2010/main" val="30596510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1">
          <a:extLst>
            <a:ext uri="{FF2B5EF4-FFF2-40B4-BE49-F238E27FC236}">
              <a16:creationId xmlns:a16="http://schemas.microsoft.com/office/drawing/2014/main" id="{76C79A2C-6892-6DB0-D05C-115AAADAC612}"/>
            </a:ext>
          </a:extLst>
        </p:cNvPr>
        <p:cNvGrpSpPr/>
        <p:nvPr/>
      </p:nvGrpSpPr>
      <p:grpSpPr>
        <a:xfrm>
          <a:off x="0" y="0"/>
          <a:ext cx="0" cy="0"/>
          <a:chOff x="0" y="0"/>
          <a:chExt cx="0" cy="0"/>
        </a:xfrm>
      </p:grpSpPr>
      <p:sp>
        <p:nvSpPr>
          <p:cNvPr id="192" name="Google Shape;192;p5">
            <a:extLst>
              <a:ext uri="{FF2B5EF4-FFF2-40B4-BE49-F238E27FC236}">
                <a16:creationId xmlns:a16="http://schemas.microsoft.com/office/drawing/2014/main" id="{35FD79AA-CCF7-B573-321B-B716CEC0B34D}"/>
              </a:ext>
            </a:extLst>
          </p:cNvPr>
          <p:cNvSpPr txBox="1">
            <a:spLocks noGrp="1"/>
          </p:cNvSpPr>
          <p:nvPr>
            <p:ph type="title"/>
          </p:nvPr>
        </p:nvSpPr>
        <p:spPr>
          <a:xfrm>
            <a:off x="893762" y="288925"/>
            <a:ext cx="8250237" cy="674687"/>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00000"/>
              </a:lnSpc>
              <a:spcBef>
                <a:spcPts val="0"/>
              </a:spcBef>
              <a:spcAft>
                <a:spcPts val="0"/>
              </a:spcAft>
              <a:buClr>
                <a:srgbClr val="3376C7"/>
              </a:buClr>
              <a:buSzPts val="4000"/>
              <a:buFont typeface="Arial"/>
              <a:buNone/>
            </a:pPr>
            <a:r>
              <a:rPr lang="en-US" sz="4000" b="1" i="0" u="none">
                <a:solidFill>
                  <a:srgbClr val="3376C7"/>
                </a:solidFill>
                <a:latin typeface="Arial"/>
                <a:ea typeface="Arial"/>
                <a:cs typeface="Arial"/>
                <a:sym typeface="Arial"/>
              </a:rPr>
              <a:t>3. Hardware Implementation </a:t>
            </a:r>
            <a:endParaRPr/>
          </a:p>
        </p:txBody>
      </p:sp>
      <p:sp>
        <p:nvSpPr>
          <p:cNvPr id="193" name="Google Shape;193;p5">
            <a:extLst>
              <a:ext uri="{FF2B5EF4-FFF2-40B4-BE49-F238E27FC236}">
                <a16:creationId xmlns:a16="http://schemas.microsoft.com/office/drawing/2014/main" id="{6ED6298B-E845-7154-1519-CFCF3E769B10}"/>
              </a:ext>
            </a:extLst>
          </p:cNvPr>
          <p:cNvSpPr txBox="1"/>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Arial"/>
              <a:buNone/>
            </a:pPr>
            <a:fld id="{00000000-1234-1234-1234-123412341234}" type="slidenum">
              <a:rPr lang="en-US" sz="1200" b="0" i="0" u="none">
                <a:solidFill>
                  <a:srgbClr val="898989"/>
                </a:solidFill>
                <a:latin typeface="Arial"/>
                <a:ea typeface="Arial"/>
                <a:cs typeface="Arial"/>
                <a:sym typeface="Arial"/>
              </a:rPr>
              <a:t>14</a:t>
            </a:fld>
            <a:endParaRPr/>
          </a:p>
        </p:txBody>
      </p:sp>
      <p:pic>
        <p:nvPicPr>
          <p:cNvPr id="2" name="Picture 1" descr="A diagram of a program code&#10;&#10;AI-generated content may be incorrect.">
            <a:extLst>
              <a:ext uri="{FF2B5EF4-FFF2-40B4-BE49-F238E27FC236}">
                <a16:creationId xmlns:a16="http://schemas.microsoft.com/office/drawing/2014/main" id="{B617FCD1-EE85-E33B-0025-EC8D6346960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1067083"/>
            <a:ext cx="9110474" cy="3095057"/>
          </a:xfrm>
          <a:prstGeom prst="rect">
            <a:avLst/>
          </a:prstGeom>
          <a:noFill/>
          <a:ln>
            <a:noFill/>
          </a:ln>
        </p:spPr>
      </p:pic>
      <p:sp>
        <p:nvSpPr>
          <p:cNvPr id="3" name="Rectangle 2">
            <a:extLst>
              <a:ext uri="{FF2B5EF4-FFF2-40B4-BE49-F238E27FC236}">
                <a16:creationId xmlns:a16="http://schemas.microsoft.com/office/drawing/2014/main" id="{33033176-F317-8785-84EF-E9970183B199}"/>
              </a:ext>
            </a:extLst>
          </p:cNvPr>
          <p:cNvSpPr/>
          <p:nvPr/>
        </p:nvSpPr>
        <p:spPr>
          <a:xfrm>
            <a:off x="4338536" y="1067083"/>
            <a:ext cx="963037" cy="2826052"/>
          </a:xfrm>
          <a:prstGeom prst="rect">
            <a:avLst/>
          </a:prstGeom>
          <a:noFill/>
          <a:ln w="5715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vi-VN" sz="2500"/>
          </a:p>
        </p:txBody>
      </p:sp>
      <p:sp>
        <p:nvSpPr>
          <p:cNvPr id="6" name="TextBox 5">
            <a:extLst>
              <a:ext uri="{FF2B5EF4-FFF2-40B4-BE49-F238E27FC236}">
                <a16:creationId xmlns:a16="http://schemas.microsoft.com/office/drawing/2014/main" id="{CF66D567-38B0-592C-E356-CA5DC9264072}"/>
              </a:ext>
            </a:extLst>
          </p:cNvPr>
          <p:cNvSpPr txBox="1"/>
          <p:nvPr/>
        </p:nvSpPr>
        <p:spPr>
          <a:xfrm>
            <a:off x="1" y="4175239"/>
            <a:ext cx="9144000" cy="2400657"/>
          </a:xfrm>
          <a:prstGeom prst="rect">
            <a:avLst/>
          </a:prstGeom>
          <a:noFill/>
        </p:spPr>
        <p:txBody>
          <a:bodyPr wrap="square">
            <a:spAutoFit/>
          </a:bodyPr>
          <a:lstStyle/>
          <a:p>
            <a:r>
              <a:rPr lang="vi-VN" sz="2500" b="1">
                <a:effectLst/>
                <a:ea typeface="Times New Roman" panose="02020603050405020304" pitchFamily="18" charset="0"/>
              </a:rPr>
              <a:t>Arithmetic Logic Unit (ALU)</a:t>
            </a:r>
            <a:r>
              <a:rPr lang="vi-VN" sz="2500">
                <a:effectLst/>
                <a:ea typeface="Times New Roman" panose="02020603050405020304" pitchFamily="18" charset="0"/>
              </a:rPr>
              <a:t>, which handles element-wise vector operations:</a:t>
            </a:r>
          </a:p>
          <a:p>
            <a:pPr marL="342900" indent="-342900">
              <a:buFont typeface="Arial" panose="020B0604020202020204" pitchFamily="34" charset="0"/>
              <a:buChar char="•"/>
            </a:pPr>
            <a:r>
              <a:rPr lang="vi-VN" sz="2500">
                <a:ea typeface="Times New Roman" panose="02020603050405020304" pitchFamily="18" charset="0"/>
              </a:rPr>
              <a:t>A</a:t>
            </a:r>
            <a:r>
              <a:rPr lang="vi-VN" sz="2500">
                <a:effectLst/>
                <a:ea typeface="Times New Roman" panose="02020603050405020304" pitchFamily="18" charset="0"/>
              </a:rPr>
              <a:t>ddition (ADD), subtraction (SUB), multiplication (MUL), division (DIV).</a:t>
            </a:r>
          </a:p>
          <a:p>
            <a:pPr marL="342900" indent="-342900">
              <a:buFont typeface="Arial" panose="020B0604020202020204" pitchFamily="34" charset="0"/>
              <a:buChar char="•"/>
            </a:pPr>
            <a:r>
              <a:rPr lang="vi-VN" sz="2500">
                <a:ea typeface="Times New Roman" panose="02020603050405020304" pitchFamily="18" charset="0"/>
              </a:rPr>
              <a:t>A</a:t>
            </a:r>
            <a:r>
              <a:rPr lang="vi-VN" sz="2500">
                <a:effectLst/>
                <a:ea typeface="Times New Roman" panose="02020603050405020304" pitchFamily="18" charset="0"/>
              </a:rPr>
              <a:t>ctivation functions (SIG, EXP).</a:t>
            </a:r>
          </a:p>
          <a:p>
            <a:pPr marL="342900" indent="-342900">
              <a:buFont typeface="Arial" panose="020B0604020202020204" pitchFamily="34" charset="0"/>
              <a:buChar char="•"/>
            </a:pPr>
            <a:r>
              <a:rPr lang="vi-VN" sz="2500">
                <a:effectLst/>
                <a:ea typeface="Times New Roman" panose="02020603050405020304" pitchFamily="18" charset="0"/>
              </a:rPr>
              <a:t>Vector normalization.</a:t>
            </a:r>
            <a:endParaRPr lang="vi-VN" sz="2500"/>
          </a:p>
        </p:txBody>
      </p:sp>
    </p:spTree>
    <p:extLst>
      <p:ext uri="{BB962C8B-B14F-4D97-AF65-F5344CB8AC3E}">
        <p14:creationId xmlns:p14="http://schemas.microsoft.com/office/powerpoint/2010/main" val="38536871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1">
          <a:extLst>
            <a:ext uri="{FF2B5EF4-FFF2-40B4-BE49-F238E27FC236}">
              <a16:creationId xmlns:a16="http://schemas.microsoft.com/office/drawing/2014/main" id="{11E3371B-5A65-7218-CC54-A96E5AB27FCB}"/>
            </a:ext>
          </a:extLst>
        </p:cNvPr>
        <p:cNvGrpSpPr/>
        <p:nvPr/>
      </p:nvGrpSpPr>
      <p:grpSpPr>
        <a:xfrm>
          <a:off x="0" y="0"/>
          <a:ext cx="0" cy="0"/>
          <a:chOff x="0" y="0"/>
          <a:chExt cx="0" cy="0"/>
        </a:xfrm>
      </p:grpSpPr>
      <p:sp>
        <p:nvSpPr>
          <p:cNvPr id="192" name="Google Shape;192;p5">
            <a:extLst>
              <a:ext uri="{FF2B5EF4-FFF2-40B4-BE49-F238E27FC236}">
                <a16:creationId xmlns:a16="http://schemas.microsoft.com/office/drawing/2014/main" id="{69C6E7BC-2980-DD90-09FF-78E5AF9B742A}"/>
              </a:ext>
            </a:extLst>
          </p:cNvPr>
          <p:cNvSpPr txBox="1">
            <a:spLocks noGrp="1"/>
          </p:cNvSpPr>
          <p:nvPr>
            <p:ph type="title"/>
          </p:nvPr>
        </p:nvSpPr>
        <p:spPr>
          <a:xfrm>
            <a:off x="893762" y="288925"/>
            <a:ext cx="8250237" cy="674687"/>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00000"/>
              </a:lnSpc>
              <a:spcBef>
                <a:spcPts val="0"/>
              </a:spcBef>
              <a:spcAft>
                <a:spcPts val="0"/>
              </a:spcAft>
              <a:buClr>
                <a:srgbClr val="3376C7"/>
              </a:buClr>
              <a:buSzPts val="4000"/>
              <a:buFont typeface="Arial"/>
              <a:buNone/>
            </a:pPr>
            <a:r>
              <a:rPr lang="en-US" sz="4000" b="1" i="0" u="none">
                <a:solidFill>
                  <a:srgbClr val="3376C7"/>
                </a:solidFill>
                <a:latin typeface="Arial"/>
                <a:ea typeface="Arial"/>
                <a:cs typeface="Arial"/>
                <a:sym typeface="Arial"/>
              </a:rPr>
              <a:t>3. Hardware Implementation </a:t>
            </a:r>
            <a:endParaRPr/>
          </a:p>
        </p:txBody>
      </p:sp>
      <p:sp>
        <p:nvSpPr>
          <p:cNvPr id="193" name="Google Shape;193;p5">
            <a:extLst>
              <a:ext uri="{FF2B5EF4-FFF2-40B4-BE49-F238E27FC236}">
                <a16:creationId xmlns:a16="http://schemas.microsoft.com/office/drawing/2014/main" id="{0B5865F6-1022-FD7B-40B7-E7DD81138E29}"/>
              </a:ext>
            </a:extLst>
          </p:cNvPr>
          <p:cNvSpPr txBox="1"/>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Arial"/>
              <a:buNone/>
            </a:pPr>
            <a:fld id="{00000000-1234-1234-1234-123412341234}" type="slidenum">
              <a:rPr lang="en-US" sz="1200" b="0" i="0" u="none">
                <a:solidFill>
                  <a:srgbClr val="898989"/>
                </a:solidFill>
                <a:latin typeface="Arial"/>
                <a:ea typeface="Arial"/>
                <a:cs typeface="Arial"/>
                <a:sym typeface="Arial"/>
              </a:rPr>
              <a:t>15</a:t>
            </a:fld>
            <a:endParaRPr/>
          </a:p>
        </p:txBody>
      </p:sp>
      <p:pic>
        <p:nvPicPr>
          <p:cNvPr id="2" name="Picture 1" descr="A diagram of a program code&#10;&#10;AI-generated content may be incorrect.">
            <a:extLst>
              <a:ext uri="{FF2B5EF4-FFF2-40B4-BE49-F238E27FC236}">
                <a16:creationId xmlns:a16="http://schemas.microsoft.com/office/drawing/2014/main" id="{015471C5-CF2D-DA19-0673-7706537FDE0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1057351"/>
            <a:ext cx="9110474" cy="3095057"/>
          </a:xfrm>
          <a:prstGeom prst="rect">
            <a:avLst/>
          </a:prstGeom>
          <a:noFill/>
          <a:ln>
            <a:noFill/>
          </a:ln>
        </p:spPr>
      </p:pic>
      <p:sp>
        <p:nvSpPr>
          <p:cNvPr id="3" name="Rectangle 2">
            <a:extLst>
              <a:ext uri="{FF2B5EF4-FFF2-40B4-BE49-F238E27FC236}">
                <a16:creationId xmlns:a16="http://schemas.microsoft.com/office/drawing/2014/main" id="{C5E7231A-FCC8-238F-D35C-17472FC3B94E}"/>
              </a:ext>
            </a:extLst>
          </p:cNvPr>
          <p:cNvSpPr/>
          <p:nvPr/>
        </p:nvSpPr>
        <p:spPr>
          <a:xfrm>
            <a:off x="5554498" y="1057351"/>
            <a:ext cx="1721792" cy="3002273"/>
          </a:xfrm>
          <a:prstGeom prst="rect">
            <a:avLst/>
          </a:prstGeom>
          <a:noFill/>
          <a:ln w="5715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vi-VN"/>
          </a:p>
        </p:txBody>
      </p:sp>
      <p:sp>
        <p:nvSpPr>
          <p:cNvPr id="5" name="TextBox 4">
            <a:extLst>
              <a:ext uri="{FF2B5EF4-FFF2-40B4-BE49-F238E27FC236}">
                <a16:creationId xmlns:a16="http://schemas.microsoft.com/office/drawing/2014/main" id="{89800340-89FD-FF07-1B81-11CFAF31615F}"/>
              </a:ext>
            </a:extLst>
          </p:cNvPr>
          <p:cNvSpPr txBox="1"/>
          <p:nvPr/>
        </p:nvSpPr>
        <p:spPr>
          <a:xfrm>
            <a:off x="0" y="4070098"/>
            <a:ext cx="9144000" cy="2400657"/>
          </a:xfrm>
          <a:prstGeom prst="rect">
            <a:avLst/>
          </a:prstGeom>
          <a:noFill/>
        </p:spPr>
        <p:txBody>
          <a:bodyPr wrap="square">
            <a:spAutoFit/>
          </a:bodyPr>
          <a:lstStyle/>
          <a:p>
            <a:pPr marL="342900" indent="-342900">
              <a:buFont typeface="Arial" panose="020B0604020202020204" pitchFamily="34" charset="0"/>
              <a:buChar char="•"/>
            </a:pPr>
            <a:r>
              <a:rPr lang="vi-VN" sz="2500" b="1">
                <a:effectLst/>
                <a:latin typeface="+mn-lt"/>
                <a:ea typeface="Times New Roman" panose="02020603050405020304" pitchFamily="18" charset="0"/>
              </a:rPr>
              <a:t>TMATMUL (Ternary Matrix Multiplication) </a:t>
            </a:r>
            <a:r>
              <a:rPr lang="vi-VN" sz="2500">
                <a:effectLst/>
                <a:latin typeface="+mn-lt"/>
                <a:ea typeface="Times New Roman" panose="02020603050405020304" pitchFamily="18" charset="0"/>
              </a:rPr>
              <a:t>block is specialized hardware module is dedicated to performing ternary matrix-vector multiplications. </a:t>
            </a:r>
          </a:p>
          <a:p>
            <a:pPr marL="342900" indent="-342900">
              <a:buFont typeface="Arial" panose="020B0604020202020204" pitchFamily="34" charset="0"/>
              <a:buChar char="•"/>
            </a:pPr>
            <a:r>
              <a:rPr lang="vi-VN" sz="2500" b="1">
                <a:effectLst/>
                <a:latin typeface="+mn-lt"/>
                <a:ea typeface="Times New Roman" panose="02020603050405020304" pitchFamily="18" charset="0"/>
              </a:rPr>
              <a:t>Memory Unit</a:t>
            </a:r>
            <a:r>
              <a:rPr lang="vi-VN" sz="2500">
                <a:effectLst/>
                <a:latin typeface="+mn-lt"/>
                <a:ea typeface="Times New Roman" panose="02020603050405020304" pitchFamily="18" charset="0"/>
              </a:rPr>
              <a:t> is responsible for general-purpose memory operations, this unit handles loading and storing vectors from memory.</a:t>
            </a:r>
            <a:endParaRPr lang="vi-VN" sz="2500">
              <a:latin typeface="+mn-lt"/>
            </a:endParaRPr>
          </a:p>
        </p:txBody>
      </p:sp>
    </p:spTree>
    <p:extLst>
      <p:ext uri="{BB962C8B-B14F-4D97-AF65-F5344CB8AC3E}">
        <p14:creationId xmlns:p14="http://schemas.microsoft.com/office/powerpoint/2010/main" val="1992503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1">
          <a:extLst>
            <a:ext uri="{FF2B5EF4-FFF2-40B4-BE49-F238E27FC236}">
              <a16:creationId xmlns:a16="http://schemas.microsoft.com/office/drawing/2014/main" id="{19A6DC0B-121C-EA37-485F-EAF2D0F55AB5}"/>
            </a:ext>
          </a:extLst>
        </p:cNvPr>
        <p:cNvGrpSpPr/>
        <p:nvPr/>
      </p:nvGrpSpPr>
      <p:grpSpPr>
        <a:xfrm>
          <a:off x="0" y="0"/>
          <a:ext cx="0" cy="0"/>
          <a:chOff x="0" y="0"/>
          <a:chExt cx="0" cy="0"/>
        </a:xfrm>
      </p:grpSpPr>
      <p:sp>
        <p:nvSpPr>
          <p:cNvPr id="192" name="Google Shape;192;p5">
            <a:extLst>
              <a:ext uri="{FF2B5EF4-FFF2-40B4-BE49-F238E27FC236}">
                <a16:creationId xmlns:a16="http://schemas.microsoft.com/office/drawing/2014/main" id="{32320DBD-286F-8556-4BD0-0AB431ECB4C0}"/>
              </a:ext>
            </a:extLst>
          </p:cNvPr>
          <p:cNvSpPr txBox="1">
            <a:spLocks noGrp="1"/>
          </p:cNvSpPr>
          <p:nvPr>
            <p:ph type="title"/>
          </p:nvPr>
        </p:nvSpPr>
        <p:spPr>
          <a:xfrm>
            <a:off x="893762" y="288925"/>
            <a:ext cx="8250237" cy="674687"/>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00000"/>
              </a:lnSpc>
              <a:spcBef>
                <a:spcPts val="0"/>
              </a:spcBef>
              <a:spcAft>
                <a:spcPts val="0"/>
              </a:spcAft>
              <a:buClr>
                <a:srgbClr val="3376C7"/>
              </a:buClr>
              <a:buSzPts val="4000"/>
              <a:buFont typeface="Arial"/>
              <a:buNone/>
            </a:pPr>
            <a:r>
              <a:rPr lang="en-US" sz="4000" b="1" i="0" u="none">
                <a:solidFill>
                  <a:srgbClr val="3376C7"/>
                </a:solidFill>
                <a:latin typeface="Arial"/>
                <a:ea typeface="Arial"/>
                <a:cs typeface="Arial"/>
                <a:sym typeface="Arial"/>
              </a:rPr>
              <a:t>3. Hardware Implementation </a:t>
            </a:r>
            <a:endParaRPr/>
          </a:p>
        </p:txBody>
      </p:sp>
      <p:sp>
        <p:nvSpPr>
          <p:cNvPr id="193" name="Google Shape;193;p5">
            <a:extLst>
              <a:ext uri="{FF2B5EF4-FFF2-40B4-BE49-F238E27FC236}">
                <a16:creationId xmlns:a16="http://schemas.microsoft.com/office/drawing/2014/main" id="{D26EF195-64C3-EC9D-1448-418BA7576553}"/>
              </a:ext>
            </a:extLst>
          </p:cNvPr>
          <p:cNvSpPr txBox="1"/>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Arial"/>
              <a:buNone/>
            </a:pPr>
            <a:fld id="{00000000-1234-1234-1234-123412341234}" type="slidenum">
              <a:rPr lang="en-US" sz="1200" b="0" i="0" u="none">
                <a:solidFill>
                  <a:srgbClr val="898989"/>
                </a:solidFill>
                <a:latin typeface="Arial"/>
                <a:ea typeface="Arial"/>
                <a:cs typeface="Arial"/>
                <a:sym typeface="Arial"/>
              </a:rPr>
              <a:t>16</a:t>
            </a:fld>
            <a:endParaRPr/>
          </a:p>
        </p:txBody>
      </p:sp>
      <p:graphicFrame>
        <p:nvGraphicFramePr>
          <p:cNvPr id="7" name="Table 6">
            <a:extLst>
              <a:ext uri="{FF2B5EF4-FFF2-40B4-BE49-F238E27FC236}">
                <a16:creationId xmlns:a16="http://schemas.microsoft.com/office/drawing/2014/main" id="{E308D767-B16B-8339-D2E2-769DE2758BC5}"/>
              </a:ext>
            </a:extLst>
          </p:cNvPr>
          <p:cNvGraphicFramePr>
            <a:graphicFrameLocks noGrp="1"/>
          </p:cNvGraphicFramePr>
          <p:nvPr>
            <p:extLst>
              <p:ext uri="{D42A27DB-BD31-4B8C-83A1-F6EECF244321}">
                <p14:modId xmlns:p14="http://schemas.microsoft.com/office/powerpoint/2010/main" val="2871514101"/>
              </p:ext>
            </p:extLst>
          </p:nvPr>
        </p:nvGraphicFramePr>
        <p:xfrm>
          <a:off x="0" y="1084361"/>
          <a:ext cx="9143998" cy="5247132"/>
        </p:xfrm>
        <a:graphic>
          <a:graphicData uri="http://schemas.openxmlformats.org/drawingml/2006/table">
            <a:tbl>
              <a:tblPr firstRow="1" firstCol="1" bandRow="1">
                <a:tableStyleId>{5C22544A-7EE6-4342-B048-85BDC9FD1C3A}</a:tableStyleId>
              </a:tblPr>
              <a:tblGrid>
                <a:gridCol w="1426008">
                  <a:extLst>
                    <a:ext uri="{9D8B030D-6E8A-4147-A177-3AD203B41FA5}">
                      <a16:colId xmlns:a16="http://schemas.microsoft.com/office/drawing/2014/main" val="1507138333"/>
                    </a:ext>
                  </a:extLst>
                </a:gridCol>
                <a:gridCol w="931846">
                  <a:extLst>
                    <a:ext uri="{9D8B030D-6E8A-4147-A177-3AD203B41FA5}">
                      <a16:colId xmlns:a16="http://schemas.microsoft.com/office/drawing/2014/main" val="4211051078"/>
                    </a:ext>
                  </a:extLst>
                </a:gridCol>
                <a:gridCol w="2543417">
                  <a:extLst>
                    <a:ext uri="{9D8B030D-6E8A-4147-A177-3AD203B41FA5}">
                      <a16:colId xmlns:a16="http://schemas.microsoft.com/office/drawing/2014/main" val="1309315836"/>
                    </a:ext>
                  </a:extLst>
                </a:gridCol>
                <a:gridCol w="4242727">
                  <a:extLst>
                    <a:ext uri="{9D8B030D-6E8A-4147-A177-3AD203B41FA5}">
                      <a16:colId xmlns:a16="http://schemas.microsoft.com/office/drawing/2014/main" val="2217406112"/>
                    </a:ext>
                  </a:extLst>
                </a:gridCol>
              </a:tblGrid>
              <a:tr h="0">
                <a:tc>
                  <a:txBody>
                    <a:bodyPr/>
                    <a:lstStyle/>
                    <a:p>
                      <a:pPr algn="ctr">
                        <a:lnSpc>
                          <a:spcPct val="150000"/>
                        </a:lnSpc>
                        <a:spcBef>
                          <a:spcPts val="600"/>
                        </a:spcBef>
                        <a:spcAft>
                          <a:spcPts val="1000"/>
                        </a:spcAft>
                        <a:buNone/>
                      </a:pPr>
                      <a:r>
                        <a:rPr lang="vi-VN" sz="1900">
                          <a:effectLst/>
                        </a:rPr>
                        <a:t>Inst</a:t>
                      </a:r>
                      <a:endParaRPr lang="vi-VN" sz="1900">
                        <a:effectLst/>
                        <a:latin typeface="Times New Roman" panose="02020603050405020304" pitchFamily="18" charset="0"/>
                        <a:ea typeface="Times New Roman" panose="02020603050405020304" pitchFamily="18" charset="0"/>
                      </a:endParaRPr>
                    </a:p>
                  </a:txBody>
                  <a:tcPr marL="9525" marR="9525" marT="9525" marB="9525" anchor="ctr"/>
                </a:tc>
                <a:tc>
                  <a:txBody>
                    <a:bodyPr/>
                    <a:lstStyle/>
                    <a:p>
                      <a:pPr algn="ctr">
                        <a:lnSpc>
                          <a:spcPct val="150000"/>
                        </a:lnSpc>
                        <a:spcBef>
                          <a:spcPts val="600"/>
                        </a:spcBef>
                        <a:spcAft>
                          <a:spcPts val="1000"/>
                        </a:spcAft>
                        <a:buNone/>
                      </a:pPr>
                      <a:r>
                        <a:rPr lang="vi-VN" sz="1900">
                          <a:effectLst/>
                        </a:rPr>
                        <a:t>Opcode</a:t>
                      </a:r>
                      <a:endParaRPr lang="vi-VN" sz="1900">
                        <a:effectLst/>
                        <a:latin typeface="Times New Roman" panose="02020603050405020304" pitchFamily="18" charset="0"/>
                        <a:ea typeface="Times New Roman" panose="02020603050405020304" pitchFamily="18" charset="0"/>
                      </a:endParaRPr>
                    </a:p>
                  </a:txBody>
                  <a:tcPr marL="9525" marR="9525" marT="9525" marB="9525" anchor="ctr"/>
                </a:tc>
                <a:tc>
                  <a:txBody>
                    <a:bodyPr/>
                    <a:lstStyle/>
                    <a:p>
                      <a:pPr algn="ctr">
                        <a:lnSpc>
                          <a:spcPct val="150000"/>
                        </a:lnSpc>
                        <a:spcBef>
                          <a:spcPts val="600"/>
                        </a:spcBef>
                        <a:spcAft>
                          <a:spcPts val="1000"/>
                        </a:spcAft>
                        <a:buNone/>
                      </a:pPr>
                      <a:r>
                        <a:rPr lang="vi-VN" sz="1900">
                          <a:effectLst/>
                        </a:rPr>
                        <a:t>Operation</a:t>
                      </a:r>
                      <a:endParaRPr lang="vi-VN" sz="1900">
                        <a:effectLst/>
                        <a:latin typeface="Times New Roman" panose="02020603050405020304" pitchFamily="18" charset="0"/>
                        <a:ea typeface="Times New Roman" panose="02020603050405020304" pitchFamily="18" charset="0"/>
                      </a:endParaRPr>
                    </a:p>
                  </a:txBody>
                  <a:tcPr marL="9525" marR="9525" marT="9525" marB="9525" anchor="ctr"/>
                </a:tc>
                <a:tc>
                  <a:txBody>
                    <a:bodyPr/>
                    <a:lstStyle/>
                    <a:p>
                      <a:pPr algn="ctr">
                        <a:lnSpc>
                          <a:spcPct val="150000"/>
                        </a:lnSpc>
                        <a:spcBef>
                          <a:spcPts val="600"/>
                        </a:spcBef>
                        <a:spcAft>
                          <a:spcPts val="1000"/>
                        </a:spcAft>
                        <a:buNone/>
                      </a:pPr>
                      <a:r>
                        <a:rPr lang="vi-VN" sz="1900">
                          <a:effectLst/>
                        </a:rPr>
                        <a:t>Description</a:t>
                      </a:r>
                      <a:endParaRPr lang="vi-VN" sz="1900">
                        <a:effectLst/>
                        <a:latin typeface="Times New Roman" panose="02020603050405020304" pitchFamily="18"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2684891590"/>
                  </a:ext>
                </a:extLst>
              </a:tr>
              <a:tr h="0">
                <a:tc>
                  <a:txBody>
                    <a:bodyPr/>
                    <a:lstStyle/>
                    <a:p>
                      <a:pPr algn="ctr">
                        <a:lnSpc>
                          <a:spcPct val="150000"/>
                        </a:lnSpc>
                        <a:spcBef>
                          <a:spcPts val="600"/>
                        </a:spcBef>
                        <a:spcAft>
                          <a:spcPts val="1000"/>
                        </a:spcAft>
                        <a:buNone/>
                      </a:pPr>
                      <a:r>
                        <a:rPr lang="vi-VN" sz="1900">
                          <a:effectLst/>
                        </a:rPr>
                        <a:t>LDV</a:t>
                      </a:r>
                      <a:endParaRPr lang="vi-VN" sz="1900">
                        <a:effectLst/>
                        <a:latin typeface="Times New Roman" panose="02020603050405020304" pitchFamily="18" charset="0"/>
                        <a:ea typeface="Times New Roman" panose="02020603050405020304" pitchFamily="18" charset="0"/>
                      </a:endParaRPr>
                    </a:p>
                  </a:txBody>
                  <a:tcPr marL="9525" marR="9525" marT="9525" marB="9525" anchor="ctr"/>
                </a:tc>
                <a:tc>
                  <a:txBody>
                    <a:bodyPr/>
                    <a:lstStyle/>
                    <a:p>
                      <a:pPr algn="ctr">
                        <a:lnSpc>
                          <a:spcPct val="150000"/>
                        </a:lnSpc>
                        <a:spcBef>
                          <a:spcPts val="600"/>
                        </a:spcBef>
                        <a:spcAft>
                          <a:spcPts val="1000"/>
                        </a:spcAft>
                        <a:buNone/>
                      </a:pPr>
                      <a:r>
                        <a:rPr lang="vi-VN" sz="1900">
                          <a:effectLst/>
                        </a:rPr>
                        <a:t>1001</a:t>
                      </a:r>
                      <a:endParaRPr lang="vi-VN" sz="1900">
                        <a:effectLst/>
                        <a:latin typeface="Times New Roman" panose="02020603050405020304" pitchFamily="18" charset="0"/>
                        <a:ea typeface="Times New Roman" panose="02020603050405020304" pitchFamily="18" charset="0"/>
                      </a:endParaRPr>
                    </a:p>
                  </a:txBody>
                  <a:tcPr marL="9525" marR="9525" marT="9525" marB="9525" anchor="ctr"/>
                </a:tc>
                <a:tc>
                  <a:txBody>
                    <a:bodyPr/>
                    <a:lstStyle/>
                    <a:p>
                      <a:pPr algn="ctr">
                        <a:lnSpc>
                          <a:spcPct val="150000"/>
                        </a:lnSpc>
                        <a:spcBef>
                          <a:spcPts val="600"/>
                        </a:spcBef>
                        <a:spcAft>
                          <a:spcPts val="1000"/>
                        </a:spcAft>
                        <a:buNone/>
                      </a:pPr>
                      <a:r>
                        <a:rPr lang="vi-VN" sz="1900">
                          <a:effectLst/>
                        </a:rPr>
                        <a:t>LDV R1, V1</a:t>
                      </a:r>
                      <a:endParaRPr lang="vi-VN" sz="1900">
                        <a:effectLst/>
                        <a:latin typeface="Times New Roman" panose="02020603050405020304" pitchFamily="18" charset="0"/>
                        <a:ea typeface="Times New Roman" panose="02020603050405020304" pitchFamily="18" charset="0"/>
                      </a:endParaRPr>
                    </a:p>
                  </a:txBody>
                  <a:tcPr marL="9525" marR="9525" marT="9525" marB="9525" anchor="ctr"/>
                </a:tc>
                <a:tc>
                  <a:txBody>
                    <a:bodyPr/>
                    <a:lstStyle/>
                    <a:p>
                      <a:pPr algn="ctr">
                        <a:lnSpc>
                          <a:spcPct val="150000"/>
                        </a:lnSpc>
                        <a:spcBef>
                          <a:spcPts val="600"/>
                        </a:spcBef>
                        <a:spcAft>
                          <a:spcPts val="1000"/>
                        </a:spcAft>
                        <a:buNone/>
                      </a:pPr>
                      <a:r>
                        <a:rPr lang="vi-VN" sz="1900">
                          <a:effectLst/>
                        </a:rPr>
                        <a:t>Load vector from DRAM to a register</a:t>
                      </a:r>
                      <a:endParaRPr lang="vi-VN" sz="1900">
                        <a:effectLst/>
                        <a:latin typeface="Times New Roman" panose="02020603050405020304" pitchFamily="18"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905734073"/>
                  </a:ext>
                </a:extLst>
              </a:tr>
              <a:tr h="0">
                <a:tc>
                  <a:txBody>
                    <a:bodyPr/>
                    <a:lstStyle/>
                    <a:p>
                      <a:pPr algn="ctr">
                        <a:lnSpc>
                          <a:spcPct val="150000"/>
                        </a:lnSpc>
                        <a:spcBef>
                          <a:spcPts val="600"/>
                        </a:spcBef>
                        <a:spcAft>
                          <a:spcPts val="1000"/>
                        </a:spcAft>
                        <a:buNone/>
                      </a:pPr>
                      <a:r>
                        <a:rPr lang="vi-VN" sz="1900">
                          <a:effectLst/>
                        </a:rPr>
                        <a:t>STV</a:t>
                      </a:r>
                      <a:endParaRPr lang="vi-VN" sz="1900">
                        <a:effectLst/>
                        <a:latin typeface="Times New Roman" panose="02020603050405020304" pitchFamily="18" charset="0"/>
                        <a:ea typeface="Times New Roman" panose="02020603050405020304" pitchFamily="18" charset="0"/>
                      </a:endParaRPr>
                    </a:p>
                  </a:txBody>
                  <a:tcPr marL="9525" marR="9525" marT="9525" marB="9525" anchor="ctr"/>
                </a:tc>
                <a:tc>
                  <a:txBody>
                    <a:bodyPr/>
                    <a:lstStyle/>
                    <a:p>
                      <a:pPr algn="ctr">
                        <a:lnSpc>
                          <a:spcPct val="150000"/>
                        </a:lnSpc>
                        <a:spcBef>
                          <a:spcPts val="600"/>
                        </a:spcBef>
                        <a:spcAft>
                          <a:spcPts val="1000"/>
                        </a:spcAft>
                        <a:buNone/>
                      </a:pPr>
                      <a:r>
                        <a:rPr lang="vi-VN" sz="1900">
                          <a:effectLst/>
                        </a:rPr>
                        <a:t>1010</a:t>
                      </a:r>
                      <a:endParaRPr lang="vi-VN" sz="1900">
                        <a:effectLst/>
                        <a:latin typeface="Times New Roman" panose="02020603050405020304" pitchFamily="18" charset="0"/>
                        <a:ea typeface="Times New Roman" panose="02020603050405020304" pitchFamily="18" charset="0"/>
                      </a:endParaRPr>
                    </a:p>
                  </a:txBody>
                  <a:tcPr marL="9525" marR="9525" marT="9525" marB="9525" anchor="ctr"/>
                </a:tc>
                <a:tc>
                  <a:txBody>
                    <a:bodyPr/>
                    <a:lstStyle/>
                    <a:p>
                      <a:pPr algn="ctr">
                        <a:lnSpc>
                          <a:spcPct val="150000"/>
                        </a:lnSpc>
                        <a:spcBef>
                          <a:spcPts val="600"/>
                        </a:spcBef>
                        <a:spcAft>
                          <a:spcPts val="1000"/>
                        </a:spcAft>
                        <a:buNone/>
                      </a:pPr>
                      <a:r>
                        <a:rPr lang="vi-VN" sz="1900">
                          <a:effectLst/>
                        </a:rPr>
                        <a:t>STV </a:t>
                      </a:r>
                      <a:r>
                        <a:rPr lang="en-US" sz="1900">
                          <a:effectLst/>
                        </a:rPr>
                        <a:t>V</a:t>
                      </a:r>
                      <a:r>
                        <a:rPr lang="vi-VN" sz="1900">
                          <a:effectLst/>
                        </a:rPr>
                        <a:t>1, </a:t>
                      </a:r>
                      <a:r>
                        <a:rPr lang="en-US" sz="1900">
                          <a:effectLst/>
                        </a:rPr>
                        <a:t>R</a:t>
                      </a:r>
                      <a:r>
                        <a:rPr lang="vi-VN" sz="1900">
                          <a:effectLst/>
                        </a:rPr>
                        <a:t>1</a:t>
                      </a:r>
                      <a:endParaRPr lang="vi-VN" sz="1900">
                        <a:effectLst/>
                        <a:latin typeface="Times New Roman" panose="02020603050405020304" pitchFamily="18" charset="0"/>
                        <a:ea typeface="Times New Roman" panose="02020603050405020304" pitchFamily="18" charset="0"/>
                      </a:endParaRPr>
                    </a:p>
                  </a:txBody>
                  <a:tcPr marL="9525" marR="9525" marT="9525" marB="9525" anchor="ctr"/>
                </a:tc>
                <a:tc>
                  <a:txBody>
                    <a:bodyPr/>
                    <a:lstStyle/>
                    <a:p>
                      <a:pPr algn="ctr">
                        <a:lnSpc>
                          <a:spcPct val="150000"/>
                        </a:lnSpc>
                        <a:spcBef>
                          <a:spcPts val="600"/>
                        </a:spcBef>
                        <a:spcAft>
                          <a:spcPts val="1000"/>
                        </a:spcAft>
                        <a:buNone/>
                      </a:pPr>
                      <a:r>
                        <a:rPr lang="vi-VN" sz="1900">
                          <a:effectLst/>
                        </a:rPr>
                        <a:t>Store vector from a register to DRAM</a:t>
                      </a:r>
                      <a:endParaRPr lang="vi-VN" sz="1900">
                        <a:effectLst/>
                        <a:latin typeface="Times New Roman" panose="02020603050405020304" pitchFamily="18"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3888522187"/>
                  </a:ext>
                </a:extLst>
              </a:tr>
              <a:tr h="0">
                <a:tc>
                  <a:txBody>
                    <a:bodyPr/>
                    <a:lstStyle/>
                    <a:p>
                      <a:pPr algn="ctr">
                        <a:lnSpc>
                          <a:spcPct val="150000"/>
                        </a:lnSpc>
                        <a:spcBef>
                          <a:spcPts val="600"/>
                        </a:spcBef>
                        <a:spcAft>
                          <a:spcPts val="1000"/>
                        </a:spcAft>
                        <a:buNone/>
                      </a:pPr>
                      <a:r>
                        <a:rPr lang="vi-VN" sz="1900">
                          <a:effectLst/>
                        </a:rPr>
                        <a:t>ADD</a:t>
                      </a:r>
                      <a:endParaRPr lang="vi-VN" sz="1900">
                        <a:effectLst/>
                        <a:latin typeface="Times New Roman" panose="02020603050405020304" pitchFamily="18" charset="0"/>
                        <a:ea typeface="Times New Roman" panose="02020603050405020304" pitchFamily="18" charset="0"/>
                      </a:endParaRPr>
                    </a:p>
                  </a:txBody>
                  <a:tcPr marL="9525" marR="9525" marT="9525" marB="9525" anchor="ctr"/>
                </a:tc>
                <a:tc>
                  <a:txBody>
                    <a:bodyPr/>
                    <a:lstStyle/>
                    <a:p>
                      <a:pPr algn="ctr">
                        <a:lnSpc>
                          <a:spcPct val="150000"/>
                        </a:lnSpc>
                        <a:spcBef>
                          <a:spcPts val="600"/>
                        </a:spcBef>
                        <a:spcAft>
                          <a:spcPts val="1000"/>
                        </a:spcAft>
                        <a:buNone/>
                      </a:pPr>
                      <a:r>
                        <a:rPr lang="vi-VN" sz="1900">
                          <a:effectLst/>
                        </a:rPr>
                        <a:t>0001</a:t>
                      </a:r>
                      <a:endParaRPr lang="vi-VN" sz="1900">
                        <a:effectLst/>
                        <a:latin typeface="Times New Roman" panose="02020603050405020304" pitchFamily="18" charset="0"/>
                        <a:ea typeface="Times New Roman" panose="02020603050405020304" pitchFamily="18" charset="0"/>
                      </a:endParaRPr>
                    </a:p>
                  </a:txBody>
                  <a:tcPr marL="9525" marR="9525" marT="9525" marB="9525" anchor="ctr"/>
                </a:tc>
                <a:tc>
                  <a:txBody>
                    <a:bodyPr/>
                    <a:lstStyle/>
                    <a:p>
                      <a:pPr algn="ctr">
                        <a:lnSpc>
                          <a:spcPct val="150000"/>
                        </a:lnSpc>
                        <a:spcBef>
                          <a:spcPts val="600"/>
                        </a:spcBef>
                        <a:spcAft>
                          <a:spcPts val="1000"/>
                        </a:spcAft>
                        <a:buNone/>
                      </a:pPr>
                      <a:r>
                        <a:rPr lang="vi-VN" sz="1900">
                          <a:effectLst/>
                        </a:rPr>
                        <a:t>ADD R3, R2, R1</a:t>
                      </a:r>
                      <a:endParaRPr lang="vi-VN" sz="1900">
                        <a:effectLst/>
                        <a:latin typeface="Times New Roman" panose="02020603050405020304" pitchFamily="18" charset="0"/>
                        <a:ea typeface="Times New Roman" panose="02020603050405020304" pitchFamily="18" charset="0"/>
                      </a:endParaRPr>
                    </a:p>
                  </a:txBody>
                  <a:tcPr marL="9525" marR="9525" marT="9525" marB="9525" anchor="ctr"/>
                </a:tc>
                <a:tc>
                  <a:txBody>
                    <a:bodyPr/>
                    <a:lstStyle/>
                    <a:p>
                      <a:pPr algn="ctr">
                        <a:lnSpc>
                          <a:spcPct val="150000"/>
                        </a:lnSpc>
                        <a:spcBef>
                          <a:spcPts val="600"/>
                        </a:spcBef>
                        <a:spcAft>
                          <a:spcPts val="1000"/>
                        </a:spcAft>
                        <a:buNone/>
                      </a:pPr>
                      <a:r>
                        <a:rPr lang="vi-VN" sz="1900">
                          <a:effectLst/>
                        </a:rPr>
                        <a:t>Row-wise Addition</a:t>
                      </a:r>
                      <a:endParaRPr lang="vi-VN" sz="1900">
                        <a:effectLst/>
                        <a:latin typeface="Times New Roman" panose="02020603050405020304" pitchFamily="18"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399371445"/>
                  </a:ext>
                </a:extLst>
              </a:tr>
              <a:tr h="0">
                <a:tc>
                  <a:txBody>
                    <a:bodyPr/>
                    <a:lstStyle/>
                    <a:p>
                      <a:pPr algn="ctr">
                        <a:lnSpc>
                          <a:spcPct val="150000"/>
                        </a:lnSpc>
                        <a:spcBef>
                          <a:spcPts val="600"/>
                        </a:spcBef>
                        <a:spcAft>
                          <a:spcPts val="1000"/>
                        </a:spcAft>
                        <a:buNone/>
                      </a:pPr>
                      <a:r>
                        <a:rPr lang="vi-VN" sz="1900">
                          <a:effectLst/>
                        </a:rPr>
                        <a:t>SUB</a:t>
                      </a:r>
                      <a:endParaRPr lang="vi-VN" sz="1900">
                        <a:effectLst/>
                        <a:latin typeface="Times New Roman" panose="02020603050405020304" pitchFamily="18" charset="0"/>
                        <a:ea typeface="Times New Roman" panose="02020603050405020304" pitchFamily="18" charset="0"/>
                      </a:endParaRPr>
                    </a:p>
                  </a:txBody>
                  <a:tcPr marL="9525" marR="9525" marT="9525" marB="9525" anchor="ctr"/>
                </a:tc>
                <a:tc>
                  <a:txBody>
                    <a:bodyPr/>
                    <a:lstStyle/>
                    <a:p>
                      <a:pPr algn="ctr">
                        <a:lnSpc>
                          <a:spcPct val="150000"/>
                        </a:lnSpc>
                        <a:spcBef>
                          <a:spcPts val="600"/>
                        </a:spcBef>
                        <a:spcAft>
                          <a:spcPts val="1000"/>
                        </a:spcAft>
                        <a:buNone/>
                      </a:pPr>
                      <a:r>
                        <a:rPr lang="vi-VN" sz="1900">
                          <a:effectLst/>
                        </a:rPr>
                        <a:t>0010</a:t>
                      </a:r>
                      <a:endParaRPr lang="vi-VN" sz="1900">
                        <a:effectLst/>
                        <a:latin typeface="Times New Roman" panose="02020603050405020304" pitchFamily="18" charset="0"/>
                        <a:ea typeface="Times New Roman" panose="02020603050405020304" pitchFamily="18" charset="0"/>
                      </a:endParaRPr>
                    </a:p>
                  </a:txBody>
                  <a:tcPr marL="9525" marR="9525" marT="9525" marB="9525" anchor="ctr"/>
                </a:tc>
                <a:tc>
                  <a:txBody>
                    <a:bodyPr/>
                    <a:lstStyle/>
                    <a:p>
                      <a:pPr algn="ctr">
                        <a:lnSpc>
                          <a:spcPct val="150000"/>
                        </a:lnSpc>
                        <a:spcBef>
                          <a:spcPts val="600"/>
                        </a:spcBef>
                        <a:spcAft>
                          <a:spcPts val="1000"/>
                        </a:spcAft>
                        <a:buNone/>
                      </a:pPr>
                      <a:r>
                        <a:rPr lang="vi-VN" sz="1900">
                          <a:effectLst/>
                        </a:rPr>
                        <a:t>SUB R3, R2, R1</a:t>
                      </a:r>
                      <a:endParaRPr lang="vi-VN" sz="1900">
                        <a:effectLst/>
                        <a:latin typeface="Times New Roman" panose="02020603050405020304" pitchFamily="18" charset="0"/>
                        <a:ea typeface="Times New Roman" panose="02020603050405020304" pitchFamily="18" charset="0"/>
                      </a:endParaRPr>
                    </a:p>
                  </a:txBody>
                  <a:tcPr marL="9525" marR="9525" marT="9525" marB="9525" anchor="ctr"/>
                </a:tc>
                <a:tc>
                  <a:txBody>
                    <a:bodyPr/>
                    <a:lstStyle/>
                    <a:p>
                      <a:pPr algn="ctr">
                        <a:lnSpc>
                          <a:spcPct val="150000"/>
                        </a:lnSpc>
                        <a:spcBef>
                          <a:spcPts val="600"/>
                        </a:spcBef>
                        <a:spcAft>
                          <a:spcPts val="1000"/>
                        </a:spcAft>
                        <a:buNone/>
                      </a:pPr>
                      <a:r>
                        <a:rPr lang="vi-VN" sz="1900">
                          <a:effectLst/>
                        </a:rPr>
                        <a:t>Row-wise Subtraction</a:t>
                      </a:r>
                      <a:endParaRPr lang="vi-VN" sz="1900">
                        <a:effectLst/>
                        <a:latin typeface="Times New Roman" panose="02020603050405020304" pitchFamily="18"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2540664546"/>
                  </a:ext>
                </a:extLst>
              </a:tr>
              <a:tr h="0">
                <a:tc>
                  <a:txBody>
                    <a:bodyPr/>
                    <a:lstStyle/>
                    <a:p>
                      <a:pPr algn="ctr">
                        <a:lnSpc>
                          <a:spcPct val="150000"/>
                        </a:lnSpc>
                        <a:spcBef>
                          <a:spcPts val="600"/>
                        </a:spcBef>
                        <a:spcAft>
                          <a:spcPts val="1000"/>
                        </a:spcAft>
                        <a:buNone/>
                      </a:pPr>
                      <a:r>
                        <a:rPr lang="vi-VN" sz="1900">
                          <a:effectLst/>
                        </a:rPr>
                        <a:t>MUL</a:t>
                      </a:r>
                      <a:endParaRPr lang="vi-VN" sz="1900">
                        <a:effectLst/>
                        <a:latin typeface="Times New Roman" panose="02020603050405020304" pitchFamily="18" charset="0"/>
                        <a:ea typeface="Times New Roman" panose="02020603050405020304" pitchFamily="18" charset="0"/>
                      </a:endParaRPr>
                    </a:p>
                  </a:txBody>
                  <a:tcPr marL="9525" marR="9525" marT="9525" marB="9525" anchor="ctr"/>
                </a:tc>
                <a:tc>
                  <a:txBody>
                    <a:bodyPr/>
                    <a:lstStyle/>
                    <a:p>
                      <a:pPr algn="ctr">
                        <a:lnSpc>
                          <a:spcPct val="150000"/>
                        </a:lnSpc>
                        <a:spcBef>
                          <a:spcPts val="600"/>
                        </a:spcBef>
                        <a:spcAft>
                          <a:spcPts val="1000"/>
                        </a:spcAft>
                        <a:buNone/>
                      </a:pPr>
                      <a:r>
                        <a:rPr lang="vi-VN" sz="1900">
                          <a:effectLst/>
                        </a:rPr>
                        <a:t>0011</a:t>
                      </a:r>
                      <a:endParaRPr lang="vi-VN" sz="1900">
                        <a:effectLst/>
                        <a:latin typeface="Times New Roman" panose="02020603050405020304" pitchFamily="18" charset="0"/>
                        <a:ea typeface="Times New Roman" panose="02020603050405020304" pitchFamily="18" charset="0"/>
                      </a:endParaRPr>
                    </a:p>
                  </a:txBody>
                  <a:tcPr marL="9525" marR="9525" marT="9525" marB="9525" anchor="ctr"/>
                </a:tc>
                <a:tc>
                  <a:txBody>
                    <a:bodyPr/>
                    <a:lstStyle/>
                    <a:p>
                      <a:pPr algn="ctr">
                        <a:lnSpc>
                          <a:spcPct val="150000"/>
                        </a:lnSpc>
                        <a:spcBef>
                          <a:spcPts val="600"/>
                        </a:spcBef>
                        <a:spcAft>
                          <a:spcPts val="1000"/>
                        </a:spcAft>
                        <a:buNone/>
                      </a:pPr>
                      <a:r>
                        <a:rPr lang="vi-VN" sz="1900">
                          <a:effectLst/>
                        </a:rPr>
                        <a:t>MUL R3, R2, R1</a:t>
                      </a:r>
                      <a:endParaRPr lang="vi-VN" sz="1900">
                        <a:effectLst/>
                        <a:latin typeface="Times New Roman" panose="02020603050405020304" pitchFamily="18" charset="0"/>
                        <a:ea typeface="Times New Roman" panose="02020603050405020304" pitchFamily="18" charset="0"/>
                      </a:endParaRPr>
                    </a:p>
                  </a:txBody>
                  <a:tcPr marL="9525" marR="9525" marT="9525" marB="9525" anchor="ctr"/>
                </a:tc>
                <a:tc>
                  <a:txBody>
                    <a:bodyPr/>
                    <a:lstStyle/>
                    <a:p>
                      <a:pPr algn="ctr">
                        <a:lnSpc>
                          <a:spcPct val="150000"/>
                        </a:lnSpc>
                        <a:spcBef>
                          <a:spcPts val="600"/>
                        </a:spcBef>
                        <a:spcAft>
                          <a:spcPts val="1000"/>
                        </a:spcAft>
                        <a:buNone/>
                      </a:pPr>
                      <a:r>
                        <a:rPr lang="vi-VN" sz="1900">
                          <a:effectLst/>
                        </a:rPr>
                        <a:t>Row-wise Multiplication</a:t>
                      </a:r>
                      <a:endParaRPr lang="vi-VN" sz="1900">
                        <a:effectLst/>
                        <a:latin typeface="Times New Roman" panose="02020603050405020304" pitchFamily="18"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4059789397"/>
                  </a:ext>
                </a:extLst>
              </a:tr>
              <a:tr h="0">
                <a:tc>
                  <a:txBody>
                    <a:bodyPr/>
                    <a:lstStyle/>
                    <a:p>
                      <a:pPr algn="ctr">
                        <a:lnSpc>
                          <a:spcPct val="150000"/>
                        </a:lnSpc>
                        <a:spcBef>
                          <a:spcPts val="600"/>
                        </a:spcBef>
                        <a:spcAft>
                          <a:spcPts val="1000"/>
                        </a:spcAft>
                        <a:buNone/>
                      </a:pPr>
                      <a:r>
                        <a:rPr lang="vi-VN" sz="1900">
                          <a:effectLst/>
                        </a:rPr>
                        <a:t>DIV</a:t>
                      </a:r>
                      <a:endParaRPr lang="vi-VN" sz="1900">
                        <a:effectLst/>
                        <a:latin typeface="Times New Roman" panose="02020603050405020304" pitchFamily="18" charset="0"/>
                        <a:ea typeface="Times New Roman" panose="02020603050405020304" pitchFamily="18" charset="0"/>
                      </a:endParaRPr>
                    </a:p>
                  </a:txBody>
                  <a:tcPr marL="9525" marR="9525" marT="9525" marB="9525" anchor="ctr"/>
                </a:tc>
                <a:tc>
                  <a:txBody>
                    <a:bodyPr/>
                    <a:lstStyle/>
                    <a:p>
                      <a:pPr algn="ctr">
                        <a:lnSpc>
                          <a:spcPct val="150000"/>
                        </a:lnSpc>
                        <a:spcBef>
                          <a:spcPts val="600"/>
                        </a:spcBef>
                        <a:spcAft>
                          <a:spcPts val="1000"/>
                        </a:spcAft>
                        <a:buNone/>
                      </a:pPr>
                      <a:r>
                        <a:rPr lang="vi-VN" sz="1900">
                          <a:effectLst/>
                        </a:rPr>
                        <a:t>0100</a:t>
                      </a:r>
                      <a:endParaRPr lang="vi-VN" sz="1900">
                        <a:effectLst/>
                        <a:latin typeface="Times New Roman" panose="02020603050405020304" pitchFamily="18" charset="0"/>
                        <a:ea typeface="Times New Roman" panose="02020603050405020304" pitchFamily="18" charset="0"/>
                      </a:endParaRPr>
                    </a:p>
                  </a:txBody>
                  <a:tcPr marL="9525" marR="9525" marT="9525" marB="9525" anchor="ctr"/>
                </a:tc>
                <a:tc>
                  <a:txBody>
                    <a:bodyPr/>
                    <a:lstStyle/>
                    <a:p>
                      <a:pPr algn="ctr">
                        <a:lnSpc>
                          <a:spcPct val="150000"/>
                        </a:lnSpc>
                        <a:spcBef>
                          <a:spcPts val="600"/>
                        </a:spcBef>
                        <a:spcAft>
                          <a:spcPts val="1000"/>
                        </a:spcAft>
                        <a:buNone/>
                      </a:pPr>
                      <a:r>
                        <a:rPr lang="vi-VN" sz="1900">
                          <a:effectLst/>
                        </a:rPr>
                        <a:t>DIV R3, R2, R1</a:t>
                      </a:r>
                      <a:endParaRPr lang="vi-VN" sz="1900">
                        <a:effectLst/>
                        <a:latin typeface="Times New Roman" panose="02020603050405020304" pitchFamily="18" charset="0"/>
                        <a:ea typeface="Times New Roman" panose="02020603050405020304" pitchFamily="18" charset="0"/>
                      </a:endParaRPr>
                    </a:p>
                  </a:txBody>
                  <a:tcPr marL="9525" marR="9525" marT="9525" marB="9525" anchor="ctr"/>
                </a:tc>
                <a:tc>
                  <a:txBody>
                    <a:bodyPr/>
                    <a:lstStyle/>
                    <a:p>
                      <a:pPr algn="ctr">
                        <a:lnSpc>
                          <a:spcPct val="150000"/>
                        </a:lnSpc>
                        <a:spcBef>
                          <a:spcPts val="600"/>
                        </a:spcBef>
                        <a:spcAft>
                          <a:spcPts val="1000"/>
                        </a:spcAft>
                        <a:buNone/>
                      </a:pPr>
                      <a:r>
                        <a:rPr lang="vi-VN" sz="1900">
                          <a:effectLst/>
                        </a:rPr>
                        <a:t>Row-wise Division</a:t>
                      </a:r>
                      <a:endParaRPr lang="vi-VN" sz="1900">
                        <a:effectLst/>
                        <a:latin typeface="Times New Roman" panose="02020603050405020304" pitchFamily="18"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2470701152"/>
                  </a:ext>
                </a:extLst>
              </a:tr>
              <a:tr h="0">
                <a:tc>
                  <a:txBody>
                    <a:bodyPr/>
                    <a:lstStyle/>
                    <a:p>
                      <a:pPr algn="ctr">
                        <a:lnSpc>
                          <a:spcPct val="150000"/>
                        </a:lnSpc>
                        <a:spcBef>
                          <a:spcPts val="600"/>
                        </a:spcBef>
                        <a:spcAft>
                          <a:spcPts val="1000"/>
                        </a:spcAft>
                        <a:buNone/>
                      </a:pPr>
                      <a:r>
                        <a:rPr lang="vi-VN" sz="1900">
                          <a:effectLst/>
                        </a:rPr>
                        <a:t>EXP</a:t>
                      </a:r>
                      <a:endParaRPr lang="vi-VN" sz="1900">
                        <a:effectLst/>
                        <a:latin typeface="Times New Roman" panose="02020603050405020304" pitchFamily="18" charset="0"/>
                        <a:ea typeface="Times New Roman" panose="02020603050405020304" pitchFamily="18" charset="0"/>
                      </a:endParaRPr>
                    </a:p>
                  </a:txBody>
                  <a:tcPr marL="9525" marR="9525" marT="9525" marB="9525" anchor="ctr"/>
                </a:tc>
                <a:tc>
                  <a:txBody>
                    <a:bodyPr/>
                    <a:lstStyle/>
                    <a:p>
                      <a:pPr algn="ctr">
                        <a:lnSpc>
                          <a:spcPct val="150000"/>
                        </a:lnSpc>
                        <a:spcBef>
                          <a:spcPts val="600"/>
                        </a:spcBef>
                        <a:spcAft>
                          <a:spcPts val="1000"/>
                        </a:spcAft>
                        <a:buNone/>
                      </a:pPr>
                      <a:r>
                        <a:rPr lang="vi-VN" sz="1900">
                          <a:effectLst/>
                        </a:rPr>
                        <a:t>0101</a:t>
                      </a:r>
                      <a:endParaRPr lang="vi-VN" sz="1900">
                        <a:effectLst/>
                        <a:latin typeface="Times New Roman" panose="02020603050405020304" pitchFamily="18" charset="0"/>
                        <a:ea typeface="Times New Roman" panose="02020603050405020304" pitchFamily="18" charset="0"/>
                      </a:endParaRPr>
                    </a:p>
                  </a:txBody>
                  <a:tcPr marL="9525" marR="9525" marT="9525" marB="9525" anchor="ctr"/>
                </a:tc>
                <a:tc>
                  <a:txBody>
                    <a:bodyPr/>
                    <a:lstStyle/>
                    <a:p>
                      <a:pPr algn="ctr">
                        <a:lnSpc>
                          <a:spcPct val="150000"/>
                        </a:lnSpc>
                        <a:spcBef>
                          <a:spcPts val="600"/>
                        </a:spcBef>
                        <a:spcAft>
                          <a:spcPts val="1000"/>
                        </a:spcAft>
                        <a:buNone/>
                      </a:pPr>
                      <a:r>
                        <a:rPr lang="vi-VN" sz="1900">
                          <a:effectLst/>
                        </a:rPr>
                        <a:t>EXP R3, R2</a:t>
                      </a:r>
                      <a:endParaRPr lang="vi-VN" sz="1900">
                        <a:effectLst/>
                        <a:latin typeface="Times New Roman" panose="02020603050405020304" pitchFamily="18" charset="0"/>
                        <a:ea typeface="Times New Roman" panose="02020603050405020304" pitchFamily="18" charset="0"/>
                      </a:endParaRPr>
                    </a:p>
                  </a:txBody>
                  <a:tcPr marL="9525" marR="9525" marT="9525" marB="9525" anchor="ctr"/>
                </a:tc>
                <a:tc>
                  <a:txBody>
                    <a:bodyPr/>
                    <a:lstStyle/>
                    <a:p>
                      <a:pPr algn="ctr">
                        <a:lnSpc>
                          <a:spcPct val="150000"/>
                        </a:lnSpc>
                        <a:spcBef>
                          <a:spcPts val="600"/>
                        </a:spcBef>
                        <a:spcAft>
                          <a:spcPts val="1000"/>
                        </a:spcAft>
                        <a:buNone/>
                      </a:pPr>
                      <a:r>
                        <a:rPr lang="vi-VN" sz="1900">
                          <a:effectLst/>
                        </a:rPr>
                        <a:t>Row-wise Exponential Function</a:t>
                      </a:r>
                      <a:endParaRPr lang="vi-VN" sz="1900">
                        <a:effectLst/>
                        <a:latin typeface="Times New Roman" panose="02020603050405020304" pitchFamily="18"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2754316728"/>
                  </a:ext>
                </a:extLst>
              </a:tr>
              <a:tr h="0">
                <a:tc>
                  <a:txBody>
                    <a:bodyPr/>
                    <a:lstStyle/>
                    <a:p>
                      <a:pPr algn="ctr">
                        <a:lnSpc>
                          <a:spcPct val="150000"/>
                        </a:lnSpc>
                        <a:spcBef>
                          <a:spcPts val="600"/>
                        </a:spcBef>
                        <a:spcAft>
                          <a:spcPts val="1000"/>
                        </a:spcAft>
                        <a:buNone/>
                      </a:pPr>
                      <a:r>
                        <a:rPr lang="vi-VN" sz="1900">
                          <a:effectLst/>
                        </a:rPr>
                        <a:t>SIG</a:t>
                      </a:r>
                      <a:endParaRPr lang="vi-VN" sz="1900">
                        <a:effectLst/>
                        <a:latin typeface="Times New Roman" panose="02020603050405020304" pitchFamily="18" charset="0"/>
                        <a:ea typeface="Times New Roman" panose="02020603050405020304" pitchFamily="18" charset="0"/>
                      </a:endParaRPr>
                    </a:p>
                  </a:txBody>
                  <a:tcPr marL="9525" marR="9525" marT="9525" marB="9525" anchor="ctr"/>
                </a:tc>
                <a:tc>
                  <a:txBody>
                    <a:bodyPr/>
                    <a:lstStyle/>
                    <a:p>
                      <a:pPr algn="ctr">
                        <a:lnSpc>
                          <a:spcPct val="150000"/>
                        </a:lnSpc>
                        <a:spcBef>
                          <a:spcPts val="600"/>
                        </a:spcBef>
                        <a:spcAft>
                          <a:spcPts val="1000"/>
                        </a:spcAft>
                        <a:buNone/>
                      </a:pPr>
                      <a:r>
                        <a:rPr lang="vi-VN" sz="1900">
                          <a:effectLst/>
                        </a:rPr>
                        <a:t>0110</a:t>
                      </a:r>
                      <a:endParaRPr lang="vi-VN" sz="1900">
                        <a:effectLst/>
                        <a:latin typeface="Times New Roman" panose="02020603050405020304" pitchFamily="18" charset="0"/>
                        <a:ea typeface="Times New Roman" panose="02020603050405020304" pitchFamily="18" charset="0"/>
                      </a:endParaRPr>
                    </a:p>
                  </a:txBody>
                  <a:tcPr marL="9525" marR="9525" marT="9525" marB="9525" anchor="ctr"/>
                </a:tc>
                <a:tc>
                  <a:txBody>
                    <a:bodyPr/>
                    <a:lstStyle/>
                    <a:p>
                      <a:pPr algn="ctr">
                        <a:lnSpc>
                          <a:spcPct val="150000"/>
                        </a:lnSpc>
                        <a:spcBef>
                          <a:spcPts val="600"/>
                        </a:spcBef>
                        <a:spcAft>
                          <a:spcPts val="1000"/>
                        </a:spcAft>
                        <a:buNone/>
                      </a:pPr>
                      <a:r>
                        <a:rPr lang="vi-VN" sz="1900">
                          <a:effectLst/>
                        </a:rPr>
                        <a:t>SIG R3, R2</a:t>
                      </a:r>
                      <a:endParaRPr lang="vi-VN" sz="1900">
                        <a:effectLst/>
                        <a:latin typeface="Times New Roman" panose="02020603050405020304" pitchFamily="18" charset="0"/>
                        <a:ea typeface="Times New Roman" panose="02020603050405020304" pitchFamily="18" charset="0"/>
                      </a:endParaRPr>
                    </a:p>
                  </a:txBody>
                  <a:tcPr marL="9525" marR="9525" marT="9525" marB="9525" anchor="ctr"/>
                </a:tc>
                <a:tc>
                  <a:txBody>
                    <a:bodyPr/>
                    <a:lstStyle/>
                    <a:p>
                      <a:pPr algn="ctr">
                        <a:lnSpc>
                          <a:spcPct val="150000"/>
                        </a:lnSpc>
                        <a:spcBef>
                          <a:spcPts val="600"/>
                        </a:spcBef>
                        <a:spcAft>
                          <a:spcPts val="1000"/>
                        </a:spcAft>
                        <a:buNone/>
                      </a:pPr>
                      <a:r>
                        <a:rPr lang="vi-VN" sz="1900">
                          <a:effectLst/>
                        </a:rPr>
                        <a:t>Row-wise Sigmoid Function</a:t>
                      </a:r>
                      <a:endParaRPr lang="vi-VN" sz="1900">
                        <a:effectLst/>
                        <a:latin typeface="Times New Roman" panose="02020603050405020304" pitchFamily="18"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3291970849"/>
                  </a:ext>
                </a:extLst>
              </a:tr>
              <a:tr h="0">
                <a:tc>
                  <a:txBody>
                    <a:bodyPr/>
                    <a:lstStyle/>
                    <a:p>
                      <a:pPr algn="ctr">
                        <a:lnSpc>
                          <a:spcPct val="150000"/>
                        </a:lnSpc>
                        <a:spcBef>
                          <a:spcPts val="600"/>
                        </a:spcBef>
                        <a:spcAft>
                          <a:spcPts val="1000"/>
                        </a:spcAft>
                        <a:buNone/>
                      </a:pPr>
                      <a:r>
                        <a:rPr lang="vi-VN" sz="1900">
                          <a:effectLst/>
                        </a:rPr>
                        <a:t>NORM</a:t>
                      </a:r>
                      <a:endParaRPr lang="vi-VN" sz="1900">
                        <a:effectLst/>
                        <a:latin typeface="Times New Roman" panose="02020603050405020304" pitchFamily="18" charset="0"/>
                        <a:ea typeface="Times New Roman" panose="02020603050405020304" pitchFamily="18" charset="0"/>
                      </a:endParaRPr>
                    </a:p>
                  </a:txBody>
                  <a:tcPr marL="9525" marR="9525" marT="9525" marB="9525" anchor="ctr"/>
                </a:tc>
                <a:tc>
                  <a:txBody>
                    <a:bodyPr/>
                    <a:lstStyle/>
                    <a:p>
                      <a:pPr algn="ctr">
                        <a:lnSpc>
                          <a:spcPct val="150000"/>
                        </a:lnSpc>
                        <a:spcBef>
                          <a:spcPts val="600"/>
                        </a:spcBef>
                        <a:spcAft>
                          <a:spcPts val="1000"/>
                        </a:spcAft>
                        <a:buNone/>
                      </a:pPr>
                      <a:r>
                        <a:rPr lang="vi-VN" sz="1900">
                          <a:effectLst/>
                        </a:rPr>
                        <a:t>0111</a:t>
                      </a:r>
                      <a:endParaRPr lang="vi-VN" sz="1900">
                        <a:effectLst/>
                        <a:latin typeface="Times New Roman" panose="02020603050405020304" pitchFamily="18" charset="0"/>
                        <a:ea typeface="Times New Roman" panose="02020603050405020304" pitchFamily="18" charset="0"/>
                      </a:endParaRPr>
                    </a:p>
                  </a:txBody>
                  <a:tcPr marL="9525" marR="9525" marT="9525" marB="9525" anchor="ctr"/>
                </a:tc>
                <a:tc>
                  <a:txBody>
                    <a:bodyPr/>
                    <a:lstStyle/>
                    <a:p>
                      <a:pPr algn="ctr">
                        <a:lnSpc>
                          <a:spcPct val="150000"/>
                        </a:lnSpc>
                        <a:spcBef>
                          <a:spcPts val="600"/>
                        </a:spcBef>
                        <a:spcAft>
                          <a:spcPts val="1000"/>
                        </a:spcAft>
                        <a:buNone/>
                      </a:pPr>
                      <a:r>
                        <a:rPr lang="vi-VN" sz="1900">
                          <a:effectLst/>
                        </a:rPr>
                        <a:t>NORM R3, R2</a:t>
                      </a:r>
                      <a:endParaRPr lang="vi-VN" sz="1900">
                        <a:effectLst/>
                        <a:latin typeface="Times New Roman" panose="02020603050405020304" pitchFamily="18" charset="0"/>
                        <a:ea typeface="Times New Roman" panose="02020603050405020304" pitchFamily="18" charset="0"/>
                      </a:endParaRPr>
                    </a:p>
                  </a:txBody>
                  <a:tcPr marL="9525" marR="9525" marT="9525" marB="9525" anchor="ctr"/>
                </a:tc>
                <a:tc>
                  <a:txBody>
                    <a:bodyPr/>
                    <a:lstStyle/>
                    <a:p>
                      <a:pPr algn="ctr">
                        <a:lnSpc>
                          <a:spcPct val="150000"/>
                        </a:lnSpc>
                        <a:spcBef>
                          <a:spcPts val="600"/>
                        </a:spcBef>
                        <a:spcAft>
                          <a:spcPts val="1000"/>
                        </a:spcAft>
                        <a:buNone/>
                      </a:pPr>
                      <a:r>
                        <a:rPr lang="vi-VN" sz="1900">
                          <a:effectLst/>
                        </a:rPr>
                        <a:t>Performs RMS normalization on the vector</a:t>
                      </a:r>
                      <a:endParaRPr lang="vi-VN" sz="1900">
                        <a:effectLst/>
                        <a:latin typeface="Times New Roman" panose="02020603050405020304" pitchFamily="18"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3469541047"/>
                  </a:ext>
                </a:extLst>
              </a:tr>
              <a:tr h="0">
                <a:tc>
                  <a:txBody>
                    <a:bodyPr/>
                    <a:lstStyle/>
                    <a:p>
                      <a:pPr algn="ctr">
                        <a:lnSpc>
                          <a:spcPct val="150000"/>
                        </a:lnSpc>
                        <a:spcBef>
                          <a:spcPts val="600"/>
                        </a:spcBef>
                        <a:spcAft>
                          <a:spcPts val="1000"/>
                        </a:spcAft>
                        <a:buNone/>
                      </a:pPr>
                      <a:r>
                        <a:rPr lang="vi-VN" sz="1900">
                          <a:effectLst/>
                        </a:rPr>
                        <a:t>TMATMUL</a:t>
                      </a:r>
                      <a:endParaRPr lang="vi-VN" sz="1900">
                        <a:effectLst/>
                        <a:latin typeface="Times New Roman" panose="02020603050405020304" pitchFamily="18" charset="0"/>
                        <a:ea typeface="Times New Roman" panose="02020603050405020304" pitchFamily="18" charset="0"/>
                      </a:endParaRPr>
                    </a:p>
                  </a:txBody>
                  <a:tcPr marL="9525" marR="9525" marT="9525" marB="9525" anchor="ctr"/>
                </a:tc>
                <a:tc>
                  <a:txBody>
                    <a:bodyPr/>
                    <a:lstStyle/>
                    <a:p>
                      <a:pPr algn="ctr">
                        <a:lnSpc>
                          <a:spcPct val="150000"/>
                        </a:lnSpc>
                        <a:spcBef>
                          <a:spcPts val="600"/>
                        </a:spcBef>
                        <a:spcAft>
                          <a:spcPts val="1000"/>
                        </a:spcAft>
                        <a:buNone/>
                      </a:pPr>
                      <a:r>
                        <a:rPr lang="vi-VN" sz="1900">
                          <a:effectLst/>
                        </a:rPr>
                        <a:t>1000</a:t>
                      </a:r>
                      <a:endParaRPr lang="vi-VN" sz="1900">
                        <a:effectLst/>
                        <a:latin typeface="Times New Roman" panose="02020603050405020304" pitchFamily="18" charset="0"/>
                        <a:ea typeface="Times New Roman" panose="02020603050405020304" pitchFamily="18" charset="0"/>
                      </a:endParaRPr>
                    </a:p>
                  </a:txBody>
                  <a:tcPr marL="9525" marR="9525" marT="9525" marB="9525" anchor="ctr"/>
                </a:tc>
                <a:tc>
                  <a:txBody>
                    <a:bodyPr/>
                    <a:lstStyle/>
                    <a:p>
                      <a:pPr algn="ctr">
                        <a:lnSpc>
                          <a:spcPct val="150000"/>
                        </a:lnSpc>
                        <a:spcBef>
                          <a:spcPts val="600"/>
                        </a:spcBef>
                        <a:spcAft>
                          <a:spcPts val="1000"/>
                        </a:spcAft>
                        <a:buNone/>
                      </a:pPr>
                      <a:r>
                        <a:rPr lang="vi-VN" sz="1900">
                          <a:effectLst/>
                        </a:rPr>
                        <a:t>TMATMUL </a:t>
                      </a:r>
                      <a:r>
                        <a:rPr lang="en-US" sz="1900">
                          <a:effectLst/>
                        </a:rPr>
                        <a:t>V</a:t>
                      </a:r>
                      <a:r>
                        <a:rPr lang="vi-VN" sz="1900">
                          <a:effectLst/>
                        </a:rPr>
                        <a:t>3,</a:t>
                      </a:r>
                      <a:r>
                        <a:rPr lang="en-US" sz="1900">
                          <a:effectLst/>
                        </a:rPr>
                        <a:t> V</a:t>
                      </a:r>
                      <a:r>
                        <a:rPr lang="vi-VN" sz="1900">
                          <a:effectLst/>
                        </a:rPr>
                        <a:t>2</a:t>
                      </a:r>
                      <a:r>
                        <a:rPr lang="en-US" sz="1900">
                          <a:effectLst/>
                        </a:rPr>
                        <a:t>, V1</a:t>
                      </a:r>
                      <a:endParaRPr lang="vi-VN" sz="1900">
                        <a:effectLst/>
                        <a:latin typeface="Times New Roman" panose="02020603050405020304" pitchFamily="18" charset="0"/>
                        <a:ea typeface="Times New Roman" panose="02020603050405020304" pitchFamily="18" charset="0"/>
                      </a:endParaRPr>
                    </a:p>
                  </a:txBody>
                  <a:tcPr marL="9525" marR="9525" marT="9525" marB="9525" anchor="ctr"/>
                </a:tc>
                <a:tc>
                  <a:txBody>
                    <a:bodyPr/>
                    <a:lstStyle/>
                    <a:p>
                      <a:pPr algn="ctr">
                        <a:lnSpc>
                          <a:spcPct val="150000"/>
                        </a:lnSpc>
                        <a:spcBef>
                          <a:spcPts val="600"/>
                        </a:spcBef>
                        <a:spcAft>
                          <a:spcPts val="1000"/>
                        </a:spcAft>
                        <a:buNone/>
                      </a:pPr>
                      <a:r>
                        <a:rPr lang="vi-VN" sz="1900">
                          <a:effectLst/>
                        </a:rPr>
                        <a:t>Ternary Matrix Multiplication</a:t>
                      </a:r>
                      <a:endParaRPr lang="vi-VN" sz="1900">
                        <a:effectLst/>
                        <a:latin typeface="Times New Roman" panose="02020603050405020304" pitchFamily="18"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1902636644"/>
                  </a:ext>
                </a:extLst>
              </a:tr>
              <a:tr h="0">
                <a:tc>
                  <a:txBody>
                    <a:bodyPr/>
                    <a:lstStyle/>
                    <a:p>
                      <a:pPr algn="ctr">
                        <a:lnSpc>
                          <a:spcPct val="150000"/>
                        </a:lnSpc>
                        <a:spcBef>
                          <a:spcPts val="600"/>
                        </a:spcBef>
                        <a:spcAft>
                          <a:spcPts val="1000"/>
                        </a:spcAft>
                        <a:buNone/>
                      </a:pPr>
                      <a:r>
                        <a:rPr lang="vi-VN" sz="1900">
                          <a:effectLst/>
                        </a:rPr>
                        <a:t>HALT</a:t>
                      </a:r>
                      <a:endParaRPr lang="vi-VN" sz="1900">
                        <a:effectLst/>
                        <a:latin typeface="Times New Roman" panose="02020603050405020304" pitchFamily="18" charset="0"/>
                        <a:ea typeface="Times New Roman" panose="02020603050405020304" pitchFamily="18" charset="0"/>
                      </a:endParaRPr>
                    </a:p>
                  </a:txBody>
                  <a:tcPr marL="9525" marR="9525" marT="9525" marB="9525" anchor="ctr"/>
                </a:tc>
                <a:tc>
                  <a:txBody>
                    <a:bodyPr/>
                    <a:lstStyle/>
                    <a:p>
                      <a:pPr algn="ctr">
                        <a:lnSpc>
                          <a:spcPct val="150000"/>
                        </a:lnSpc>
                        <a:spcBef>
                          <a:spcPts val="600"/>
                        </a:spcBef>
                        <a:spcAft>
                          <a:spcPts val="1000"/>
                        </a:spcAft>
                        <a:buNone/>
                      </a:pPr>
                      <a:r>
                        <a:rPr lang="vi-VN" sz="1900">
                          <a:effectLst/>
                        </a:rPr>
                        <a:t>1111</a:t>
                      </a:r>
                      <a:endParaRPr lang="vi-VN" sz="1900">
                        <a:effectLst/>
                        <a:latin typeface="Times New Roman" panose="02020603050405020304" pitchFamily="18" charset="0"/>
                        <a:ea typeface="Times New Roman" panose="02020603050405020304" pitchFamily="18" charset="0"/>
                      </a:endParaRPr>
                    </a:p>
                  </a:txBody>
                  <a:tcPr marL="9525" marR="9525" marT="9525" marB="9525" anchor="ctr"/>
                </a:tc>
                <a:tc>
                  <a:txBody>
                    <a:bodyPr/>
                    <a:lstStyle/>
                    <a:p>
                      <a:pPr algn="ctr">
                        <a:lnSpc>
                          <a:spcPct val="150000"/>
                        </a:lnSpc>
                        <a:spcBef>
                          <a:spcPts val="600"/>
                        </a:spcBef>
                        <a:spcAft>
                          <a:spcPts val="1000"/>
                        </a:spcAft>
                        <a:buNone/>
                      </a:pPr>
                      <a:r>
                        <a:rPr lang="vi-VN" sz="1900">
                          <a:effectLst/>
                        </a:rPr>
                        <a:t>-</a:t>
                      </a:r>
                      <a:endParaRPr lang="vi-VN" sz="1900">
                        <a:effectLst/>
                        <a:latin typeface="Times New Roman" panose="02020603050405020304" pitchFamily="18" charset="0"/>
                        <a:ea typeface="Times New Roman" panose="02020603050405020304" pitchFamily="18" charset="0"/>
                      </a:endParaRPr>
                    </a:p>
                  </a:txBody>
                  <a:tcPr marL="9525" marR="9525" marT="9525" marB="9525" anchor="ctr"/>
                </a:tc>
                <a:tc>
                  <a:txBody>
                    <a:bodyPr/>
                    <a:lstStyle/>
                    <a:p>
                      <a:pPr algn="ctr">
                        <a:lnSpc>
                          <a:spcPct val="150000"/>
                        </a:lnSpc>
                        <a:spcBef>
                          <a:spcPts val="600"/>
                        </a:spcBef>
                        <a:spcAft>
                          <a:spcPts val="1000"/>
                        </a:spcAft>
                        <a:buNone/>
                      </a:pPr>
                      <a:r>
                        <a:rPr lang="vi-VN" sz="1900">
                          <a:effectLst/>
                        </a:rPr>
                        <a:t>Terminate Processor</a:t>
                      </a:r>
                      <a:endParaRPr lang="vi-VN" sz="1900">
                        <a:effectLst/>
                        <a:latin typeface="Times New Roman" panose="02020603050405020304" pitchFamily="18"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2182968739"/>
                  </a:ext>
                </a:extLst>
              </a:tr>
            </a:tbl>
          </a:graphicData>
        </a:graphic>
      </p:graphicFrame>
    </p:spTree>
    <p:extLst>
      <p:ext uri="{BB962C8B-B14F-4D97-AF65-F5344CB8AC3E}">
        <p14:creationId xmlns:p14="http://schemas.microsoft.com/office/powerpoint/2010/main" val="32847022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1">
          <a:extLst>
            <a:ext uri="{FF2B5EF4-FFF2-40B4-BE49-F238E27FC236}">
              <a16:creationId xmlns:a16="http://schemas.microsoft.com/office/drawing/2014/main" id="{37C8FC0E-CCB4-06C9-6368-841BF93BB5D9}"/>
            </a:ext>
          </a:extLst>
        </p:cNvPr>
        <p:cNvGrpSpPr/>
        <p:nvPr/>
      </p:nvGrpSpPr>
      <p:grpSpPr>
        <a:xfrm>
          <a:off x="0" y="0"/>
          <a:ext cx="0" cy="0"/>
          <a:chOff x="0" y="0"/>
          <a:chExt cx="0" cy="0"/>
        </a:xfrm>
      </p:grpSpPr>
      <p:sp>
        <p:nvSpPr>
          <p:cNvPr id="192" name="Google Shape;192;p5">
            <a:extLst>
              <a:ext uri="{FF2B5EF4-FFF2-40B4-BE49-F238E27FC236}">
                <a16:creationId xmlns:a16="http://schemas.microsoft.com/office/drawing/2014/main" id="{1801CA09-A4B5-720E-17B1-449A9EBA1286}"/>
              </a:ext>
            </a:extLst>
          </p:cNvPr>
          <p:cNvSpPr txBox="1">
            <a:spLocks noGrp="1"/>
          </p:cNvSpPr>
          <p:nvPr>
            <p:ph type="title"/>
          </p:nvPr>
        </p:nvSpPr>
        <p:spPr>
          <a:xfrm>
            <a:off x="893762" y="288925"/>
            <a:ext cx="8250237" cy="674687"/>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00000"/>
              </a:lnSpc>
              <a:spcBef>
                <a:spcPts val="0"/>
              </a:spcBef>
              <a:spcAft>
                <a:spcPts val="0"/>
              </a:spcAft>
              <a:buClr>
                <a:srgbClr val="3376C7"/>
              </a:buClr>
              <a:buSzPts val="4000"/>
              <a:buFont typeface="Arial"/>
              <a:buNone/>
            </a:pPr>
            <a:r>
              <a:rPr lang="en-US" sz="4000" b="1" i="0" u="none">
                <a:solidFill>
                  <a:srgbClr val="3376C7"/>
                </a:solidFill>
                <a:latin typeface="Arial"/>
                <a:ea typeface="Arial"/>
                <a:cs typeface="Arial"/>
                <a:sym typeface="Arial"/>
              </a:rPr>
              <a:t>3. Hardware Implementation </a:t>
            </a:r>
            <a:endParaRPr/>
          </a:p>
        </p:txBody>
      </p:sp>
      <p:sp>
        <p:nvSpPr>
          <p:cNvPr id="193" name="Google Shape;193;p5">
            <a:extLst>
              <a:ext uri="{FF2B5EF4-FFF2-40B4-BE49-F238E27FC236}">
                <a16:creationId xmlns:a16="http://schemas.microsoft.com/office/drawing/2014/main" id="{FA5D8795-BF6A-22C2-20D8-884AC756D0D2}"/>
              </a:ext>
            </a:extLst>
          </p:cNvPr>
          <p:cNvSpPr txBox="1"/>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Arial"/>
              <a:buNone/>
            </a:pPr>
            <a:fld id="{00000000-1234-1234-1234-123412341234}" type="slidenum">
              <a:rPr lang="en-US" sz="1200" b="0" i="0" u="none">
                <a:solidFill>
                  <a:srgbClr val="898989"/>
                </a:solidFill>
                <a:latin typeface="Arial"/>
                <a:ea typeface="Arial"/>
                <a:cs typeface="Arial"/>
                <a:sym typeface="Arial"/>
              </a:rPr>
              <a:t>17</a:t>
            </a:fld>
            <a:endParaRPr/>
          </a:p>
        </p:txBody>
      </p:sp>
      <p:sp>
        <p:nvSpPr>
          <p:cNvPr id="3" name="Google Shape;201;p6">
            <a:extLst>
              <a:ext uri="{FF2B5EF4-FFF2-40B4-BE49-F238E27FC236}">
                <a16:creationId xmlns:a16="http://schemas.microsoft.com/office/drawing/2014/main" id="{4286D6A1-9A58-4C03-0156-8DC372449F5C}"/>
              </a:ext>
            </a:extLst>
          </p:cNvPr>
          <p:cNvSpPr txBox="1"/>
          <p:nvPr/>
        </p:nvSpPr>
        <p:spPr>
          <a:xfrm>
            <a:off x="737682" y="2315201"/>
            <a:ext cx="8382000"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a:solidFill>
                  <a:schemeClr val="dk1"/>
                </a:solidFill>
                <a:latin typeface="Arial"/>
                <a:ea typeface="Arial"/>
                <a:cs typeface="Arial"/>
                <a:sym typeface="Arial"/>
              </a:rPr>
              <a:t>Instruction: 0001 000 001 010</a:t>
            </a:r>
            <a:endParaRPr/>
          </a:p>
        </p:txBody>
      </p:sp>
      <p:sp>
        <p:nvSpPr>
          <p:cNvPr id="4" name="Google Shape;201;p6">
            <a:extLst>
              <a:ext uri="{FF2B5EF4-FFF2-40B4-BE49-F238E27FC236}">
                <a16:creationId xmlns:a16="http://schemas.microsoft.com/office/drawing/2014/main" id="{5BF98FC4-F525-2C9A-1296-E4DAE9F7D725}"/>
              </a:ext>
            </a:extLst>
          </p:cNvPr>
          <p:cNvSpPr txBox="1"/>
          <p:nvPr/>
        </p:nvSpPr>
        <p:spPr>
          <a:xfrm>
            <a:off x="309664" y="1255288"/>
            <a:ext cx="8382000" cy="101562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400"/>
              <a:buFont typeface="Arial"/>
              <a:buNone/>
            </a:pPr>
            <a:r>
              <a:rPr lang="en-US" sz="3000" b="1" i="0" u="none">
                <a:solidFill>
                  <a:schemeClr val="dk1"/>
                </a:solidFill>
                <a:latin typeface="Arial"/>
                <a:ea typeface="Arial"/>
                <a:cs typeface="Arial"/>
                <a:sym typeface="Arial"/>
              </a:rPr>
              <a:t>Format instruction for ADD, SUB, MUL, DIV, MATMUL</a:t>
            </a:r>
            <a:endParaRPr sz="3000" b="1"/>
          </a:p>
        </p:txBody>
      </p:sp>
      <p:sp>
        <p:nvSpPr>
          <p:cNvPr id="23" name="Google Shape;201;p6">
            <a:extLst>
              <a:ext uri="{FF2B5EF4-FFF2-40B4-BE49-F238E27FC236}">
                <a16:creationId xmlns:a16="http://schemas.microsoft.com/office/drawing/2014/main" id="{26454549-CE3F-0302-0FAC-28329DBAC6AE}"/>
              </a:ext>
            </a:extLst>
          </p:cNvPr>
          <p:cNvSpPr txBox="1"/>
          <p:nvPr/>
        </p:nvSpPr>
        <p:spPr>
          <a:xfrm>
            <a:off x="2733473" y="4672538"/>
            <a:ext cx="4213698"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a:solidFill>
                  <a:schemeClr val="dk1"/>
                </a:solidFill>
                <a:latin typeface="Arial"/>
                <a:ea typeface="Arial"/>
                <a:cs typeface="Arial"/>
                <a:sym typeface="Arial"/>
              </a:rPr>
              <a:t>Opcode = 0001 (ADD)</a:t>
            </a:r>
            <a:endParaRPr/>
          </a:p>
        </p:txBody>
      </p:sp>
      <p:sp>
        <p:nvSpPr>
          <p:cNvPr id="24" name="Google Shape;201;p6">
            <a:extLst>
              <a:ext uri="{FF2B5EF4-FFF2-40B4-BE49-F238E27FC236}">
                <a16:creationId xmlns:a16="http://schemas.microsoft.com/office/drawing/2014/main" id="{18159590-A3DC-1ECE-C797-D57D099CE880}"/>
              </a:ext>
            </a:extLst>
          </p:cNvPr>
          <p:cNvSpPr txBox="1"/>
          <p:nvPr/>
        </p:nvSpPr>
        <p:spPr>
          <a:xfrm>
            <a:off x="3390308" y="4170346"/>
            <a:ext cx="5889877"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Arial"/>
              <a:buNone/>
            </a:pPr>
            <a:r>
              <a:rPr lang="en-US" sz="2400">
                <a:solidFill>
                  <a:schemeClr val="dk1"/>
                </a:solidFill>
              </a:rPr>
              <a:t>R0 = 000 (Output) (V0 if TMATMUL)</a:t>
            </a:r>
            <a:endParaRPr/>
          </a:p>
        </p:txBody>
      </p:sp>
      <p:sp>
        <p:nvSpPr>
          <p:cNvPr id="25" name="Google Shape;201;p6">
            <a:extLst>
              <a:ext uri="{FF2B5EF4-FFF2-40B4-BE49-F238E27FC236}">
                <a16:creationId xmlns:a16="http://schemas.microsoft.com/office/drawing/2014/main" id="{7E0DD5AF-E2F2-8A18-E11A-C6108AFFAD5E}"/>
              </a:ext>
            </a:extLst>
          </p:cNvPr>
          <p:cNvSpPr txBox="1"/>
          <p:nvPr/>
        </p:nvSpPr>
        <p:spPr>
          <a:xfrm>
            <a:off x="4079943" y="3598087"/>
            <a:ext cx="4213698"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Arial"/>
              <a:buNone/>
            </a:pPr>
            <a:r>
              <a:rPr lang="en-US" sz="2400">
                <a:solidFill>
                  <a:schemeClr val="dk1"/>
                </a:solidFill>
              </a:rPr>
              <a:t>R1 = 001 (V1 if TMATMUL)</a:t>
            </a:r>
            <a:endParaRPr/>
          </a:p>
        </p:txBody>
      </p:sp>
      <p:sp>
        <p:nvSpPr>
          <p:cNvPr id="26" name="Google Shape;201;p6">
            <a:extLst>
              <a:ext uri="{FF2B5EF4-FFF2-40B4-BE49-F238E27FC236}">
                <a16:creationId xmlns:a16="http://schemas.microsoft.com/office/drawing/2014/main" id="{51EFCD09-7D27-BA07-4A39-1CFC5139A7C2}"/>
              </a:ext>
            </a:extLst>
          </p:cNvPr>
          <p:cNvSpPr txBox="1"/>
          <p:nvPr/>
        </p:nvSpPr>
        <p:spPr>
          <a:xfrm>
            <a:off x="4657336" y="3072353"/>
            <a:ext cx="4213698"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Arial"/>
              <a:buNone/>
            </a:pPr>
            <a:r>
              <a:rPr lang="en-US" sz="2400">
                <a:solidFill>
                  <a:schemeClr val="dk1"/>
                </a:solidFill>
              </a:rPr>
              <a:t>R2 = 002 (V2 if TMATMUL)</a:t>
            </a:r>
            <a:endParaRPr/>
          </a:p>
        </p:txBody>
      </p:sp>
      <p:cxnSp>
        <p:nvCxnSpPr>
          <p:cNvPr id="38" name="Straight Connector 37">
            <a:extLst>
              <a:ext uri="{FF2B5EF4-FFF2-40B4-BE49-F238E27FC236}">
                <a16:creationId xmlns:a16="http://schemas.microsoft.com/office/drawing/2014/main" id="{FC29EFFA-A54A-F7C2-3E4E-405AF41F6107}"/>
              </a:ext>
            </a:extLst>
          </p:cNvPr>
          <p:cNvCxnSpPr>
            <a:cxnSpLocks/>
          </p:cNvCxnSpPr>
          <p:nvPr/>
        </p:nvCxnSpPr>
        <p:spPr>
          <a:xfrm>
            <a:off x="2733473" y="2776825"/>
            <a:ext cx="0" cy="229128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1C0A67B5-D555-338B-E41D-45BE242B3BB4}"/>
              </a:ext>
            </a:extLst>
          </p:cNvPr>
          <p:cNvCxnSpPr>
            <a:cxnSpLocks/>
          </p:cNvCxnSpPr>
          <p:nvPr/>
        </p:nvCxnSpPr>
        <p:spPr>
          <a:xfrm>
            <a:off x="3356261" y="2776825"/>
            <a:ext cx="0" cy="184645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8E2FEBE-B506-B64D-D958-45730DB2CC70}"/>
              </a:ext>
            </a:extLst>
          </p:cNvPr>
          <p:cNvCxnSpPr>
            <a:cxnSpLocks/>
          </p:cNvCxnSpPr>
          <p:nvPr/>
        </p:nvCxnSpPr>
        <p:spPr>
          <a:xfrm>
            <a:off x="3965861" y="2776824"/>
            <a:ext cx="0" cy="126501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D126F708-0AF8-635E-F936-A5D73EA86C49}"/>
              </a:ext>
            </a:extLst>
          </p:cNvPr>
          <p:cNvCxnSpPr>
            <a:cxnSpLocks/>
          </p:cNvCxnSpPr>
          <p:nvPr/>
        </p:nvCxnSpPr>
        <p:spPr>
          <a:xfrm>
            <a:off x="4624100" y="2776823"/>
            <a:ext cx="0" cy="74459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97943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1">
          <a:extLst>
            <a:ext uri="{FF2B5EF4-FFF2-40B4-BE49-F238E27FC236}">
              <a16:creationId xmlns:a16="http://schemas.microsoft.com/office/drawing/2014/main" id="{5DBA8459-351C-98B5-90F7-B7A62B03F6EB}"/>
            </a:ext>
          </a:extLst>
        </p:cNvPr>
        <p:cNvGrpSpPr/>
        <p:nvPr/>
      </p:nvGrpSpPr>
      <p:grpSpPr>
        <a:xfrm>
          <a:off x="0" y="0"/>
          <a:ext cx="0" cy="0"/>
          <a:chOff x="0" y="0"/>
          <a:chExt cx="0" cy="0"/>
        </a:xfrm>
      </p:grpSpPr>
      <p:sp>
        <p:nvSpPr>
          <p:cNvPr id="192" name="Google Shape;192;p5">
            <a:extLst>
              <a:ext uri="{FF2B5EF4-FFF2-40B4-BE49-F238E27FC236}">
                <a16:creationId xmlns:a16="http://schemas.microsoft.com/office/drawing/2014/main" id="{377BAAE6-440A-E7E4-56DF-CFD78F5850FE}"/>
              </a:ext>
            </a:extLst>
          </p:cNvPr>
          <p:cNvSpPr txBox="1">
            <a:spLocks noGrp="1"/>
          </p:cNvSpPr>
          <p:nvPr>
            <p:ph type="title"/>
          </p:nvPr>
        </p:nvSpPr>
        <p:spPr>
          <a:xfrm>
            <a:off x="893762" y="288925"/>
            <a:ext cx="8250237" cy="674687"/>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00000"/>
              </a:lnSpc>
              <a:spcBef>
                <a:spcPts val="0"/>
              </a:spcBef>
              <a:spcAft>
                <a:spcPts val="0"/>
              </a:spcAft>
              <a:buClr>
                <a:srgbClr val="3376C7"/>
              </a:buClr>
              <a:buSzPts val="4000"/>
              <a:buFont typeface="Arial"/>
              <a:buNone/>
            </a:pPr>
            <a:r>
              <a:rPr lang="en-US" sz="4000" b="1" i="0" u="none">
                <a:solidFill>
                  <a:srgbClr val="3376C7"/>
                </a:solidFill>
                <a:latin typeface="Arial"/>
                <a:ea typeface="Arial"/>
                <a:cs typeface="Arial"/>
                <a:sym typeface="Arial"/>
              </a:rPr>
              <a:t>3. Hardware Implementation </a:t>
            </a:r>
            <a:endParaRPr/>
          </a:p>
        </p:txBody>
      </p:sp>
      <p:sp>
        <p:nvSpPr>
          <p:cNvPr id="193" name="Google Shape;193;p5">
            <a:extLst>
              <a:ext uri="{FF2B5EF4-FFF2-40B4-BE49-F238E27FC236}">
                <a16:creationId xmlns:a16="http://schemas.microsoft.com/office/drawing/2014/main" id="{B086F362-F7DB-9FF8-3718-FF4313AEC30C}"/>
              </a:ext>
            </a:extLst>
          </p:cNvPr>
          <p:cNvSpPr txBox="1"/>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Arial"/>
              <a:buNone/>
            </a:pPr>
            <a:fld id="{00000000-1234-1234-1234-123412341234}" type="slidenum">
              <a:rPr lang="en-US" sz="1200" b="0" i="0" u="none">
                <a:solidFill>
                  <a:srgbClr val="898989"/>
                </a:solidFill>
                <a:latin typeface="Arial"/>
                <a:ea typeface="Arial"/>
                <a:cs typeface="Arial"/>
                <a:sym typeface="Arial"/>
              </a:rPr>
              <a:t>18</a:t>
            </a:fld>
            <a:endParaRPr/>
          </a:p>
        </p:txBody>
      </p:sp>
      <p:sp>
        <p:nvSpPr>
          <p:cNvPr id="3" name="Google Shape;201;p6">
            <a:extLst>
              <a:ext uri="{FF2B5EF4-FFF2-40B4-BE49-F238E27FC236}">
                <a16:creationId xmlns:a16="http://schemas.microsoft.com/office/drawing/2014/main" id="{514167FC-3AEF-3BFC-0354-569E00AAEEBA}"/>
              </a:ext>
            </a:extLst>
          </p:cNvPr>
          <p:cNvSpPr txBox="1"/>
          <p:nvPr/>
        </p:nvSpPr>
        <p:spPr>
          <a:xfrm>
            <a:off x="737682" y="2315201"/>
            <a:ext cx="8382000"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a:solidFill>
                  <a:schemeClr val="dk1"/>
                </a:solidFill>
                <a:latin typeface="Arial"/>
                <a:ea typeface="Arial"/>
                <a:cs typeface="Arial"/>
                <a:sym typeface="Arial"/>
              </a:rPr>
              <a:t>Instruction: 1001 000 001 010</a:t>
            </a:r>
            <a:endParaRPr/>
          </a:p>
        </p:txBody>
      </p:sp>
      <p:sp>
        <p:nvSpPr>
          <p:cNvPr id="4" name="Google Shape;201;p6">
            <a:extLst>
              <a:ext uri="{FF2B5EF4-FFF2-40B4-BE49-F238E27FC236}">
                <a16:creationId xmlns:a16="http://schemas.microsoft.com/office/drawing/2014/main" id="{9DC5460C-68A0-2634-3C6B-4A51EF27B682}"/>
              </a:ext>
            </a:extLst>
          </p:cNvPr>
          <p:cNvSpPr txBox="1"/>
          <p:nvPr/>
        </p:nvSpPr>
        <p:spPr>
          <a:xfrm>
            <a:off x="309664" y="1449844"/>
            <a:ext cx="8382000" cy="55395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400"/>
              <a:buFont typeface="Arial"/>
              <a:buNone/>
            </a:pPr>
            <a:r>
              <a:rPr lang="en-US" sz="3000" b="1" i="0" u="none">
                <a:solidFill>
                  <a:schemeClr val="dk1"/>
                </a:solidFill>
                <a:latin typeface="Arial"/>
                <a:ea typeface="Arial"/>
                <a:cs typeface="Arial"/>
                <a:sym typeface="Arial"/>
              </a:rPr>
              <a:t>Format instruction for LDV, STV</a:t>
            </a:r>
            <a:endParaRPr sz="3000" b="1"/>
          </a:p>
        </p:txBody>
      </p:sp>
      <p:sp>
        <p:nvSpPr>
          <p:cNvPr id="23" name="Google Shape;201;p6">
            <a:extLst>
              <a:ext uri="{FF2B5EF4-FFF2-40B4-BE49-F238E27FC236}">
                <a16:creationId xmlns:a16="http://schemas.microsoft.com/office/drawing/2014/main" id="{EAE643C5-FA7B-9427-7749-4E4A970D37CE}"/>
              </a:ext>
            </a:extLst>
          </p:cNvPr>
          <p:cNvSpPr txBox="1"/>
          <p:nvPr/>
        </p:nvSpPr>
        <p:spPr>
          <a:xfrm>
            <a:off x="2733473" y="4672538"/>
            <a:ext cx="4213698"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a:solidFill>
                  <a:schemeClr val="dk1"/>
                </a:solidFill>
                <a:latin typeface="Arial"/>
                <a:ea typeface="Arial"/>
                <a:cs typeface="Arial"/>
                <a:sym typeface="Arial"/>
              </a:rPr>
              <a:t>Opcode = 1001 (LDV)</a:t>
            </a:r>
            <a:endParaRPr/>
          </a:p>
        </p:txBody>
      </p:sp>
      <p:sp>
        <p:nvSpPr>
          <p:cNvPr id="24" name="Google Shape;201;p6">
            <a:extLst>
              <a:ext uri="{FF2B5EF4-FFF2-40B4-BE49-F238E27FC236}">
                <a16:creationId xmlns:a16="http://schemas.microsoft.com/office/drawing/2014/main" id="{BA12A810-C5B6-7B85-2DA3-02892885AE5E}"/>
              </a:ext>
            </a:extLst>
          </p:cNvPr>
          <p:cNvSpPr txBox="1"/>
          <p:nvPr/>
        </p:nvSpPr>
        <p:spPr>
          <a:xfrm>
            <a:off x="3390308" y="4170346"/>
            <a:ext cx="5729365"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Arial"/>
              <a:buNone/>
            </a:pPr>
            <a:r>
              <a:rPr lang="en-US" sz="2400">
                <a:solidFill>
                  <a:schemeClr val="dk1"/>
                </a:solidFill>
              </a:rPr>
              <a:t>STV: V0 = 000 | LDV: R0 = 000</a:t>
            </a:r>
            <a:endParaRPr/>
          </a:p>
        </p:txBody>
      </p:sp>
      <p:sp>
        <p:nvSpPr>
          <p:cNvPr id="25" name="Google Shape;201;p6">
            <a:extLst>
              <a:ext uri="{FF2B5EF4-FFF2-40B4-BE49-F238E27FC236}">
                <a16:creationId xmlns:a16="http://schemas.microsoft.com/office/drawing/2014/main" id="{2B47904B-E807-5D50-3D3E-97185E659D74}"/>
              </a:ext>
            </a:extLst>
          </p:cNvPr>
          <p:cNvSpPr txBox="1"/>
          <p:nvPr/>
        </p:nvSpPr>
        <p:spPr>
          <a:xfrm>
            <a:off x="4079943" y="3598087"/>
            <a:ext cx="4213698"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Arial"/>
              <a:buNone/>
            </a:pPr>
            <a:r>
              <a:rPr lang="en-US" sz="2400">
                <a:solidFill>
                  <a:schemeClr val="dk1"/>
                </a:solidFill>
              </a:rPr>
              <a:t>index = 001</a:t>
            </a:r>
            <a:endParaRPr/>
          </a:p>
        </p:txBody>
      </p:sp>
      <p:sp>
        <p:nvSpPr>
          <p:cNvPr id="26" name="Google Shape;201;p6">
            <a:extLst>
              <a:ext uri="{FF2B5EF4-FFF2-40B4-BE49-F238E27FC236}">
                <a16:creationId xmlns:a16="http://schemas.microsoft.com/office/drawing/2014/main" id="{F982FFE4-5F8B-FA9C-745F-93F463549BEC}"/>
              </a:ext>
            </a:extLst>
          </p:cNvPr>
          <p:cNvSpPr txBox="1"/>
          <p:nvPr/>
        </p:nvSpPr>
        <p:spPr>
          <a:xfrm>
            <a:off x="4657336" y="3072353"/>
            <a:ext cx="4486664"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Arial"/>
              <a:buNone/>
            </a:pPr>
            <a:r>
              <a:rPr lang="pt-BR" sz="2400">
                <a:solidFill>
                  <a:schemeClr val="dk1"/>
                </a:solidFill>
              </a:rPr>
              <a:t>STV: R2 = 010 | LDV: V2 = 010</a:t>
            </a:r>
            <a:endParaRPr lang="pt-BR" sz="2400"/>
          </a:p>
        </p:txBody>
      </p:sp>
      <p:cxnSp>
        <p:nvCxnSpPr>
          <p:cNvPr id="38" name="Straight Connector 37">
            <a:extLst>
              <a:ext uri="{FF2B5EF4-FFF2-40B4-BE49-F238E27FC236}">
                <a16:creationId xmlns:a16="http://schemas.microsoft.com/office/drawing/2014/main" id="{ADC18F4A-7B20-7F7A-0608-E36D789A745A}"/>
              </a:ext>
            </a:extLst>
          </p:cNvPr>
          <p:cNvCxnSpPr>
            <a:cxnSpLocks/>
          </p:cNvCxnSpPr>
          <p:nvPr/>
        </p:nvCxnSpPr>
        <p:spPr>
          <a:xfrm>
            <a:off x="2733473" y="2776825"/>
            <a:ext cx="0" cy="229128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CC9F38CA-1011-1E3C-C180-8D6217203962}"/>
              </a:ext>
            </a:extLst>
          </p:cNvPr>
          <p:cNvCxnSpPr>
            <a:cxnSpLocks/>
          </p:cNvCxnSpPr>
          <p:nvPr/>
        </p:nvCxnSpPr>
        <p:spPr>
          <a:xfrm>
            <a:off x="3356261" y="2776825"/>
            <a:ext cx="0" cy="184645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1E80CB6E-D9D5-D413-4684-315ABE2D5383}"/>
              </a:ext>
            </a:extLst>
          </p:cNvPr>
          <p:cNvCxnSpPr>
            <a:cxnSpLocks/>
          </p:cNvCxnSpPr>
          <p:nvPr/>
        </p:nvCxnSpPr>
        <p:spPr>
          <a:xfrm>
            <a:off x="3965861" y="2776824"/>
            <a:ext cx="0" cy="126501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DA3B664C-0E1D-8636-1C0F-9AF7CC4D98E2}"/>
              </a:ext>
            </a:extLst>
          </p:cNvPr>
          <p:cNvCxnSpPr>
            <a:cxnSpLocks/>
          </p:cNvCxnSpPr>
          <p:nvPr/>
        </p:nvCxnSpPr>
        <p:spPr>
          <a:xfrm>
            <a:off x="4624100" y="2776823"/>
            <a:ext cx="0" cy="74459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86368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1">
          <a:extLst>
            <a:ext uri="{FF2B5EF4-FFF2-40B4-BE49-F238E27FC236}">
              <a16:creationId xmlns:a16="http://schemas.microsoft.com/office/drawing/2014/main" id="{C1ACDEB6-7CD1-3F10-F057-528EB6C8434D}"/>
            </a:ext>
          </a:extLst>
        </p:cNvPr>
        <p:cNvGrpSpPr/>
        <p:nvPr/>
      </p:nvGrpSpPr>
      <p:grpSpPr>
        <a:xfrm>
          <a:off x="0" y="0"/>
          <a:ext cx="0" cy="0"/>
          <a:chOff x="0" y="0"/>
          <a:chExt cx="0" cy="0"/>
        </a:xfrm>
      </p:grpSpPr>
      <p:sp>
        <p:nvSpPr>
          <p:cNvPr id="192" name="Google Shape;192;p5">
            <a:extLst>
              <a:ext uri="{FF2B5EF4-FFF2-40B4-BE49-F238E27FC236}">
                <a16:creationId xmlns:a16="http://schemas.microsoft.com/office/drawing/2014/main" id="{F7184A37-F209-0D9A-319A-25602798BA95}"/>
              </a:ext>
            </a:extLst>
          </p:cNvPr>
          <p:cNvSpPr txBox="1">
            <a:spLocks noGrp="1"/>
          </p:cNvSpPr>
          <p:nvPr>
            <p:ph type="title"/>
          </p:nvPr>
        </p:nvSpPr>
        <p:spPr>
          <a:xfrm>
            <a:off x="893762" y="288925"/>
            <a:ext cx="8250237" cy="674687"/>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00000"/>
              </a:lnSpc>
              <a:spcBef>
                <a:spcPts val="0"/>
              </a:spcBef>
              <a:spcAft>
                <a:spcPts val="0"/>
              </a:spcAft>
              <a:buClr>
                <a:srgbClr val="3376C7"/>
              </a:buClr>
              <a:buSzPts val="4000"/>
              <a:buFont typeface="Arial"/>
              <a:buNone/>
            </a:pPr>
            <a:r>
              <a:rPr lang="en-US" sz="4000" b="1" i="0" u="none">
                <a:solidFill>
                  <a:srgbClr val="3376C7"/>
                </a:solidFill>
                <a:latin typeface="Arial"/>
                <a:ea typeface="Arial"/>
                <a:cs typeface="Arial"/>
                <a:sym typeface="Arial"/>
              </a:rPr>
              <a:t>3. Hardware Implementation </a:t>
            </a:r>
            <a:endParaRPr/>
          </a:p>
        </p:txBody>
      </p:sp>
      <p:sp>
        <p:nvSpPr>
          <p:cNvPr id="193" name="Google Shape;193;p5">
            <a:extLst>
              <a:ext uri="{FF2B5EF4-FFF2-40B4-BE49-F238E27FC236}">
                <a16:creationId xmlns:a16="http://schemas.microsoft.com/office/drawing/2014/main" id="{A8EC1B7F-031B-75AD-1E9C-656FFA0A7337}"/>
              </a:ext>
            </a:extLst>
          </p:cNvPr>
          <p:cNvSpPr txBox="1"/>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Arial"/>
              <a:buNone/>
            </a:pPr>
            <a:fld id="{00000000-1234-1234-1234-123412341234}" type="slidenum">
              <a:rPr lang="en-US" sz="1200" b="0" i="0" u="none">
                <a:solidFill>
                  <a:srgbClr val="898989"/>
                </a:solidFill>
                <a:latin typeface="Arial"/>
                <a:ea typeface="Arial"/>
                <a:cs typeface="Arial"/>
                <a:sym typeface="Arial"/>
              </a:rPr>
              <a:t>19</a:t>
            </a:fld>
            <a:endParaRPr/>
          </a:p>
        </p:txBody>
      </p:sp>
      <p:sp>
        <p:nvSpPr>
          <p:cNvPr id="5" name="TextBox 4">
            <a:extLst>
              <a:ext uri="{FF2B5EF4-FFF2-40B4-BE49-F238E27FC236}">
                <a16:creationId xmlns:a16="http://schemas.microsoft.com/office/drawing/2014/main" id="{10F0EA52-F4C3-BD00-7A08-FEE076B88D99}"/>
              </a:ext>
            </a:extLst>
          </p:cNvPr>
          <p:cNvSpPr txBox="1"/>
          <p:nvPr/>
        </p:nvSpPr>
        <p:spPr>
          <a:xfrm>
            <a:off x="1826368" y="1178802"/>
            <a:ext cx="5491263" cy="477054"/>
          </a:xfrm>
          <a:prstGeom prst="rect">
            <a:avLst/>
          </a:prstGeom>
          <a:noFill/>
        </p:spPr>
        <p:txBody>
          <a:bodyPr wrap="square">
            <a:spAutoFit/>
          </a:bodyPr>
          <a:lstStyle/>
          <a:p>
            <a:pPr algn="ctr"/>
            <a:r>
              <a:rPr lang="en-US" sz="2500" b="1">
                <a:effectLst/>
                <a:latin typeface="+mj-lt"/>
                <a:ea typeface="Times New Roman" panose="02020603050405020304" pitchFamily="18" charset="0"/>
              </a:rPr>
              <a:t>Register File and FIFO Integration</a:t>
            </a:r>
            <a:endParaRPr lang="vi-VN" sz="2500" b="1">
              <a:latin typeface="+mj-lt"/>
            </a:endParaRPr>
          </a:p>
        </p:txBody>
      </p:sp>
      <p:pic>
        <p:nvPicPr>
          <p:cNvPr id="6" name="Picture 5">
            <a:extLst>
              <a:ext uri="{FF2B5EF4-FFF2-40B4-BE49-F238E27FC236}">
                <a16:creationId xmlns:a16="http://schemas.microsoft.com/office/drawing/2014/main" id="{3DC7E108-DE6B-C3CA-CBF0-2B865F920EC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047591" y="1967541"/>
            <a:ext cx="5048816" cy="3120424"/>
          </a:xfrm>
          <a:prstGeom prst="rect">
            <a:avLst/>
          </a:prstGeom>
          <a:noFill/>
          <a:ln>
            <a:noFill/>
          </a:ln>
        </p:spPr>
      </p:pic>
    </p:spTree>
    <p:extLst>
      <p:ext uri="{BB962C8B-B14F-4D97-AF65-F5344CB8AC3E}">
        <p14:creationId xmlns:p14="http://schemas.microsoft.com/office/powerpoint/2010/main" val="11147361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1">
          <a:extLst>
            <a:ext uri="{FF2B5EF4-FFF2-40B4-BE49-F238E27FC236}">
              <a16:creationId xmlns:a16="http://schemas.microsoft.com/office/drawing/2014/main" id="{6C55C601-F454-265D-5BB1-EE8021E91770}"/>
            </a:ext>
          </a:extLst>
        </p:cNvPr>
        <p:cNvGrpSpPr/>
        <p:nvPr/>
      </p:nvGrpSpPr>
      <p:grpSpPr>
        <a:xfrm>
          <a:off x="0" y="0"/>
          <a:ext cx="0" cy="0"/>
          <a:chOff x="0" y="0"/>
          <a:chExt cx="0" cy="0"/>
        </a:xfrm>
      </p:grpSpPr>
      <p:sp>
        <p:nvSpPr>
          <p:cNvPr id="192" name="Google Shape;192;p5">
            <a:extLst>
              <a:ext uri="{FF2B5EF4-FFF2-40B4-BE49-F238E27FC236}">
                <a16:creationId xmlns:a16="http://schemas.microsoft.com/office/drawing/2014/main" id="{39BD7E75-1C19-94E7-7379-6E77A48EF7EF}"/>
              </a:ext>
            </a:extLst>
          </p:cNvPr>
          <p:cNvSpPr txBox="1">
            <a:spLocks noGrp="1"/>
          </p:cNvSpPr>
          <p:nvPr>
            <p:ph type="title"/>
          </p:nvPr>
        </p:nvSpPr>
        <p:spPr>
          <a:xfrm>
            <a:off x="893762" y="288925"/>
            <a:ext cx="8250237" cy="674687"/>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00000"/>
              </a:lnSpc>
              <a:spcBef>
                <a:spcPts val="0"/>
              </a:spcBef>
              <a:spcAft>
                <a:spcPts val="0"/>
              </a:spcAft>
              <a:buClr>
                <a:srgbClr val="3376C7"/>
              </a:buClr>
              <a:buSzPts val="4000"/>
              <a:buFont typeface="Arial"/>
              <a:buNone/>
            </a:pPr>
            <a:r>
              <a:rPr lang="en-US" sz="4000" b="1" i="0" u="none">
                <a:solidFill>
                  <a:srgbClr val="3376C7"/>
                </a:solidFill>
                <a:latin typeface="Arial"/>
                <a:ea typeface="Arial"/>
                <a:cs typeface="Arial"/>
                <a:sym typeface="Arial"/>
              </a:rPr>
              <a:t>3. Hardware Implementation </a:t>
            </a:r>
            <a:endParaRPr/>
          </a:p>
        </p:txBody>
      </p:sp>
      <p:sp>
        <p:nvSpPr>
          <p:cNvPr id="193" name="Google Shape;193;p5">
            <a:extLst>
              <a:ext uri="{FF2B5EF4-FFF2-40B4-BE49-F238E27FC236}">
                <a16:creationId xmlns:a16="http://schemas.microsoft.com/office/drawing/2014/main" id="{46C7E6B3-DBE9-2FB6-A9DF-484F8634425A}"/>
              </a:ext>
            </a:extLst>
          </p:cNvPr>
          <p:cNvSpPr txBox="1"/>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Arial"/>
              <a:buNone/>
            </a:pPr>
            <a:fld id="{00000000-1234-1234-1234-123412341234}" type="slidenum">
              <a:rPr lang="en-US" sz="1200" b="0" i="0" u="none">
                <a:solidFill>
                  <a:srgbClr val="898989"/>
                </a:solidFill>
                <a:latin typeface="Arial"/>
                <a:ea typeface="Arial"/>
                <a:cs typeface="Arial"/>
                <a:sym typeface="Arial"/>
              </a:rPr>
              <a:t>20</a:t>
            </a:fld>
            <a:endParaRPr/>
          </a:p>
        </p:txBody>
      </p:sp>
      <p:pic>
        <p:nvPicPr>
          <p:cNvPr id="4" name="Picture 3" descr="A rectangular object with numbers and letters&#10;&#10;AI-generated content may be incorrect.">
            <a:extLst>
              <a:ext uri="{FF2B5EF4-FFF2-40B4-BE49-F238E27FC236}">
                <a16:creationId xmlns:a16="http://schemas.microsoft.com/office/drawing/2014/main" id="{5E39ADBE-2D5C-BD48-13C8-6F2E92ED0CB1}"/>
              </a:ext>
            </a:extLst>
          </p:cNvPr>
          <p:cNvPicPr>
            <a:picLocks noChangeAspect="1"/>
          </p:cNvPicPr>
          <p:nvPr/>
        </p:nvPicPr>
        <p:blipFill>
          <a:blip r:embed="rId3"/>
          <a:srcRect r="-1064" b="30298"/>
          <a:stretch/>
        </p:blipFill>
        <p:spPr>
          <a:xfrm>
            <a:off x="0" y="1100528"/>
            <a:ext cx="3878436" cy="4979259"/>
          </a:xfrm>
          <a:prstGeom prst="rect">
            <a:avLst/>
          </a:prstGeom>
        </p:spPr>
      </p:pic>
      <p:pic>
        <p:nvPicPr>
          <p:cNvPr id="8" name="Picture 7" descr="A white rectangular box with black text&#10;&#10;AI-generated content may be incorrect.">
            <a:extLst>
              <a:ext uri="{FF2B5EF4-FFF2-40B4-BE49-F238E27FC236}">
                <a16:creationId xmlns:a16="http://schemas.microsoft.com/office/drawing/2014/main" id="{5C67A595-7562-B009-7325-F21C25A778AF}"/>
              </a:ext>
            </a:extLst>
          </p:cNvPr>
          <p:cNvPicPr>
            <a:picLocks noChangeAspect="1"/>
          </p:cNvPicPr>
          <p:nvPr/>
        </p:nvPicPr>
        <p:blipFill>
          <a:blip r:embed="rId4"/>
          <a:stretch>
            <a:fillRect/>
          </a:stretch>
        </p:blipFill>
        <p:spPr>
          <a:xfrm>
            <a:off x="5018880" y="1877744"/>
            <a:ext cx="3914775" cy="2771775"/>
          </a:xfrm>
          <a:prstGeom prst="rect">
            <a:avLst/>
          </a:prstGeom>
        </p:spPr>
      </p:pic>
      <p:sp>
        <p:nvSpPr>
          <p:cNvPr id="10" name="Arrow: Right 9">
            <a:extLst>
              <a:ext uri="{FF2B5EF4-FFF2-40B4-BE49-F238E27FC236}">
                <a16:creationId xmlns:a16="http://schemas.microsoft.com/office/drawing/2014/main" id="{17D1461C-85C2-53E2-1564-CF4E361C3F4B}"/>
              </a:ext>
            </a:extLst>
          </p:cNvPr>
          <p:cNvSpPr/>
          <p:nvPr/>
        </p:nvSpPr>
        <p:spPr>
          <a:xfrm>
            <a:off x="3878436" y="1965293"/>
            <a:ext cx="1062407" cy="40856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Tree>
    <p:extLst>
      <p:ext uri="{BB962C8B-B14F-4D97-AF65-F5344CB8AC3E}">
        <p14:creationId xmlns:p14="http://schemas.microsoft.com/office/powerpoint/2010/main" val="3830305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1">
          <a:extLst>
            <a:ext uri="{FF2B5EF4-FFF2-40B4-BE49-F238E27FC236}">
              <a16:creationId xmlns:a16="http://schemas.microsoft.com/office/drawing/2014/main" id="{39874E98-FB4A-C52B-EDEF-DCD61DE6519D}"/>
            </a:ext>
          </a:extLst>
        </p:cNvPr>
        <p:cNvGrpSpPr/>
        <p:nvPr/>
      </p:nvGrpSpPr>
      <p:grpSpPr>
        <a:xfrm>
          <a:off x="0" y="0"/>
          <a:ext cx="0" cy="0"/>
          <a:chOff x="0" y="0"/>
          <a:chExt cx="0" cy="0"/>
        </a:xfrm>
      </p:grpSpPr>
      <p:sp>
        <p:nvSpPr>
          <p:cNvPr id="192" name="Google Shape;192;p5">
            <a:extLst>
              <a:ext uri="{FF2B5EF4-FFF2-40B4-BE49-F238E27FC236}">
                <a16:creationId xmlns:a16="http://schemas.microsoft.com/office/drawing/2014/main" id="{D5039BF5-2578-F65B-6DF0-084B4E7F8535}"/>
              </a:ext>
            </a:extLst>
          </p:cNvPr>
          <p:cNvSpPr txBox="1">
            <a:spLocks noGrp="1"/>
          </p:cNvSpPr>
          <p:nvPr>
            <p:ph type="title"/>
          </p:nvPr>
        </p:nvSpPr>
        <p:spPr>
          <a:xfrm>
            <a:off x="893762" y="288925"/>
            <a:ext cx="8250237" cy="674687"/>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00000"/>
              </a:lnSpc>
              <a:spcBef>
                <a:spcPts val="0"/>
              </a:spcBef>
              <a:spcAft>
                <a:spcPts val="0"/>
              </a:spcAft>
              <a:buClr>
                <a:srgbClr val="3376C7"/>
              </a:buClr>
              <a:buSzPts val="4000"/>
              <a:buFont typeface="Arial"/>
              <a:buNone/>
            </a:pPr>
            <a:r>
              <a:rPr lang="en-US" sz="4000" b="1" i="0" u="none">
                <a:solidFill>
                  <a:srgbClr val="3376C7"/>
                </a:solidFill>
                <a:latin typeface="Arial"/>
                <a:ea typeface="Arial"/>
                <a:cs typeface="Arial"/>
                <a:sym typeface="Arial"/>
              </a:rPr>
              <a:t>3. Hardware Implementation </a:t>
            </a:r>
            <a:endParaRPr/>
          </a:p>
        </p:txBody>
      </p:sp>
      <p:sp>
        <p:nvSpPr>
          <p:cNvPr id="193" name="Google Shape;193;p5">
            <a:extLst>
              <a:ext uri="{FF2B5EF4-FFF2-40B4-BE49-F238E27FC236}">
                <a16:creationId xmlns:a16="http://schemas.microsoft.com/office/drawing/2014/main" id="{20EC798C-B754-744E-0582-71631AF0BFE3}"/>
              </a:ext>
            </a:extLst>
          </p:cNvPr>
          <p:cNvSpPr txBox="1"/>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Arial"/>
              <a:buNone/>
            </a:pPr>
            <a:fld id="{00000000-1234-1234-1234-123412341234}" type="slidenum">
              <a:rPr lang="en-US" sz="1200" b="0" i="0" u="none">
                <a:solidFill>
                  <a:srgbClr val="898989"/>
                </a:solidFill>
                <a:latin typeface="Arial"/>
                <a:ea typeface="Arial"/>
                <a:cs typeface="Arial"/>
                <a:sym typeface="Arial"/>
              </a:rPr>
              <a:t>21</a:t>
            </a:fld>
            <a:endParaRPr/>
          </a:p>
        </p:txBody>
      </p:sp>
      <p:pic>
        <p:nvPicPr>
          <p:cNvPr id="4" name="Picture 3" descr="A diagram of a diagram&#10;&#10;AI-generated content may be incorrect.">
            <a:extLst>
              <a:ext uri="{FF2B5EF4-FFF2-40B4-BE49-F238E27FC236}">
                <a16:creationId xmlns:a16="http://schemas.microsoft.com/office/drawing/2014/main" id="{59DD2EDD-5413-1431-4665-4D17E30D6E59}"/>
              </a:ext>
            </a:extLst>
          </p:cNvPr>
          <p:cNvPicPr>
            <a:picLocks noChangeAspect="1"/>
          </p:cNvPicPr>
          <p:nvPr/>
        </p:nvPicPr>
        <p:blipFill>
          <a:blip r:embed="rId3"/>
          <a:stretch>
            <a:fillRect/>
          </a:stretch>
        </p:blipFill>
        <p:spPr>
          <a:xfrm>
            <a:off x="0" y="1457112"/>
            <a:ext cx="3792673" cy="3943776"/>
          </a:xfrm>
          <a:prstGeom prst="rect">
            <a:avLst/>
          </a:prstGeom>
        </p:spPr>
      </p:pic>
      <p:sp>
        <p:nvSpPr>
          <p:cNvPr id="13" name="TextBox 12">
            <a:extLst>
              <a:ext uri="{FF2B5EF4-FFF2-40B4-BE49-F238E27FC236}">
                <a16:creationId xmlns:a16="http://schemas.microsoft.com/office/drawing/2014/main" id="{42DDEEB5-2FAC-7609-3093-19B32D31D6DA}"/>
              </a:ext>
            </a:extLst>
          </p:cNvPr>
          <p:cNvSpPr txBox="1"/>
          <p:nvPr/>
        </p:nvSpPr>
        <p:spPr>
          <a:xfrm>
            <a:off x="3968885" y="2029905"/>
            <a:ext cx="5175114" cy="3170099"/>
          </a:xfrm>
          <a:prstGeom prst="rect">
            <a:avLst/>
          </a:prstGeom>
          <a:noFill/>
        </p:spPr>
        <p:txBody>
          <a:bodyPr wrap="square">
            <a:spAutoFit/>
          </a:bodyPr>
          <a:lstStyle/>
          <a:p>
            <a:pPr marL="285750" indent="-285750">
              <a:buFont typeface="Arial" panose="020B0604020202020204" pitchFamily="34" charset="0"/>
              <a:buChar char="•"/>
            </a:pPr>
            <a:r>
              <a:rPr lang="en-US" sz="2500" b="1"/>
              <a:t>IDLE </a:t>
            </a:r>
            <a:r>
              <a:rPr lang="en-US" sz="2500"/>
              <a:t>waits for a write enable (w_en).</a:t>
            </a:r>
          </a:p>
          <a:p>
            <a:pPr marL="285750" indent="-285750">
              <a:buFont typeface="Arial" panose="020B0604020202020204" pitchFamily="34" charset="0"/>
              <a:buChar char="•"/>
            </a:pPr>
            <a:r>
              <a:rPr lang="en-US" sz="2500" b="1"/>
              <a:t>FETCH </a:t>
            </a:r>
            <a:r>
              <a:rPr lang="en-US" sz="2500"/>
              <a:t>initializes the write pointer.</a:t>
            </a:r>
          </a:p>
          <a:p>
            <a:pPr marL="285750" indent="-285750">
              <a:buFont typeface="Arial" panose="020B0604020202020204" pitchFamily="34" charset="0"/>
              <a:buChar char="•"/>
            </a:pPr>
            <a:r>
              <a:rPr lang="en-US" sz="2500" b="1"/>
              <a:t>RUN</a:t>
            </a:r>
            <a:r>
              <a:rPr lang="en-US" sz="2500"/>
              <a:t> sequentially writes 32-element vectors into memory.</a:t>
            </a:r>
          </a:p>
          <a:p>
            <a:pPr marL="285750" indent="-285750">
              <a:buFont typeface="Arial" panose="020B0604020202020204" pitchFamily="34" charset="0"/>
              <a:buChar char="•"/>
            </a:pPr>
            <a:r>
              <a:rPr lang="en-US" sz="2500"/>
              <a:t>Terminates when the full flag is asserted.</a:t>
            </a:r>
          </a:p>
        </p:txBody>
      </p:sp>
    </p:spTree>
    <p:extLst>
      <p:ext uri="{BB962C8B-B14F-4D97-AF65-F5344CB8AC3E}">
        <p14:creationId xmlns:p14="http://schemas.microsoft.com/office/powerpoint/2010/main" val="4917186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1">
          <a:extLst>
            <a:ext uri="{FF2B5EF4-FFF2-40B4-BE49-F238E27FC236}">
              <a16:creationId xmlns:a16="http://schemas.microsoft.com/office/drawing/2014/main" id="{69F555A3-3D62-B399-D326-9CB676CE3545}"/>
            </a:ext>
          </a:extLst>
        </p:cNvPr>
        <p:cNvGrpSpPr/>
        <p:nvPr/>
      </p:nvGrpSpPr>
      <p:grpSpPr>
        <a:xfrm>
          <a:off x="0" y="0"/>
          <a:ext cx="0" cy="0"/>
          <a:chOff x="0" y="0"/>
          <a:chExt cx="0" cy="0"/>
        </a:xfrm>
      </p:grpSpPr>
      <p:sp>
        <p:nvSpPr>
          <p:cNvPr id="192" name="Google Shape;192;p5">
            <a:extLst>
              <a:ext uri="{FF2B5EF4-FFF2-40B4-BE49-F238E27FC236}">
                <a16:creationId xmlns:a16="http://schemas.microsoft.com/office/drawing/2014/main" id="{AA8F719A-2B3F-7895-4D48-F67442F46E6A}"/>
              </a:ext>
            </a:extLst>
          </p:cNvPr>
          <p:cNvSpPr txBox="1">
            <a:spLocks noGrp="1"/>
          </p:cNvSpPr>
          <p:nvPr>
            <p:ph type="title"/>
          </p:nvPr>
        </p:nvSpPr>
        <p:spPr>
          <a:xfrm>
            <a:off x="893762" y="288925"/>
            <a:ext cx="8250237" cy="674687"/>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00000"/>
              </a:lnSpc>
              <a:spcBef>
                <a:spcPts val="0"/>
              </a:spcBef>
              <a:spcAft>
                <a:spcPts val="0"/>
              </a:spcAft>
              <a:buClr>
                <a:srgbClr val="3376C7"/>
              </a:buClr>
              <a:buSzPts val="4000"/>
              <a:buFont typeface="Arial"/>
              <a:buNone/>
            </a:pPr>
            <a:r>
              <a:rPr lang="en-US" sz="4000" b="1" i="0" u="none">
                <a:solidFill>
                  <a:srgbClr val="3376C7"/>
                </a:solidFill>
                <a:latin typeface="Arial"/>
                <a:ea typeface="Arial"/>
                <a:cs typeface="Arial"/>
                <a:sym typeface="Arial"/>
              </a:rPr>
              <a:t>3. Hardware Implementation </a:t>
            </a:r>
            <a:endParaRPr/>
          </a:p>
        </p:txBody>
      </p:sp>
      <p:sp>
        <p:nvSpPr>
          <p:cNvPr id="193" name="Google Shape;193;p5">
            <a:extLst>
              <a:ext uri="{FF2B5EF4-FFF2-40B4-BE49-F238E27FC236}">
                <a16:creationId xmlns:a16="http://schemas.microsoft.com/office/drawing/2014/main" id="{FD411987-E99F-A8E9-578D-7A3220679C38}"/>
              </a:ext>
            </a:extLst>
          </p:cNvPr>
          <p:cNvSpPr txBox="1"/>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Arial"/>
              <a:buNone/>
            </a:pPr>
            <a:fld id="{00000000-1234-1234-1234-123412341234}" type="slidenum">
              <a:rPr lang="en-US" sz="1200" b="0" i="0" u="none">
                <a:solidFill>
                  <a:srgbClr val="898989"/>
                </a:solidFill>
                <a:latin typeface="Arial"/>
                <a:ea typeface="Arial"/>
                <a:cs typeface="Arial"/>
                <a:sym typeface="Arial"/>
              </a:rPr>
              <a:t>22</a:t>
            </a:fld>
            <a:endParaRPr/>
          </a:p>
        </p:txBody>
      </p:sp>
      <p:sp>
        <p:nvSpPr>
          <p:cNvPr id="4" name="TextBox 3">
            <a:extLst>
              <a:ext uri="{FF2B5EF4-FFF2-40B4-BE49-F238E27FC236}">
                <a16:creationId xmlns:a16="http://schemas.microsoft.com/office/drawing/2014/main" id="{57907CC7-9766-B848-E92C-133456F9817A}"/>
              </a:ext>
            </a:extLst>
          </p:cNvPr>
          <p:cNvSpPr txBox="1"/>
          <p:nvPr/>
        </p:nvSpPr>
        <p:spPr>
          <a:xfrm>
            <a:off x="199418" y="1209511"/>
            <a:ext cx="4601182" cy="477054"/>
          </a:xfrm>
          <a:prstGeom prst="rect">
            <a:avLst/>
          </a:prstGeom>
          <a:noFill/>
        </p:spPr>
        <p:txBody>
          <a:bodyPr wrap="square">
            <a:spAutoFit/>
          </a:bodyPr>
          <a:lstStyle/>
          <a:p>
            <a:r>
              <a:rPr lang="en-US" sz="2500" b="1">
                <a:effectLst/>
                <a:latin typeface="+mj-lt"/>
                <a:ea typeface="Times New Roman" panose="02020603050405020304" pitchFamily="18" charset="0"/>
              </a:rPr>
              <a:t>TMATMUL Block</a:t>
            </a:r>
            <a:endParaRPr lang="vi-VN" sz="2500" b="1">
              <a:latin typeface="+mj-lt"/>
            </a:endParaRPr>
          </a:p>
        </p:txBody>
      </p:sp>
      <p:sp>
        <p:nvSpPr>
          <p:cNvPr id="8" name="TextBox 7">
            <a:extLst>
              <a:ext uri="{FF2B5EF4-FFF2-40B4-BE49-F238E27FC236}">
                <a16:creationId xmlns:a16="http://schemas.microsoft.com/office/drawing/2014/main" id="{46BFDB81-BCB5-086B-B6A6-457C6CFB5531}"/>
              </a:ext>
            </a:extLst>
          </p:cNvPr>
          <p:cNvSpPr txBox="1"/>
          <p:nvPr/>
        </p:nvSpPr>
        <p:spPr>
          <a:xfrm>
            <a:off x="992221" y="1942567"/>
            <a:ext cx="5369668" cy="1631216"/>
          </a:xfrm>
          <a:prstGeom prst="rect">
            <a:avLst/>
          </a:prstGeom>
          <a:noFill/>
        </p:spPr>
        <p:txBody>
          <a:bodyPr wrap="square">
            <a:spAutoFit/>
          </a:bodyPr>
          <a:lstStyle/>
          <a:p>
            <a:r>
              <a:rPr lang="en-US" sz="2500" b="1"/>
              <a:t>MUX: For ternary multiplication</a:t>
            </a:r>
          </a:p>
          <a:p>
            <a:pPr marL="342900" indent="-342900">
              <a:buFont typeface="Arial" panose="020B0604020202020204" pitchFamily="34" charset="0"/>
              <a:buChar char="•"/>
            </a:pPr>
            <a:r>
              <a:rPr lang="en-US" sz="2500"/>
              <a:t>01: Xnew = X</a:t>
            </a:r>
          </a:p>
          <a:p>
            <a:pPr marL="342900" indent="-342900">
              <a:buFont typeface="Arial" panose="020B0604020202020204" pitchFamily="34" charset="0"/>
              <a:buChar char="•"/>
            </a:pPr>
            <a:r>
              <a:rPr lang="en-US" sz="2500"/>
              <a:t>11: Xnew = -X</a:t>
            </a:r>
          </a:p>
          <a:p>
            <a:pPr marL="342900" indent="-342900">
              <a:buFont typeface="Arial" panose="020B0604020202020204" pitchFamily="34" charset="0"/>
              <a:buChar char="•"/>
            </a:pPr>
            <a:r>
              <a:rPr lang="en-US" sz="2500"/>
              <a:t>00: Xnew = 0</a:t>
            </a:r>
          </a:p>
        </p:txBody>
      </p:sp>
      <p:sp>
        <p:nvSpPr>
          <p:cNvPr id="11" name="TextBox 10">
            <a:extLst>
              <a:ext uri="{FF2B5EF4-FFF2-40B4-BE49-F238E27FC236}">
                <a16:creationId xmlns:a16="http://schemas.microsoft.com/office/drawing/2014/main" id="{D27A85E4-6A2E-18F5-2FD4-D7DA65709DAE}"/>
              </a:ext>
            </a:extLst>
          </p:cNvPr>
          <p:cNvSpPr txBox="1"/>
          <p:nvPr/>
        </p:nvSpPr>
        <p:spPr>
          <a:xfrm>
            <a:off x="0" y="3916337"/>
            <a:ext cx="9143999" cy="1818703"/>
          </a:xfrm>
          <a:prstGeom prst="rect">
            <a:avLst/>
          </a:prstGeom>
          <a:noFill/>
        </p:spPr>
        <p:txBody>
          <a:bodyPr wrap="square">
            <a:spAutoFit/>
          </a:bodyPr>
          <a:lstStyle/>
          <a:p>
            <a:pPr marL="457200" indent="-457200">
              <a:lnSpc>
                <a:spcPct val="150000"/>
              </a:lnSpc>
              <a:spcBef>
                <a:spcPts val="600"/>
              </a:spcBef>
              <a:spcAft>
                <a:spcPts val="1000"/>
              </a:spcAft>
              <a:buFont typeface="Arial" panose="020B0604020202020204" pitchFamily="34" charset="0"/>
              <a:buChar char="•"/>
              <a:tabLst>
                <a:tab pos="914400" algn="l"/>
              </a:tabLst>
            </a:pPr>
            <a:r>
              <a:rPr lang="vi-VN" sz="2600">
                <a:effectLst/>
                <a:latin typeface="+mn-lt"/>
                <a:ea typeface="Times New Roman" panose="02020603050405020304" pitchFamily="18" charset="0"/>
              </a:rPr>
              <a:t>This logic is implemented using a combinational always block for all 32 elements, allowing parallel ternary operation per cycle.</a:t>
            </a:r>
          </a:p>
        </p:txBody>
      </p:sp>
    </p:spTree>
    <p:extLst>
      <p:ext uri="{BB962C8B-B14F-4D97-AF65-F5344CB8AC3E}">
        <p14:creationId xmlns:p14="http://schemas.microsoft.com/office/powerpoint/2010/main" val="29576546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91">
          <a:extLst>
            <a:ext uri="{FF2B5EF4-FFF2-40B4-BE49-F238E27FC236}">
              <a16:creationId xmlns:a16="http://schemas.microsoft.com/office/drawing/2014/main" id="{9B17BD35-61D5-461F-945D-F8FEC32B523E}"/>
            </a:ext>
          </a:extLst>
        </p:cNvPr>
        <p:cNvGrpSpPr/>
        <p:nvPr/>
      </p:nvGrpSpPr>
      <p:grpSpPr>
        <a:xfrm>
          <a:off x="0" y="0"/>
          <a:ext cx="0" cy="0"/>
          <a:chOff x="0" y="0"/>
          <a:chExt cx="0" cy="0"/>
        </a:xfrm>
      </p:grpSpPr>
      <p:sp>
        <p:nvSpPr>
          <p:cNvPr id="192" name="Google Shape;192;p5">
            <a:extLst>
              <a:ext uri="{FF2B5EF4-FFF2-40B4-BE49-F238E27FC236}">
                <a16:creationId xmlns:a16="http://schemas.microsoft.com/office/drawing/2014/main" id="{E618200E-D707-3B88-082B-96D36BC2666D}"/>
              </a:ext>
            </a:extLst>
          </p:cNvPr>
          <p:cNvSpPr txBox="1">
            <a:spLocks noGrp="1"/>
          </p:cNvSpPr>
          <p:nvPr>
            <p:ph type="title"/>
          </p:nvPr>
        </p:nvSpPr>
        <p:spPr>
          <a:xfrm>
            <a:off x="893762" y="288925"/>
            <a:ext cx="8250237" cy="674687"/>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00000"/>
              </a:lnSpc>
              <a:spcBef>
                <a:spcPts val="0"/>
              </a:spcBef>
              <a:spcAft>
                <a:spcPts val="0"/>
              </a:spcAft>
              <a:buClr>
                <a:srgbClr val="3376C7"/>
              </a:buClr>
              <a:buSzPts val="4000"/>
              <a:buFont typeface="Arial"/>
              <a:buNone/>
            </a:pPr>
            <a:r>
              <a:rPr lang="en-US" sz="4000" b="1" i="0" u="none">
                <a:solidFill>
                  <a:srgbClr val="3376C7"/>
                </a:solidFill>
                <a:latin typeface="Arial"/>
                <a:ea typeface="Arial"/>
                <a:cs typeface="Arial"/>
                <a:sym typeface="Arial"/>
              </a:rPr>
              <a:t>3. Hardware Implementation </a:t>
            </a:r>
            <a:endParaRPr/>
          </a:p>
        </p:txBody>
      </p:sp>
      <p:sp>
        <p:nvSpPr>
          <p:cNvPr id="193" name="Google Shape;193;p5">
            <a:extLst>
              <a:ext uri="{FF2B5EF4-FFF2-40B4-BE49-F238E27FC236}">
                <a16:creationId xmlns:a16="http://schemas.microsoft.com/office/drawing/2014/main" id="{05DACB25-8DB4-E0A8-9D50-E7A77583C698}"/>
              </a:ext>
            </a:extLst>
          </p:cNvPr>
          <p:cNvSpPr txBox="1"/>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Arial"/>
              <a:buNone/>
            </a:pPr>
            <a:fld id="{00000000-1234-1234-1234-123412341234}" type="slidenum">
              <a:rPr lang="en-US" sz="1200" b="0" i="0" u="none">
                <a:solidFill>
                  <a:srgbClr val="898989"/>
                </a:solidFill>
                <a:latin typeface="Arial"/>
                <a:ea typeface="Arial"/>
                <a:cs typeface="Arial"/>
                <a:sym typeface="Arial"/>
              </a:rPr>
              <a:t>23</a:t>
            </a:fld>
            <a:endParaRPr/>
          </a:p>
        </p:txBody>
      </p:sp>
      <p:sp>
        <p:nvSpPr>
          <p:cNvPr id="4" name="TextBox 3">
            <a:extLst>
              <a:ext uri="{FF2B5EF4-FFF2-40B4-BE49-F238E27FC236}">
                <a16:creationId xmlns:a16="http://schemas.microsoft.com/office/drawing/2014/main" id="{33342B86-BCF1-34F4-D05C-1FF201DC00F2}"/>
              </a:ext>
            </a:extLst>
          </p:cNvPr>
          <p:cNvSpPr txBox="1"/>
          <p:nvPr/>
        </p:nvSpPr>
        <p:spPr>
          <a:xfrm>
            <a:off x="199418" y="1122960"/>
            <a:ext cx="4601182" cy="477054"/>
          </a:xfrm>
          <a:prstGeom prst="rect">
            <a:avLst/>
          </a:prstGeom>
          <a:noFill/>
        </p:spPr>
        <p:txBody>
          <a:bodyPr wrap="square">
            <a:spAutoFit/>
          </a:bodyPr>
          <a:lstStyle/>
          <a:p>
            <a:r>
              <a:rPr lang="en-US" sz="2500" b="1">
                <a:effectLst/>
                <a:latin typeface="+mj-lt"/>
                <a:ea typeface="Times New Roman" panose="02020603050405020304" pitchFamily="18" charset="0"/>
              </a:rPr>
              <a:t>TMATMUL Block for 1 row</a:t>
            </a:r>
            <a:endParaRPr lang="vi-VN" sz="2500" b="1">
              <a:latin typeface="+mj-lt"/>
            </a:endParaRPr>
          </a:p>
        </p:txBody>
      </p:sp>
      <p:pic>
        <p:nvPicPr>
          <p:cNvPr id="2" name="Picture 1" descr="A diagram of a matrix&#10;&#10;AI-generated content may be incorrect.">
            <a:extLst>
              <a:ext uri="{FF2B5EF4-FFF2-40B4-BE49-F238E27FC236}">
                <a16:creationId xmlns:a16="http://schemas.microsoft.com/office/drawing/2014/main" id="{2EF7693D-A77B-5020-ED09-1DDDB4C2CA6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96307" y="1600014"/>
            <a:ext cx="5351386" cy="4558345"/>
          </a:xfrm>
          <a:prstGeom prst="rect">
            <a:avLst/>
          </a:prstGeom>
          <a:noFill/>
          <a:ln>
            <a:noFill/>
          </a:ln>
        </p:spPr>
      </p:pic>
    </p:spTree>
    <p:extLst>
      <p:ext uri="{BB962C8B-B14F-4D97-AF65-F5344CB8AC3E}">
        <p14:creationId xmlns:p14="http://schemas.microsoft.com/office/powerpoint/2010/main" val="35349631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91">
          <a:extLst>
            <a:ext uri="{FF2B5EF4-FFF2-40B4-BE49-F238E27FC236}">
              <a16:creationId xmlns:a16="http://schemas.microsoft.com/office/drawing/2014/main" id="{9E7FE857-C141-18AC-A251-D336F84CE23D}"/>
            </a:ext>
          </a:extLst>
        </p:cNvPr>
        <p:cNvGrpSpPr/>
        <p:nvPr/>
      </p:nvGrpSpPr>
      <p:grpSpPr>
        <a:xfrm>
          <a:off x="0" y="0"/>
          <a:ext cx="0" cy="0"/>
          <a:chOff x="0" y="0"/>
          <a:chExt cx="0" cy="0"/>
        </a:xfrm>
      </p:grpSpPr>
      <p:sp>
        <p:nvSpPr>
          <p:cNvPr id="192" name="Google Shape;192;p5">
            <a:extLst>
              <a:ext uri="{FF2B5EF4-FFF2-40B4-BE49-F238E27FC236}">
                <a16:creationId xmlns:a16="http://schemas.microsoft.com/office/drawing/2014/main" id="{8343A344-C1F6-9F2C-F7A1-23238EE336A8}"/>
              </a:ext>
            </a:extLst>
          </p:cNvPr>
          <p:cNvSpPr txBox="1">
            <a:spLocks noGrp="1"/>
          </p:cNvSpPr>
          <p:nvPr>
            <p:ph type="title"/>
          </p:nvPr>
        </p:nvSpPr>
        <p:spPr>
          <a:xfrm>
            <a:off x="893762" y="288925"/>
            <a:ext cx="8250237" cy="674687"/>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00000"/>
              </a:lnSpc>
              <a:spcBef>
                <a:spcPts val="0"/>
              </a:spcBef>
              <a:spcAft>
                <a:spcPts val="0"/>
              </a:spcAft>
              <a:buClr>
                <a:srgbClr val="3376C7"/>
              </a:buClr>
              <a:buSzPts val="4000"/>
              <a:buFont typeface="Arial"/>
              <a:buNone/>
            </a:pPr>
            <a:r>
              <a:rPr lang="en-US" sz="4000" b="1" i="0" u="none">
                <a:solidFill>
                  <a:srgbClr val="3376C7"/>
                </a:solidFill>
                <a:latin typeface="Arial"/>
                <a:ea typeface="Arial"/>
                <a:cs typeface="Arial"/>
                <a:sym typeface="Arial"/>
              </a:rPr>
              <a:t>3. Hardware Implementation </a:t>
            </a:r>
            <a:endParaRPr/>
          </a:p>
        </p:txBody>
      </p:sp>
      <p:sp>
        <p:nvSpPr>
          <p:cNvPr id="193" name="Google Shape;193;p5">
            <a:extLst>
              <a:ext uri="{FF2B5EF4-FFF2-40B4-BE49-F238E27FC236}">
                <a16:creationId xmlns:a16="http://schemas.microsoft.com/office/drawing/2014/main" id="{B6F72D5C-6701-1907-0296-D9087DAF3CA4}"/>
              </a:ext>
            </a:extLst>
          </p:cNvPr>
          <p:cNvSpPr txBox="1"/>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Arial"/>
              <a:buNone/>
            </a:pPr>
            <a:fld id="{00000000-1234-1234-1234-123412341234}" type="slidenum">
              <a:rPr lang="en-US" sz="1200" b="0" i="0" u="none">
                <a:solidFill>
                  <a:srgbClr val="898989"/>
                </a:solidFill>
                <a:latin typeface="Arial"/>
                <a:ea typeface="Arial"/>
                <a:cs typeface="Arial"/>
                <a:sym typeface="Arial"/>
              </a:rPr>
              <a:t>24</a:t>
            </a:fld>
            <a:endParaRPr/>
          </a:p>
        </p:txBody>
      </p:sp>
      <p:sp>
        <p:nvSpPr>
          <p:cNvPr id="4" name="TextBox 3">
            <a:extLst>
              <a:ext uri="{FF2B5EF4-FFF2-40B4-BE49-F238E27FC236}">
                <a16:creationId xmlns:a16="http://schemas.microsoft.com/office/drawing/2014/main" id="{5E8EF0B1-DAD1-DAA2-5468-F612CE9C7F93}"/>
              </a:ext>
            </a:extLst>
          </p:cNvPr>
          <p:cNvSpPr txBox="1"/>
          <p:nvPr/>
        </p:nvSpPr>
        <p:spPr>
          <a:xfrm>
            <a:off x="199418" y="1122960"/>
            <a:ext cx="4601182" cy="477054"/>
          </a:xfrm>
          <a:prstGeom prst="rect">
            <a:avLst/>
          </a:prstGeom>
          <a:noFill/>
        </p:spPr>
        <p:txBody>
          <a:bodyPr wrap="square">
            <a:spAutoFit/>
          </a:bodyPr>
          <a:lstStyle/>
          <a:p>
            <a:r>
              <a:rPr lang="en-US" sz="2500" b="1">
                <a:effectLst/>
                <a:latin typeface="+mj-lt"/>
                <a:ea typeface="Times New Roman" panose="02020603050405020304" pitchFamily="18" charset="0"/>
              </a:rPr>
              <a:t>Pairwise accumulation</a:t>
            </a:r>
            <a:endParaRPr lang="vi-VN" sz="2500" b="1">
              <a:latin typeface="+mj-lt"/>
            </a:endParaRPr>
          </a:p>
        </p:txBody>
      </p:sp>
      <p:pic>
        <p:nvPicPr>
          <p:cNvPr id="5" name="Picture 4" descr="A diagram of a process&#10;&#10;AI-generated content may be incorrect.">
            <a:extLst>
              <a:ext uri="{FF2B5EF4-FFF2-40B4-BE49-F238E27FC236}">
                <a16:creationId xmlns:a16="http://schemas.microsoft.com/office/drawing/2014/main" id="{7E8C5BE4-C338-3AC4-7FA5-A86E7B708111}"/>
              </a:ext>
            </a:extLst>
          </p:cNvPr>
          <p:cNvPicPr>
            <a:picLocks noChangeAspect="1"/>
          </p:cNvPicPr>
          <p:nvPr/>
        </p:nvPicPr>
        <p:blipFill>
          <a:blip r:embed="rId3"/>
          <a:stretch>
            <a:fillRect/>
          </a:stretch>
        </p:blipFill>
        <p:spPr>
          <a:xfrm>
            <a:off x="2310900" y="1600014"/>
            <a:ext cx="4522199" cy="4581832"/>
          </a:xfrm>
          <a:prstGeom prst="rect">
            <a:avLst/>
          </a:prstGeom>
        </p:spPr>
      </p:pic>
    </p:spTree>
    <p:extLst>
      <p:ext uri="{BB962C8B-B14F-4D97-AF65-F5344CB8AC3E}">
        <p14:creationId xmlns:p14="http://schemas.microsoft.com/office/powerpoint/2010/main" val="12783931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91">
          <a:extLst>
            <a:ext uri="{FF2B5EF4-FFF2-40B4-BE49-F238E27FC236}">
              <a16:creationId xmlns:a16="http://schemas.microsoft.com/office/drawing/2014/main" id="{1DF6AC1E-0CDA-1263-BB39-BB0EA938CF70}"/>
            </a:ext>
          </a:extLst>
        </p:cNvPr>
        <p:cNvGrpSpPr/>
        <p:nvPr/>
      </p:nvGrpSpPr>
      <p:grpSpPr>
        <a:xfrm>
          <a:off x="0" y="0"/>
          <a:ext cx="0" cy="0"/>
          <a:chOff x="0" y="0"/>
          <a:chExt cx="0" cy="0"/>
        </a:xfrm>
      </p:grpSpPr>
      <p:sp>
        <p:nvSpPr>
          <p:cNvPr id="192" name="Google Shape;192;p5">
            <a:extLst>
              <a:ext uri="{FF2B5EF4-FFF2-40B4-BE49-F238E27FC236}">
                <a16:creationId xmlns:a16="http://schemas.microsoft.com/office/drawing/2014/main" id="{A768D0FF-DBA5-D715-23BD-FBBDF1480297}"/>
              </a:ext>
            </a:extLst>
          </p:cNvPr>
          <p:cNvSpPr txBox="1">
            <a:spLocks noGrp="1"/>
          </p:cNvSpPr>
          <p:nvPr>
            <p:ph type="title"/>
          </p:nvPr>
        </p:nvSpPr>
        <p:spPr>
          <a:xfrm>
            <a:off x="893762" y="288925"/>
            <a:ext cx="8250237" cy="674687"/>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00000"/>
              </a:lnSpc>
              <a:spcBef>
                <a:spcPts val="0"/>
              </a:spcBef>
              <a:spcAft>
                <a:spcPts val="0"/>
              </a:spcAft>
              <a:buClr>
                <a:srgbClr val="3376C7"/>
              </a:buClr>
              <a:buSzPts val="4000"/>
              <a:buFont typeface="Arial"/>
              <a:buNone/>
            </a:pPr>
            <a:r>
              <a:rPr lang="en-US" sz="4000" b="1" i="0" u="none">
                <a:solidFill>
                  <a:srgbClr val="3376C7"/>
                </a:solidFill>
                <a:latin typeface="Arial"/>
                <a:ea typeface="Arial"/>
                <a:cs typeface="Arial"/>
                <a:sym typeface="Arial"/>
              </a:rPr>
              <a:t>3. Hardware Implementation </a:t>
            </a:r>
            <a:endParaRPr/>
          </a:p>
        </p:txBody>
      </p:sp>
      <p:sp>
        <p:nvSpPr>
          <p:cNvPr id="193" name="Google Shape;193;p5">
            <a:extLst>
              <a:ext uri="{FF2B5EF4-FFF2-40B4-BE49-F238E27FC236}">
                <a16:creationId xmlns:a16="http://schemas.microsoft.com/office/drawing/2014/main" id="{DC218F61-9659-EB16-10C8-981A6DEE0007}"/>
              </a:ext>
            </a:extLst>
          </p:cNvPr>
          <p:cNvSpPr txBox="1"/>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Arial"/>
              <a:buNone/>
            </a:pPr>
            <a:fld id="{00000000-1234-1234-1234-123412341234}" type="slidenum">
              <a:rPr lang="en-US" sz="1200" b="0" i="0" u="none">
                <a:solidFill>
                  <a:srgbClr val="898989"/>
                </a:solidFill>
                <a:latin typeface="Arial"/>
                <a:ea typeface="Arial"/>
                <a:cs typeface="Arial"/>
                <a:sym typeface="Arial"/>
              </a:rPr>
              <a:t>25</a:t>
            </a:fld>
            <a:endParaRPr/>
          </a:p>
        </p:txBody>
      </p:sp>
      <p:sp>
        <p:nvSpPr>
          <p:cNvPr id="4" name="TextBox 3">
            <a:extLst>
              <a:ext uri="{FF2B5EF4-FFF2-40B4-BE49-F238E27FC236}">
                <a16:creationId xmlns:a16="http://schemas.microsoft.com/office/drawing/2014/main" id="{2DDF82E4-6D50-B12F-1460-C982BDDA034A}"/>
              </a:ext>
            </a:extLst>
          </p:cNvPr>
          <p:cNvSpPr txBox="1"/>
          <p:nvPr/>
        </p:nvSpPr>
        <p:spPr>
          <a:xfrm>
            <a:off x="199418" y="1122960"/>
            <a:ext cx="4601182" cy="477054"/>
          </a:xfrm>
          <a:prstGeom prst="rect">
            <a:avLst/>
          </a:prstGeom>
          <a:noFill/>
        </p:spPr>
        <p:txBody>
          <a:bodyPr wrap="square">
            <a:spAutoFit/>
          </a:bodyPr>
          <a:lstStyle/>
          <a:p>
            <a:r>
              <a:rPr lang="en-US" sz="2500" b="1">
                <a:effectLst/>
                <a:latin typeface="+mj-lt"/>
                <a:ea typeface="Times New Roman" panose="02020603050405020304" pitchFamily="18" charset="0"/>
              </a:rPr>
              <a:t>TMATMUL Block</a:t>
            </a:r>
            <a:endParaRPr lang="vi-VN" sz="2500" b="1">
              <a:latin typeface="+mj-lt"/>
            </a:endParaRPr>
          </a:p>
        </p:txBody>
      </p:sp>
      <p:sp>
        <p:nvSpPr>
          <p:cNvPr id="8" name="TextBox 7">
            <a:extLst>
              <a:ext uri="{FF2B5EF4-FFF2-40B4-BE49-F238E27FC236}">
                <a16:creationId xmlns:a16="http://schemas.microsoft.com/office/drawing/2014/main" id="{D93AE016-3346-31E1-528D-C8F68F9B31E0}"/>
              </a:ext>
            </a:extLst>
          </p:cNvPr>
          <p:cNvSpPr txBox="1"/>
          <p:nvPr/>
        </p:nvSpPr>
        <p:spPr>
          <a:xfrm>
            <a:off x="3579779" y="1905600"/>
            <a:ext cx="5564220" cy="3939540"/>
          </a:xfrm>
          <a:prstGeom prst="rect">
            <a:avLst/>
          </a:prstGeom>
          <a:noFill/>
        </p:spPr>
        <p:txBody>
          <a:bodyPr wrap="square">
            <a:spAutoFit/>
          </a:bodyPr>
          <a:lstStyle/>
          <a:p>
            <a:pPr marL="342900" indent="-342900">
              <a:buFont typeface="Arial" panose="020B0604020202020204" pitchFamily="34" charset="0"/>
              <a:buChar char="•"/>
            </a:pPr>
            <a:r>
              <a:rPr lang="en-US" sz="2500" b="1"/>
              <a:t>IDLE: </a:t>
            </a:r>
            <a:r>
              <a:rPr lang="en-US" sz="2500"/>
              <a:t>Waits for the TMATMUL instruction and verifies memory readiness.</a:t>
            </a:r>
          </a:p>
          <a:p>
            <a:pPr marL="342900" indent="-342900">
              <a:buFont typeface="Arial" panose="020B0604020202020204" pitchFamily="34" charset="0"/>
              <a:buChar char="•"/>
            </a:pPr>
            <a:r>
              <a:rPr lang="en-US" sz="2500" b="1"/>
              <a:t>READ:</a:t>
            </a:r>
            <a:r>
              <a:rPr lang="en-US" sz="2500"/>
              <a:t> Fetches ternary matrix and input vector from memory using dual read ports.</a:t>
            </a:r>
          </a:p>
          <a:p>
            <a:pPr marL="342900" indent="-342900">
              <a:buFont typeface="Arial" panose="020B0604020202020204" pitchFamily="34" charset="0"/>
              <a:buChar char="•"/>
            </a:pPr>
            <a:r>
              <a:rPr lang="en-US" sz="2500" b="1"/>
              <a:t>WRITE: </a:t>
            </a:r>
            <a:r>
              <a:rPr lang="en-US" sz="2500"/>
              <a:t>Performs ternary multiplication and accumulation. Run until reach end of 512x512 matrix, end multiplication.</a:t>
            </a:r>
          </a:p>
        </p:txBody>
      </p:sp>
      <p:pic>
        <p:nvPicPr>
          <p:cNvPr id="3" name="Picture 2" descr="A diagram of a diagram&#10;&#10;AI-generated content may be incorrect.">
            <a:extLst>
              <a:ext uri="{FF2B5EF4-FFF2-40B4-BE49-F238E27FC236}">
                <a16:creationId xmlns:a16="http://schemas.microsoft.com/office/drawing/2014/main" id="{B0F236A0-BFA7-DED8-4C37-14EB505BB5D8}"/>
              </a:ext>
            </a:extLst>
          </p:cNvPr>
          <p:cNvPicPr>
            <a:picLocks noChangeAspect="1"/>
          </p:cNvPicPr>
          <p:nvPr/>
        </p:nvPicPr>
        <p:blipFill>
          <a:blip r:embed="rId3"/>
          <a:stretch>
            <a:fillRect/>
          </a:stretch>
        </p:blipFill>
        <p:spPr>
          <a:xfrm>
            <a:off x="0" y="2201812"/>
            <a:ext cx="3556505" cy="3235349"/>
          </a:xfrm>
          <a:prstGeom prst="rect">
            <a:avLst/>
          </a:prstGeom>
        </p:spPr>
      </p:pic>
    </p:spTree>
    <p:extLst>
      <p:ext uri="{BB962C8B-B14F-4D97-AF65-F5344CB8AC3E}">
        <p14:creationId xmlns:p14="http://schemas.microsoft.com/office/powerpoint/2010/main" val="9868907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91">
          <a:extLst>
            <a:ext uri="{FF2B5EF4-FFF2-40B4-BE49-F238E27FC236}">
              <a16:creationId xmlns:a16="http://schemas.microsoft.com/office/drawing/2014/main" id="{6A0D6647-1120-04E4-B864-FD95662067FB}"/>
            </a:ext>
          </a:extLst>
        </p:cNvPr>
        <p:cNvGrpSpPr/>
        <p:nvPr/>
      </p:nvGrpSpPr>
      <p:grpSpPr>
        <a:xfrm>
          <a:off x="0" y="0"/>
          <a:ext cx="0" cy="0"/>
          <a:chOff x="0" y="0"/>
          <a:chExt cx="0" cy="0"/>
        </a:xfrm>
      </p:grpSpPr>
      <p:sp>
        <p:nvSpPr>
          <p:cNvPr id="192" name="Google Shape;192;p5">
            <a:extLst>
              <a:ext uri="{FF2B5EF4-FFF2-40B4-BE49-F238E27FC236}">
                <a16:creationId xmlns:a16="http://schemas.microsoft.com/office/drawing/2014/main" id="{80AA8DBF-0945-A9B2-ADD9-E9ADFD0B2B8E}"/>
              </a:ext>
            </a:extLst>
          </p:cNvPr>
          <p:cNvSpPr txBox="1">
            <a:spLocks noGrp="1"/>
          </p:cNvSpPr>
          <p:nvPr>
            <p:ph type="title"/>
          </p:nvPr>
        </p:nvSpPr>
        <p:spPr>
          <a:xfrm>
            <a:off x="893762" y="288925"/>
            <a:ext cx="8250237" cy="674687"/>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00000"/>
              </a:lnSpc>
              <a:spcBef>
                <a:spcPts val="0"/>
              </a:spcBef>
              <a:spcAft>
                <a:spcPts val="0"/>
              </a:spcAft>
              <a:buClr>
                <a:srgbClr val="3376C7"/>
              </a:buClr>
              <a:buSzPts val="4000"/>
              <a:buFont typeface="Arial"/>
              <a:buNone/>
            </a:pPr>
            <a:r>
              <a:rPr lang="en-US" sz="4000" b="1" i="0" u="none">
                <a:solidFill>
                  <a:srgbClr val="3376C7"/>
                </a:solidFill>
                <a:latin typeface="Arial"/>
                <a:ea typeface="Arial"/>
                <a:cs typeface="Arial"/>
                <a:sym typeface="Arial"/>
              </a:rPr>
              <a:t>3. Hardware Implementation </a:t>
            </a:r>
            <a:endParaRPr/>
          </a:p>
        </p:txBody>
      </p:sp>
      <p:sp>
        <p:nvSpPr>
          <p:cNvPr id="193" name="Google Shape;193;p5">
            <a:extLst>
              <a:ext uri="{FF2B5EF4-FFF2-40B4-BE49-F238E27FC236}">
                <a16:creationId xmlns:a16="http://schemas.microsoft.com/office/drawing/2014/main" id="{D724EED9-9333-4A43-5848-CC721A5CBC85}"/>
              </a:ext>
            </a:extLst>
          </p:cNvPr>
          <p:cNvSpPr txBox="1"/>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Arial"/>
              <a:buNone/>
            </a:pPr>
            <a:fld id="{00000000-1234-1234-1234-123412341234}" type="slidenum">
              <a:rPr lang="en-US" sz="1200" b="0" i="0" u="none">
                <a:solidFill>
                  <a:srgbClr val="898989"/>
                </a:solidFill>
                <a:latin typeface="Arial"/>
                <a:ea typeface="Arial"/>
                <a:cs typeface="Arial"/>
                <a:sym typeface="Arial"/>
              </a:rPr>
              <a:t>26</a:t>
            </a:fld>
            <a:endParaRPr/>
          </a:p>
        </p:txBody>
      </p:sp>
      <p:sp>
        <p:nvSpPr>
          <p:cNvPr id="4" name="TextBox 3">
            <a:extLst>
              <a:ext uri="{FF2B5EF4-FFF2-40B4-BE49-F238E27FC236}">
                <a16:creationId xmlns:a16="http://schemas.microsoft.com/office/drawing/2014/main" id="{16CE7F67-43B2-8125-7F37-7FD5B84B415B}"/>
              </a:ext>
            </a:extLst>
          </p:cNvPr>
          <p:cNvSpPr txBox="1"/>
          <p:nvPr/>
        </p:nvSpPr>
        <p:spPr>
          <a:xfrm>
            <a:off x="199418" y="1122960"/>
            <a:ext cx="4601182" cy="477054"/>
          </a:xfrm>
          <a:prstGeom prst="rect">
            <a:avLst/>
          </a:prstGeom>
          <a:noFill/>
        </p:spPr>
        <p:txBody>
          <a:bodyPr wrap="square">
            <a:spAutoFit/>
          </a:bodyPr>
          <a:lstStyle/>
          <a:p>
            <a:r>
              <a:rPr lang="en-US" sz="2500" b="1">
                <a:effectLst/>
                <a:latin typeface="+mj-lt"/>
                <a:ea typeface="Times New Roman" panose="02020603050405020304" pitchFamily="18" charset="0"/>
              </a:rPr>
              <a:t>Memory Subsystem</a:t>
            </a:r>
            <a:endParaRPr lang="vi-VN" sz="2500" b="1">
              <a:latin typeface="+mj-lt"/>
            </a:endParaRPr>
          </a:p>
        </p:txBody>
      </p:sp>
      <p:sp>
        <p:nvSpPr>
          <p:cNvPr id="8" name="TextBox 7">
            <a:extLst>
              <a:ext uri="{FF2B5EF4-FFF2-40B4-BE49-F238E27FC236}">
                <a16:creationId xmlns:a16="http://schemas.microsoft.com/office/drawing/2014/main" id="{6FA765F4-B522-F8CD-3557-B15382FFAE08}"/>
              </a:ext>
            </a:extLst>
          </p:cNvPr>
          <p:cNvSpPr txBox="1"/>
          <p:nvPr/>
        </p:nvSpPr>
        <p:spPr>
          <a:xfrm>
            <a:off x="0" y="1950834"/>
            <a:ext cx="5236869" cy="3554819"/>
          </a:xfrm>
          <a:prstGeom prst="rect">
            <a:avLst/>
          </a:prstGeom>
          <a:noFill/>
        </p:spPr>
        <p:txBody>
          <a:bodyPr wrap="square">
            <a:spAutoFit/>
          </a:bodyPr>
          <a:lstStyle/>
          <a:p>
            <a:pPr marL="342900" indent="-342900">
              <a:buFont typeface="Arial" panose="020B0604020202020204" pitchFamily="34" charset="0"/>
              <a:buChar char="•"/>
            </a:pPr>
            <a:r>
              <a:rPr lang="en-US" sz="2500" b="1"/>
              <a:t>Normal mode:</a:t>
            </a:r>
            <a:r>
              <a:rPr lang="en-US" sz="2500"/>
              <a:t> For typical arithmetic operations (ADD, SUB, EXP, etc.), vectors are read from compactly spaced addresses (e.g., offset by 16).</a:t>
            </a:r>
          </a:p>
          <a:p>
            <a:pPr marL="342900" indent="-342900">
              <a:buFont typeface="Arial" panose="020B0604020202020204" pitchFamily="34" charset="0"/>
              <a:buChar char="•"/>
            </a:pPr>
            <a:r>
              <a:rPr lang="en-US" sz="2500" b="1"/>
              <a:t>TMATMUL mode: </a:t>
            </a:r>
            <a:r>
              <a:rPr lang="en-US" sz="2500"/>
              <a:t>Have various registers to save addresses, enable parallel processing while running non-memory instructions</a:t>
            </a:r>
          </a:p>
        </p:txBody>
      </p:sp>
      <p:pic>
        <p:nvPicPr>
          <p:cNvPr id="5" name="Picture 4" descr="A diagram of a number of numbers&#10;&#10;AI-generated content may be incorrect.">
            <a:extLst>
              <a:ext uri="{FF2B5EF4-FFF2-40B4-BE49-F238E27FC236}">
                <a16:creationId xmlns:a16="http://schemas.microsoft.com/office/drawing/2014/main" id="{A96E30A2-6405-69D3-7E19-EE9F1212DD1F}"/>
              </a:ext>
            </a:extLst>
          </p:cNvPr>
          <p:cNvPicPr>
            <a:picLocks noChangeAspect="1"/>
          </p:cNvPicPr>
          <p:nvPr/>
        </p:nvPicPr>
        <p:blipFill>
          <a:blip r:embed="rId3"/>
          <a:stretch>
            <a:fillRect/>
          </a:stretch>
        </p:blipFill>
        <p:spPr>
          <a:xfrm>
            <a:off x="5156543" y="1110486"/>
            <a:ext cx="3707713" cy="5235514"/>
          </a:xfrm>
          <a:prstGeom prst="rect">
            <a:avLst/>
          </a:prstGeom>
        </p:spPr>
      </p:pic>
    </p:spTree>
    <p:extLst>
      <p:ext uri="{BB962C8B-B14F-4D97-AF65-F5344CB8AC3E}">
        <p14:creationId xmlns:p14="http://schemas.microsoft.com/office/powerpoint/2010/main" val="2771075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91">
          <a:extLst>
            <a:ext uri="{FF2B5EF4-FFF2-40B4-BE49-F238E27FC236}">
              <a16:creationId xmlns:a16="http://schemas.microsoft.com/office/drawing/2014/main" id="{DCFBDDC0-A647-E271-70C4-87F92C8382D6}"/>
            </a:ext>
          </a:extLst>
        </p:cNvPr>
        <p:cNvGrpSpPr/>
        <p:nvPr/>
      </p:nvGrpSpPr>
      <p:grpSpPr>
        <a:xfrm>
          <a:off x="0" y="0"/>
          <a:ext cx="0" cy="0"/>
          <a:chOff x="0" y="0"/>
          <a:chExt cx="0" cy="0"/>
        </a:xfrm>
      </p:grpSpPr>
      <p:sp>
        <p:nvSpPr>
          <p:cNvPr id="192" name="Google Shape;192;p5">
            <a:extLst>
              <a:ext uri="{FF2B5EF4-FFF2-40B4-BE49-F238E27FC236}">
                <a16:creationId xmlns:a16="http://schemas.microsoft.com/office/drawing/2014/main" id="{D0102C20-A963-F6C1-5707-B449D64FCCBD}"/>
              </a:ext>
            </a:extLst>
          </p:cNvPr>
          <p:cNvSpPr txBox="1">
            <a:spLocks noGrp="1"/>
          </p:cNvSpPr>
          <p:nvPr>
            <p:ph type="title"/>
          </p:nvPr>
        </p:nvSpPr>
        <p:spPr>
          <a:xfrm>
            <a:off x="893762" y="288925"/>
            <a:ext cx="8250237" cy="674687"/>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00000"/>
              </a:lnSpc>
              <a:spcBef>
                <a:spcPts val="0"/>
              </a:spcBef>
              <a:spcAft>
                <a:spcPts val="0"/>
              </a:spcAft>
              <a:buClr>
                <a:srgbClr val="3376C7"/>
              </a:buClr>
              <a:buSzPts val="4000"/>
              <a:buFont typeface="Arial"/>
              <a:buNone/>
            </a:pPr>
            <a:r>
              <a:rPr lang="en-US" sz="4000" b="1" i="0" u="none">
                <a:solidFill>
                  <a:srgbClr val="3376C7"/>
                </a:solidFill>
                <a:latin typeface="Arial"/>
                <a:ea typeface="Arial"/>
                <a:cs typeface="Arial"/>
                <a:sym typeface="Arial"/>
              </a:rPr>
              <a:t>3. Hardware Implementation </a:t>
            </a:r>
            <a:endParaRPr/>
          </a:p>
        </p:txBody>
      </p:sp>
      <p:sp>
        <p:nvSpPr>
          <p:cNvPr id="193" name="Google Shape;193;p5">
            <a:extLst>
              <a:ext uri="{FF2B5EF4-FFF2-40B4-BE49-F238E27FC236}">
                <a16:creationId xmlns:a16="http://schemas.microsoft.com/office/drawing/2014/main" id="{57995A3C-47CE-F231-2B20-0B4173BEC909}"/>
              </a:ext>
            </a:extLst>
          </p:cNvPr>
          <p:cNvSpPr txBox="1"/>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Arial"/>
              <a:buNone/>
            </a:pPr>
            <a:fld id="{00000000-1234-1234-1234-123412341234}" type="slidenum">
              <a:rPr lang="en-US" sz="1200" b="0" i="0" u="none">
                <a:solidFill>
                  <a:srgbClr val="898989"/>
                </a:solidFill>
                <a:latin typeface="Arial"/>
                <a:ea typeface="Arial"/>
                <a:cs typeface="Arial"/>
                <a:sym typeface="Arial"/>
              </a:rPr>
              <a:t>27</a:t>
            </a:fld>
            <a:endParaRPr/>
          </a:p>
        </p:txBody>
      </p:sp>
      <p:sp>
        <p:nvSpPr>
          <p:cNvPr id="4" name="TextBox 3">
            <a:extLst>
              <a:ext uri="{FF2B5EF4-FFF2-40B4-BE49-F238E27FC236}">
                <a16:creationId xmlns:a16="http://schemas.microsoft.com/office/drawing/2014/main" id="{BD76B327-51A0-853A-84D1-8EB1E6197C3E}"/>
              </a:ext>
            </a:extLst>
          </p:cNvPr>
          <p:cNvSpPr txBox="1"/>
          <p:nvPr/>
        </p:nvSpPr>
        <p:spPr>
          <a:xfrm>
            <a:off x="72957" y="1044302"/>
            <a:ext cx="4601182" cy="477054"/>
          </a:xfrm>
          <a:prstGeom prst="rect">
            <a:avLst/>
          </a:prstGeom>
          <a:noFill/>
        </p:spPr>
        <p:txBody>
          <a:bodyPr wrap="square">
            <a:spAutoFit/>
          </a:bodyPr>
          <a:lstStyle/>
          <a:p>
            <a:r>
              <a:rPr lang="en-US" sz="2500" b="1">
                <a:effectLst/>
                <a:latin typeface="+mj-lt"/>
                <a:ea typeface="Times New Roman" panose="02020603050405020304" pitchFamily="18" charset="0"/>
              </a:rPr>
              <a:t>Arithmetic Logic Unit (ALU)</a:t>
            </a:r>
            <a:endParaRPr lang="vi-VN" sz="2500" b="1">
              <a:latin typeface="+mj-lt"/>
            </a:endParaRPr>
          </a:p>
        </p:txBody>
      </p:sp>
      <p:sp>
        <p:nvSpPr>
          <p:cNvPr id="10" name="TextBox 9">
            <a:extLst>
              <a:ext uri="{FF2B5EF4-FFF2-40B4-BE49-F238E27FC236}">
                <a16:creationId xmlns:a16="http://schemas.microsoft.com/office/drawing/2014/main" id="{81C53447-8C1F-FB0D-A01E-CC50DCB12609}"/>
              </a:ext>
            </a:extLst>
          </p:cNvPr>
          <p:cNvSpPr txBox="1"/>
          <p:nvPr/>
        </p:nvSpPr>
        <p:spPr>
          <a:xfrm>
            <a:off x="72957" y="1602046"/>
            <a:ext cx="8998086" cy="4693593"/>
          </a:xfrm>
          <a:prstGeom prst="rect">
            <a:avLst/>
          </a:prstGeom>
          <a:noFill/>
        </p:spPr>
        <p:txBody>
          <a:bodyPr wrap="square">
            <a:spAutoFit/>
          </a:bodyPr>
          <a:lstStyle/>
          <a:p>
            <a:r>
              <a:rPr lang="vi-VN" sz="2300" b="1"/>
              <a:t>Arithmetic Operations:</a:t>
            </a:r>
          </a:p>
          <a:p>
            <a:pPr marL="342900" indent="-342900">
              <a:buFont typeface="Arial" panose="020B0604020202020204" pitchFamily="34" charset="0"/>
              <a:buChar char="•"/>
            </a:pPr>
            <a:r>
              <a:rPr lang="vi-VN" sz="2300"/>
              <a:t>ADD: Row-wise addition between two vectors</a:t>
            </a:r>
          </a:p>
          <a:p>
            <a:pPr marL="342900" indent="-342900">
              <a:buFont typeface="Arial" panose="020B0604020202020204" pitchFamily="34" charset="0"/>
              <a:buChar char="•"/>
            </a:pPr>
            <a:r>
              <a:rPr lang="vi-VN" sz="2300"/>
              <a:t>SUB: Row-wise subtraction</a:t>
            </a:r>
          </a:p>
          <a:p>
            <a:pPr marL="342900" indent="-342900">
              <a:buFont typeface="Arial" panose="020B0604020202020204" pitchFamily="34" charset="0"/>
              <a:buChar char="•"/>
            </a:pPr>
            <a:r>
              <a:rPr lang="vi-VN" sz="2300"/>
              <a:t>MUL: Row-wise multiplication</a:t>
            </a:r>
          </a:p>
          <a:p>
            <a:pPr marL="342900" indent="-342900">
              <a:buFont typeface="Arial" panose="020B0604020202020204" pitchFamily="34" charset="0"/>
              <a:buChar char="•"/>
            </a:pPr>
            <a:r>
              <a:rPr lang="vi-VN" sz="2300"/>
              <a:t>DIV: Row-wise division</a:t>
            </a:r>
          </a:p>
          <a:p>
            <a:r>
              <a:rPr lang="vi-VN" sz="2300" b="1"/>
              <a:t>Activation Functions:</a:t>
            </a:r>
          </a:p>
          <a:p>
            <a:pPr marL="342900" indent="-342900">
              <a:buFont typeface="Arial" panose="020B0604020202020204" pitchFamily="34" charset="0"/>
              <a:buChar char="•"/>
            </a:pPr>
            <a:r>
              <a:rPr lang="vi-VN" sz="2300"/>
              <a:t>EXP: Row-wise exponential using a lookup table</a:t>
            </a:r>
          </a:p>
          <a:p>
            <a:pPr marL="342900" indent="-342900">
              <a:buFont typeface="Arial" panose="020B0604020202020204" pitchFamily="34" charset="0"/>
              <a:buChar char="•"/>
            </a:pPr>
            <a:r>
              <a:rPr lang="vi-VN" sz="2300"/>
              <a:t>SIG: Row-wise sigmoid activation using a lookup table</a:t>
            </a:r>
          </a:p>
          <a:p>
            <a:r>
              <a:rPr lang="vi-VN" sz="2300" b="1"/>
              <a:t>Normalization:</a:t>
            </a:r>
          </a:p>
          <a:p>
            <a:pPr marL="342900" indent="-342900">
              <a:buFont typeface="Arial" panose="020B0604020202020204" pitchFamily="34" charset="0"/>
              <a:buChar char="•"/>
            </a:pPr>
            <a:r>
              <a:rPr lang="vi-VN" sz="2300"/>
              <a:t>NORM: Root Mean Square (RMS) normalization over a vector</a:t>
            </a:r>
          </a:p>
          <a:p>
            <a:endParaRPr lang="vi-VN" sz="2300"/>
          </a:p>
          <a:p>
            <a:r>
              <a:rPr lang="vi-VN" sz="2300"/>
              <a:t>Each operation is triggered via an ALU control signal (alu_op), which is decoded from the instruction's opcode in the Decode stage.  </a:t>
            </a:r>
          </a:p>
        </p:txBody>
      </p:sp>
    </p:spTree>
    <p:extLst>
      <p:ext uri="{BB962C8B-B14F-4D97-AF65-F5344CB8AC3E}">
        <p14:creationId xmlns:p14="http://schemas.microsoft.com/office/powerpoint/2010/main" val="28340201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91">
          <a:extLst>
            <a:ext uri="{FF2B5EF4-FFF2-40B4-BE49-F238E27FC236}">
              <a16:creationId xmlns:a16="http://schemas.microsoft.com/office/drawing/2014/main" id="{33AE0CE6-F27D-EF42-0348-28D25E1CAF84}"/>
            </a:ext>
          </a:extLst>
        </p:cNvPr>
        <p:cNvGrpSpPr/>
        <p:nvPr/>
      </p:nvGrpSpPr>
      <p:grpSpPr>
        <a:xfrm>
          <a:off x="0" y="0"/>
          <a:ext cx="0" cy="0"/>
          <a:chOff x="0" y="0"/>
          <a:chExt cx="0" cy="0"/>
        </a:xfrm>
      </p:grpSpPr>
      <p:sp>
        <p:nvSpPr>
          <p:cNvPr id="192" name="Google Shape;192;p5">
            <a:extLst>
              <a:ext uri="{FF2B5EF4-FFF2-40B4-BE49-F238E27FC236}">
                <a16:creationId xmlns:a16="http://schemas.microsoft.com/office/drawing/2014/main" id="{D12519CE-DEFC-A452-ED1C-875EC02CBC34}"/>
              </a:ext>
            </a:extLst>
          </p:cNvPr>
          <p:cNvSpPr txBox="1">
            <a:spLocks noGrp="1"/>
          </p:cNvSpPr>
          <p:nvPr>
            <p:ph type="title"/>
          </p:nvPr>
        </p:nvSpPr>
        <p:spPr>
          <a:xfrm>
            <a:off x="893762" y="288925"/>
            <a:ext cx="8250237" cy="674687"/>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00000"/>
              </a:lnSpc>
              <a:spcBef>
                <a:spcPts val="0"/>
              </a:spcBef>
              <a:spcAft>
                <a:spcPts val="0"/>
              </a:spcAft>
              <a:buClr>
                <a:srgbClr val="3376C7"/>
              </a:buClr>
              <a:buSzPts val="4000"/>
              <a:buFont typeface="Arial"/>
              <a:buNone/>
            </a:pPr>
            <a:r>
              <a:rPr lang="en-US" sz="4000" b="1" i="0" u="none">
                <a:solidFill>
                  <a:srgbClr val="3376C7"/>
                </a:solidFill>
                <a:latin typeface="Arial"/>
                <a:ea typeface="Arial"/>
                <a:cs typeface="Arial"/>
                <a:sym typeface="Arial"/>
              </a:rPr>
              <a:t>3. Hardware Implementation </a:t>
            </a:r>
            <a:endParaRPr/>
          </a:p>
        </p:txBody>
      </p:sp>
      <p:sp>
        <p:nvSpPr>
          <p:cNvPr id="193" name="Google Shape;193;p5">
            <a:extLst>
              <a:ext uri="{FF2B5EF4-FFF2-40B4-BE49-F238E27FC236}">
                <a16:creationId xmlns:a16="http://schemas.microsoft.com/office/drawing/2014/main" id="{1824E2AC-C596-9E9C-E314-1D59BF5D63A6}"/>
              </a:ext>
            </a:extLst>
          </p:cNvPr>
          <p:cNvSpPr txBox="1"/>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Arial"/>
              <a:buNone/>
            </a:pPr>
            <a:fld id="{00000000-1234-1234-1234-123412341234}" type="slidenum">
              <a:rPr lang="en-US" sz="1200" b="0" i="0" u="none">
                <a:solidFill>
                  <a:srgbClr val="898989"/>
                </a:solidFill>
                <a:latin typeface="Arial"/>
                <a:ea typeface="Arial"/>
                <a:cs typeface="Arial"/>
                <a:sym typeface="Arial"/>
              </a:rPr>
              <a:t>28</a:t>
            </a:fld>
            <a:endParaRPr/>
          </a:p>
        </p:txBody>
      </p:sp>
      <p:sp>
        <p:nvSpPr>
          <p:cNvPr id="4" name="TextBox 3">
            <a:extLst>
              <a:ext uri="{FF2B5EF4-FFF2-40B4-BE49-F238E27FC236}">
                <a16:creationId xmlns:a16="http://schemas.microsoft.com/office/drawing/2014/main" id="{1A12333F-539C-B6B7-7171-D7877D48322B}"/>
              </a:ext>
            </a:extLst>
          </p:cNvPr>
          <p:cNvSpPr txBox="1"/>
          <p:nvPr/>
        </p:nvSpPr>
        <p:spPr>
          <a:xfrm>
            <a:off x="199418" y="1122960"/>
            <a:ext cx="4601182" cy="477054"/>
          </a:xfrm>
          <a:prstGeom prst="rect">
            <a:avLst/>
          </a:prstGeom>
          <a:noFill/>
        </p:spPr>
        <p:txBody>
          <a:bodyPr wrap="square">
            <a:spAutoFit/>
          </a:bodyPr>
          <a:lstStyle/>
          <a:p>
            <a:r>
              <a:rPr lang="en-US" sz="2500" b="1">
                <a:effectLst/>
                <a:latin typeface="+mj-lt"/>
                <a:ea typeface="Times New Roman" panose="02020603050405020304" pitchFamily="18" charset="0"/>
              </a:rPr>
              <a:t>Arithmetic Logic Unit (ALU)</a:t>
            </a:r>
            <a:endParaRPr lang="vi-VN" sz="2500" b="1">
              <a:latin typeface="+mj-lt"/>
            </a:endParaRPr>
          </a:p>
        </p:txBody>
      </p:sp>
      <p:sp>
        <p:nvSpPr>
          <p:cNvPr id="5" name="TextBox 4">
            <a:extLst>
              <a:ext uri="{FF2B5EF4-FFF2-40B4-BE49-F238E27FC236}">
                <a16:creationId xmlns:a16="http://schemas.microsoft.com/office/drawing/2014/main" id="{C72399F7-6B7C-B8C4-2B3C-538CCE2E2233}"/>
              </a:ext>
            </a:extLst>
          </p:cNvPr>
          <p:cNvSpPr txBox="1"/>
          <p:nvPr/>
        </p:nvSpPr>
        <p:spPr>
          <a:xfrm>
            <a:off x="0" y="1835417"/>
            <a:ext cx="8988356" cy="3785652"/>
          </a:xfrm>
          <a:prstGeom prst="rect">
            <a:avLst/>
          </a:prstGeom>
          <a:noFill/>
        </p:spPr>
        <p:txBody>
          <a:bodyPr wrap="square">
            <a:spAutoFit/>
          </a:bodyPr>
          <a:lstStyle/>
          <a:p>
            <a:pPr>
              <a:spcBef>
                <a:spcPts val="600"/>
              </a:spcBef>
              <a:spcAft>
                <a:spcPts val="1000"/>
              </a:spcAft>
              <a:buNone/>
            </a:pPr>
            <a:r>
              <a:rPr lang="vi-VN" sz="2500">
                <a:effectLst/>
                <a:latin typeface="+mn-lt"/>
                <a:ea typeface="Times New Roman" panose="02020603050405020304" pitchFamily="18" charset="0"/>
              </a:rPr>
              <a:t>To maximize parallelism, operations across vector lanes are executed concurrently. This means that for every clock cycle, 32 element-wise operations are performed in parallel across the vector lanes.</a:t>
            </a:r>
          </a:p>
          <a:p>
            <a:pPr marL="342900" indent="-342900">
              <a:spcBef>
                <a:spcPts val="600"/>
              </a:spcBef>
              <a:spcAft>
                <a:spcPts val="1000"/>
              </a:spcAft>
              <a:buFont typeface="Arial" panose="020B0604020202020204" pitchFamily="34" charset="0"/>
              <a:buChar char="•"/>
            </a:pPr>
            <a:r>
              <a:rPr lang="vi-VN" sz="2500">
                <a:effectLst/>
                <a:latin typeface="+mn-lt"/>
                <a:ea typeface="Times New Roman" panose="02020603050405020304" pitchFamily="18" charset="0"/>
              </a:rPr>
              <a:t>alu_in_a[i] = reg_out_0_em[16*i +: 16];</a:t>
            </a:r>
          </a:p>
          <a:p>
            <a:pPr marL="342900" indent="-342900">
              <a:spcBef>
                <a:spcPts val="600"/>
              </a:spcBef>
              <a:spcAft>
                <a:spcPts val="1000"/>
              </a:spcAft>
              <a:buFont typeface="Arial" panose="020B0604020202020204" pitchFamily="34" charset="0"/>
              <a:buChar char="•"/>
            </a:pPr>
            <a:r>
              <a:rPr lang="vi-VN" sz="2500">
                <a:effectLst/>
                <a:latin typeface="+mn-lt"/>
                <a:ea typeface="Times New Roman" panose="02020603050405020304" pitchFamily="18" charset="0"/>
              </a:rPr>
              <a:t>alu_in_b[i] = reg_out_1_em[16*i +: 16];</a:t>
            </a:r>
          </a:p>
          <a:p>
            <a:pPr>
              <a:spcBef>
                <a:spcPts val="600"/>
              </a:spcBef>
              <a:spcAft>
                <a:spcPts val="1000"/>
              </a:spcAft>
            </a:pPr>
            <a:r>
              <a:rPr lang="vi-VN" sz="2500">
                <a:effectLst/>
                <a:latin typeface="+mn-lt"/>
                <a:ea typeface="Times New Roman" panose="02020603050405020304" pitchFamily="18" charset="0"/>
              </a:rPr>
              <a:t>Each operation generates a result lane (alu_out[i]), which is then aggregated into the 512-bit output vector.</a:t>
            </a:r>
          </a:p>
        </p:txBody>
      </p:sp>
    </p:spTree>
    <p:extLst>
      <p:ext uri="{BB962C8B-B14F-4D97-AF65-F5344CB8AC3E}">
        <p14:creationId xmlns:p14="http://schemas.microsoft.com/office/powerpoint/2010/main" val="39092847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91">
          <a:extLst>
            <a:ext uri="{FF2B5EF4-FFF2-40B4-BE49-F238E27FC236}">
              <a16:creationId xmlns:a16="http://schemas.microsoft.com/office/drawing/2014/main" id="{2FBF0BB6-EF53-9260-7155-714E78EC530E}"/>
            </a:ext>
          </a:extLst>
        </p:cNvPr>
        <p:cNvGrpSpPr/>
        <p:nvPr/>
      </p:nvGrpSpPr>
      <p:grpSpPr>
        <a:xfrm>
          <a:off x="0" y="0"/>
          <a:ext cx="0" cy="0"/>
          <a:chOff x="0" y="0"/>
          <a:chExt cx="0" cy="0"/>
        </a:xfrm>
      </p:grpSpPr>
      <p:sp>
        <p:nvSpPr>
          <p:cNvPr id="192" name="Google Shape;192;p5">
            <a:extLst>
              <a:ext uri="{FF2B5EF4-FFF2-40B4-BE49-F238E27FC236}">
                <a16:creationId xmlns:a16="http://schemas.microsoft.com/office/drawing/2014/main" id="{99F9EA69-3C5B-55F7-8105-2AA663240D66}"/>
              </a:ext>
            </a:extLst>
          </p:cNvPr>
          <p:cNvSpPr txBox="1">
            <a:spLocks noGrp="1"/>
          </p:cNvSpPr>
          <p:nvPr>
            <p:ph type="title"/>
          </p:nvPr>
        </p:nvSpPr>
        <p:spPr>
          <a:xfrm>
            <a:off x="893762" y="288925"/>
            <a:ext cx="8250237" cy="674687"/>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00000"/>
              </a:lnSpc>
              <a:spcBef>
                <a:spcPts val="0"/>
              </a:spcBef>
              <a:spcAft>
                <a:spcPts val="0"/>
              </a:spcAft>
              <a:buClr>
                <a:srgbClr val="3376C7"/>
              </a:buClr>
              <a:buSzPts val="4000"/>
              <a:buFont typeface="Arial"/>
              <a:buNone/>
            </a:pPr>
            <a:r>
              <a:rPr lang="en-US" sz="4000" b="1" i="0" u="none">
                <a:solidFill>
                  <a:srgbClr val="3376C7"/>
                </a:solidFill>
                <a:latin typeface="Arial"/>
                <a:ea typeface="Arial"/>
                <a:cs typeface="Arial"/>
                <a:sym typeface="Arial"/>
              </a:rPr>
              <a:t>3. Hardware Implementation </a:t>
            </a:r>
            <a:endParaRPr/>
          </a:p>
        </p:txBody>
      </p:sp>
      <p:sp>
        <p:nvSpPr>
          <p:cNvPr id="193" name="Google Shape;193;p5">
            <a:extLst>
              <a:ext uri="{FF2B5EF4-FFF2-40B4-BE49-F238E27FC236}">
                <a16:creationId xmlns:a16="http://schemas.microsoft.com/office/drawing/2014/main" id="{365EDC8C-4F8A-866A-94E6-59BB3E6C99AD}"/>
              </a:ext>
            </a:extLst>
          </p:cNvPr>
          <p:cNvSpPr txBox="1"/>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Arial"/>
              <a:buNone/>
            </a:pPr>
            <a:fld id="{00000000-1234-1234-1234-123412341234}" type="slidenum">
              <a:rPr lang="en-US" sz="1200" b="0" i="0" u="none">
                <a:solidFill>
                  <a:srgbClr val="898989"/>
                </a:solidFill>
                <a:latin typeface="Arial"/>
                <a:ea typeface="Arial"/>
                <a:cs typeface="Arial"/>
                <a:sym typeface="Arial"/>
              </a:rPr>
              <a:t>29</a:t>
            </a:fld>
            <a:endParaRPr/>
          </a:p>
        </p:txBody>
      </p:sp>
      <p:pic>
        <p:nvPicPr>
          <p:cNvPr id="3" name="Picture 2">
            <a:extLst>
              <a:ext uri="{FF2B5EF4-FFF2-40B4-BE49-F238E27FC236}">
                <a16:creationId xmlns:a16="http://schemas.microsoft.com/office/drawing/2014/main" id="{AD6B7011-EE03-0E68-6638-18754545864B}"/>
              </a:ext>
            </a:extLst>
          </p:cNvPr>
          <p:cNvPicPr>
            <a:picLocks noChangeAspect="1"/>
          </p:cNvPicPr>
          <p:nvPr/>
        </p:nvPicPr>
        <p:blipFill rotWithShape="1">
          <a:blip r:embed="rId3">
            <a:extLst>
              <a:ext uri="{28A0092B-C50C-407E-A947-70E740481C1C}">
                <a14:useLocalDpi xmlns:a14="http://schemas.microsoft.com/office/drawing/2010/main" val="0"/>
              </a:ext>
            </a:extLst>
          </a:blip>
          <a:srcRect l="3105"/>
          <a:stretch/>
        </p:blipFill>
        <p:spPr bwMode="auto">
          <a:xfrm>
            <a:off x="-1" y="1697990"/>
            <a:ext cx="9143999" cy="3867578"/>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6570952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05">
          <a:extLst>
            <a:ext uri="{FF2B5EF4-FFF2-40B4-BE49-F238E27FC236}">
              <a16:creationId xmlns:a16="http://schemas.microsoft.com/office/drawing/2014/main" id="{9506603A-4C14-719B-117F-44B40D390A91}"/>
            </a:ext>
          </a:extLst>
        </p:cNvPr>
        <p:cNvGrpSpPr/>
        <p:nvPr/>
      </p:nvGrpSpPr>
      <p:grpSpPr>
        <a:xfrm>
          <a:off x="0" y="0"/>
          <a:ext cx="0" cy="0"/>
          <a:chOff x="0" y="0"/>
          <a:chExt cx="0" cy="0"/>
        </a:xfrm>
      </p:grpSpPr>
      <p:sp>
        <p:nvSpPr>
          <p:cNvPr id="206" name="Google Shape;206;p7">
            <a:extLst>
              <a:ext uri="{FF2B5EF4-FFF2-40B4-BE49-F238E27FC236}">
                <a16:creationId xmlns:a16="http://schemas.microsoft.com/office/drawing/2014/main" id="{6ABEE583-C9DF-7C89-8AA8-F0BB6A4214B2}"/>
              </a:ext>
            </a:extLst>
          </p:cNvPr>
          <p:cNvSpPr txBox="1">
            <a:spLocks noGrp="1"/>
          </p:cNvSpPr>
          <p:nvPr>
            <p:ph type="title"/>
          </p:nvPr>
        </p:nvSpPr>
        <p:spPr>
          <a:xfrm>
            <a:off x="893762" y="288925"/>
            <a:ext cx="8250237" cy="674687"/>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00000"/>
              </a:lnSpc>
              <a:spcBef>
                <a:spcPts val="0"/>
              </a:spcBef>
              <a:spcAft>
                <a:spcPts val="0"/>
              </a:spcAft>
              <a:buClr>
                <a:srgbClr val="3376C7"/>
              </a:buClr>
              <a:buSzPts val="4000"/>
              <a:buFont typeface="Arial"/>
              <a:buNone/>
            </a:pPr>
            <a:r>
              <a:rPr lang="en-US" sz="4000" b="1" i="0" u="none">
                <a:solidFill>
                  <a:srgbClr val="3376C7"/>
                </a:solidFill>
                <a:latin typeface="Arial"/>
                <a:ea typeface="Arial"/>
                <a:cs typeface="Arial"/>
                <a:sym typeface="Arial"/>
              </a:rPr>
              <a:t>4. Software implementation</a:t>
            </a:r>
            <a:endParaRPr/>
          </a:p>
        </p:txBody>
      </p:sp>
      <p:sp>
        <p:nvSpPr>
          <p:cNvPr id="207" name="Google Shape;207;p7">
            <a:extLst>
              <a:ext uri="{FF2B5EF4-FFF2-40B4-BE49-F238E27FC236}">
                <a16:creationId xmlns:a16="http://schemas.microsoft.com/office/drawing/2014/main" id="{294A34BE-9855-23FD-FDC4-4FB286BB8A1C}"/>
              </a:ext>
            </a:extLst>
          </p:cNvPr>
          <p:cNvSpPr txBox="1"/>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Arial"/>
              <a:buNone/>
            </a:pPr>
            <a:fld id="{00000000-1234-1234-1234-123412341234}" type="slidenum">
              <a:rPr lang="en-US" sz="1200" b="0" i="0" u="none">
                <a:solidFill>
                  <a:srgbClr val="898989"/>
                </a:solidFill>
                <a:latin typeface="Arial"/>
                <a:ea typeface="Arial"/>
                <a:cs typeface="Arial"/>
                <a:sym typeface="Arial"/>
              </a:rPr>
              <a:t>30</a:t>
            </a:fld>
            <a:endParaRPr/>
          </a:p>
        </p:txBody>
      </p:sp>
      <p:pic>
        <p:nvPicPr>
          <p:cNvPr id="4" name="Picture 3" descr="A diagram of a process&#10;&#10;AI-generated content may be incorrect.">
            <a:extLst>
              <a:ext uri="{FF2B5EF4-FFF2-40B4-BE49-F238E27FC236}">
                <a16:creationId xmlns:a16="http://schemas.microsoft.com/office/drawing/2014/main" id="{9050E025-346B-AC86-4417-283FFAB90D12}"/>
              </a:ext>
            </a:extLst>
          </p:cNvPr>
          <p:cNvPicPr>
            <a:picLocks noChangeAspect="1"/>
          </p:cNvPicPr>
          <p:nvPr/>
        </p:nvPicPr>
        <p:blipFill>
          <a:blip r:embed="rId3"/>
          <a:stretch>
            <a:fillRect/>
          </a:stretch>
        </p:blipFill>
        <p:spPr>
          <a:xfrm>
            <a:off x="404311" y="1346451"/>
            <a:ext cx="4079199" cy="4203152"/>
          </a:xfrm>
          <a:prstGeom prst="rect">
            <a:avLst/>
          </a:prstGeom>
        </p:spPr>
      </p:pic>
      <p:graphicFrame>
        <p:nvGraphicFramePr>
          <p:cNvPr id="2" name="Object 1">
            <a:extLst>
              <a:ext uri="{FF2B5EF4-FFF2-40B4-BE49-F238E27FC236}">
                <a16:creationId xmlns:a16="http://schemas.microsoft.com/office/drawing/2014/main" id="{9ECE1042-D763-9EAB-3899-2F465EC3CF6E}"/>
              </a:ext>
            </a:extLst>
          </p:cNvPr>
          <p:cNvGraphicFramePr>
            <a:graphicFrameLocks noChangeAspect="1"/>
          </p:cNvGraphicFramePr>
          <p:nvPr>
            <p:extLst>
              <p:ext uri="{D42A27DB-BD31-4B8C-83A1-F6EECF244321}">
                <p14:modId xmlns:p14="http://schemas.microsoft.com/office/powerpoint/2010/main" val="1233739251"/>
              </p:ext>
            </p:extLst>
          </p:nvPr>
        </p:nvGraphicFramePr>
        <p:xfrm>
          <a:off x="4483510" y="1308397"/>
          <a:ext cx="4256179" cy="806434"/>
        </p:xfrm>
        <a:graphic>
          <a:graphicData uri="http://schemas.openxmlformats.org/presentationml/2006/ole">
            <mc:AlternateContent xmlns:mc="http://schemas.openxmlformats.org/markup-compatibility/2006">
              <mc:Choice xmlns:v="urn:schemas-microsoft-com:vml" Requires="v">
                <p:oleObj name="Equation" r:id="rId4" imgW="1507950" imgH="285770" progId="Equation.DSMT4">
                  <p:embed/>
                </p:oleObj>
              </mc:Choice>
              <mc:Fallback>
                <p:oleObj name="Equation" r:id="rId4" imgW="1507950" imgH="285770" progId="Equation.DSMT4">
                  <p:embed/>
                  <p:pic>
                    <p:nvPicPr>
                      <p:cNvPr id="0" name=""/>
                      <p:cNvPicPr/>
                      <p:nvPr/>
                    </p:nvPicPr>
                    <p:blipFill>
                      <a:blip r:embed="rId5"/>
                      <a:stretch>
                        <a:fillRect/>
                      </a:stretch>
                    </p:blipFill>
                    <p:spPr>
                      <a:xfrm>
                        <a:off x="4483510" y="1308397"/>
                        <a:ext cx="4256179" cy="806434"/>
                      </a:xfrm>
                      <a:prstGeom prst="rect">
                        <a:avLst/>
                      </a:prstGeom>
                    </p:spPr>
                  </p:pic>
                </p:oleObj>
              </mc:Fallback>
            </mc:AlternateContent>
          </a:graphicData>
        </a:graphic>
      </p:graphicFrame>
      <p:sp>
        <p:nvSpPr>
          <p:cNvPr id="3" name="TextBox 2">
            <a:extLst>
              <a:ext uri="{FF2B5EF4-FFF2-40B4-BE49-F238E27FC236}">
                <a16:creationId xmlns:a16="http://schemas.microsoft.com/office/drawing/2014/main" id="{8C65C9B9-EDB9-ADC8-7474-301C6FE401CE}"/>
              </a:ext>
            </a:extLst>
          </p:cNvPr>
          <p:cNvSpPr txBox="1"/>
          <p:nvPr/>
        </p:nvSpPr>
        <p:spPr>
          <a:xfrm>
            <a:off x="5565058" y="2252482"/>
            <a:ext cx="2890684" cy="3426579"/>
          </a:xfrm>
          <a:prstGeom prst="rect">
            <a:avLst/>
          </a:prstGeom>
          <a:noFill/>
        </p:spPr>
        <p:txBody>
          <a:bodyPr wrap="square">
            <a:spAutoFit/>
          </a:bodyPr>
          <a:lstStyle/>
          <a:p>
            <a:pPr>
              <a:spcBef>
                <a:spcPts val="600"/>
              </a:spcBef>
              <a:spcAft>
                <a:spcPts val="1000"/>
              </a:spcAft>
              <a:buNone/>
            </a:pPr>
            <a:r>
              <a:rPr lang="vi-VN" sz="2500">
                <a:effectLst/>
                <a:latin typeface="+mn-lt"/>
                <a:ea typeface="Times New Roman" panose="02020603050405020304" pitchFamily="18" charset="0"/>
              </a:rPr>
              <a:t>NORM X</a:t>
            </a:r>
            <a:r>
              <a:rPr lang="vi-VN" sz="2500" baseline="-25000">
                <a:effectLst/>
                <a:latin typeface="+mn-lt"/>
                <a:ea typeface="Times New Roman" panose="02020603050405020304" pitchFamily="18" charset="0"/>
              </a:rPr>
              <a:t>1</a:t>
            </a:r>
          </a:p>
          <a:p>
            <a:pPr>
              <a:spcBef>
                <a:spcPts val="600"/>
              </a:spcBef>
              <a:spcAft>
                <a:spcPts val="1000"/>
              </a:spcAft>
              <a:buNone/>
            </a:pPr>
            <a:r>
              <a:rPr lang="vi-VN" sz="2500">
                <a:effectLst/>
                <a:latin typeface="+mn-lt"/>
                <a:ea typeface="Times New Roman" panose="02020603050405020304" pitchFamily="18" charset="0"/>
              </a:rPr>
              <a:t>Y</a:t>
            </a:r>
            <a:r>
              <a:rPr lang="vi-VN" sz="2500" baseline="-25000">
                <a:latin typeface="+mn-lt"/>
              </a:rPr>
              <a:t>1</a:t>
            </a:r>
            <a:r>
              <a:rPr lang="vi-VN" sz="2500">
                <a:effectLst/>
                <a:latin typeface="+mn-lt"/>
                <a:ea typeface="Times New Roman" panose="02020603050405020304" pitchFamily="18" charset="0"/>
              </a:rPr>
              <a:t>=X</a:t>
            </a:r>
            <a:r>
              <a:rPr lang="vi-VN" sz="2500" baseline="-25000">
                <a:latin typeface="+mn-lt"/>
              </a:rPr>
              <a:t>1</a:t>
            </a:r>
            <a:r>
              <a:rPr lang="vi-VN" sz="2500">
                <a:effectLst/>
                <a:latin typeface="+mn-lt"/>
                <a:ea typeface="Times New Roman" panose="02020603050405020304" pitchFamily="18" charset="0"/>
              </a:rPr>
              <a:t>W</a:t>
            </a:r>
            <a:r>
              <a:rPr lang="vi-VN" sz="2500" baseline="-25000">
                <a:latin typeface="+mn-lt"/>
              </a:rPr>
              <a:t>1</a:t>
            </a:r>
            <a:r>
              <a:rPr lang="vi-VN" sz="2500">
                <a:effectLst/>
                <a:latin typeface="+mn-lt"/>
                <a:ea typeface="Times New Roman" panose="02020603050405020304" pitchFamily="18" charset="0"/>
              </a:rPr>
              <a:t>+B</a:t>
            </a:r>
            <a:r>
              <a:rPr lang="vi-VN" sz="2500" baseline="-25000">
                <a:latin typeface="+mn-lt"/>
              </a:rPr>
              <a:t>1</a:t>
            </a:r>
          </a:p>
          <a:p>
            <a:pPr>
              <a:spcBef>
                <a:spcPts val="600"/>
              </a:spcBef>
              <a:spcAft>
                <a:spcPts val="1000"/>
              </a:spcAft>
            </a:pPr>
            <a:r>
              <a:rPr lang="vi-VN" sz="2500">
                <a:effectLst/>
                <a:latin typeface="+mn-lt"/>
                <a:ea typeface="Times New Roman" panose="02020603050405020304" pitchFamily="18" charset="0"/>
              </a:rPr>
              <a:t>SIGMOID </a:t>
            </a:r>
            <a:r>
              <a:rPr lang="vi-VN" sz="2500">
                <a:latin typeface="+mn-lt"/>
                <a:ea typeface="Times New Roman" panose="02020603050405020304" pitchFamily="18" charset="0"/>
              </a:rPr>
              <a:t>Y</a:t>
            </a:r>
            <a:r>
              <a:rPr lang="vi-VN" sz="2500" baseline="-25000">
                <a:latin typeface="+mn-lt"/>
              </a:rPr>
              <a:t>1</a:t>
            </a:r>
          </a:p>
          <a:p>
            <a:pPr>
              <a:spcBef>
                <a:spcPts val="600"/>
              </a:spcBef>
              <a:spcAft>
                <a:spcPts val="1000"/>
              </a:spcAft>
            </a:pPr>
            <a:r>
              <a:rPr lang="vi-VN" sz="2500">
                <a:effectLst/>
                <a:latin typeface="+mn-lt"/>
                <a:ea typeface="Times New Roman" panose="02020603050405020304" pitchFamily="18" charset="0"/>
              </a:rPr>
              <a:t>NORM X</a:t>
            </a:r>
            <a:r>
              <a:rPr lang="vi-VN" sz="2500" baseline="-25000">
                <a:latin typeface="+mn-lt"/>
              </a:rPr>
              <a:t>2</a:t>
            </a:r>
          </a:p>
          <a:p>
            <a:pPr>
              <a:spcBef>
                <a:spcPts val="600"/>
              </a:spcBef>
              <a:spcAft>
                <a:spcPts val="1000"/>
              </a:spcAft>
            </a:pPr>
            <a:r>
              <a:rPr lang="vi-VN" sz="2500">
                <a:latin typeface="+mn-lt"/>
                <a:ea typeface="Times New Roman" panose="02020603050405020304" pitchFamily="18" charset="0"/>
              </a:rPr>
              <a:t>Y</a:t>
            </a:r>
            <a:r>
              <a:rPr lang="vi-VN" sz="2500" baseline="-25000">
                <a:latin typeface="+mn-lt"/>
              </a:rPr>
              <a:t>2</a:t>
            </a:r>
            <a:r>
              <a:rPr lang="vi-VN" sz="2500">
                <a:latin typeface="+mn-lt"/>
                <a:ea typeface="Times New Roman" panose="02020603050405020304" pitchFamily="18" charset="0"/>
              </a:rPr>
              <a:t>=X</a:t>
            </a:r>
            <a:r>
              <a:rPr lang="vi-VN" sz="2500" baseline="-25000">
                <a:latin typeface="+mn-lt"/>
              </a:rPr>
              <a:t>2</a:t>
            </a:r>
            <a:r>
              <a:rPr lang="vi-VN" sz="2500">
                <a:latin typeface="+mn-lt"/>
                <a:ea typeface="Times New Roman" panose="02020603050405020304" pitchFamily="18" charset="0"/>
              </a:rPr>
              <a:t>W</a:t>
            </a:r>
            <a:r>
              <a:rPr lang="vi-VN" sz="2500" baseline="-25000">
                <a:latin typeface="+mn-lt"/>
              </a:rPr>
              <a:t>2</a:t>
            </a:r>
            <a:r>
              <a:rPr lang="vi-VN" sz="2500">
                <a:latin typeface="+mn-lt"/>
                <a:ea typeface="Times New Roman" panose="02020603050405020304" pitchFamily="18" charset="0"/>
              </a:rPr>
              <a:t>+B</a:t>
            </a:r>
            <a:r>
              <a:rPr lang="vi-VN" sz="2500" baseline="-25000">
                <a:latin typeface="+mn-lt"/>
              </a:rPr>
              <a:t>2</a:t>
            </a:r>
          </a:p>
          <a:p>
            <a:pPr>
              <a:spcBef>
                <a:spcPts val="600"/>
              </a:spcBef>
              <a:spcAft>
                <a:spcPts val="1000"/>
              </a:spcAft>
              <a:buNone/>
            </a:pPr>
            <a:r>
              <a:rPr lang="vi-VN" sz="2500">
                <a:effectLst/>
                <a:latin typeface="+mn-lt"/>
                <a:ea typeface="Times New Roman" panose="02020603050405020304" pitchFamily="18" charset="0"/>
              </a:rPr>
              <a:t>SIGMOID Y</a:t>
            </a:r>
            <a:r>
              <a:rPr lang="vi-VN" sz="2500" baseline="-25000">
                <a:latin typeface="+mn-lt"/>
              </a:rPr>
              <a:t>2</a:t>
            </a:r>
          </a:p>
        </p:txBody>
      </p:sp>
    </p:spTree>
    <p:extLst>
      <p:ext uri="{BB962C8B-B14F-4D97-AF65-F5344CB8AC3E}">
        <p14:creationId xmlns:p14="http://schemas.microsoft.com/office/powerpoint/2010/main" val="36395738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7"/>
          <p:cNvSpPr txBox="1">
            <a:spLocks noGrp="1"/>
          </p:cNvSpPr>
          <p:nvPr>
            <p:ph type="title"/>
          </p:nvPr>
        </p:nvSpPr>
        <p:spPr>
          <a:xfrm>
            <a:off x="893762" y="288925"/>
            <a:ext cx="8250237" cy="674687"/>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00000"/>
              </a:lnSpc>
              <a:spcBef>
                <a:spcPts val="0"/>
              </a:spcBef>
              <a:spcAft>
                <a:spcPts val="0"/>
              </a:spcAft>
              <a:buClr>
                <a:srgbClr val="3376C7"/>
              </a:buClr>
              <a:buSzPts val="4000"/>
              <a:buFont typeface="Arial"/>
              <a:buNone/>
            </a:pPr>
            <a:r>
              <a:rPr lang="en-US" sz="4000" b="1" i="0" u="none">
                <a:solidFill>
                  <a:srgbClr val="3376C7"/>
                </a:solidFill>
                <a:latin typeface="Arial"/>
                <a:ea typeface="Arial"/>
                <a:cs typeface="Arial"/>
                <a:sym typeface="Arial"/>
              </a:rPr>
              <a:t>4. Software implementation</a:t>
            </a:r>
            <a:endParaRPr/>
          </a:p>
        </p:txBody>
      </p:sp>
      <p:sp>
        <p:nvSpPr>
          <p:cNvPr id="207" name="Google Shape;207;p7"/>
          <p:cNvSpPr txBox="1"/>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Arial"/>
              <a:buNone/>
            </a:pPr>
            <a:fld id="{00000000-1234-1234-1234-123412341234}" type="slidenum">
              <a:rPr lang="en-US" sz="1200" b="0" i="0" u="none">
                <a:solidFill>
                  <a:srgbClr val="898989"/>
                </a:solidFill>
                <a:latin typeface="Arial"/>
                <a:ea typeface="Arial"/>
                <a:cs typeface="Arial"/>
                <a:sym typeface="Arial"/>
              </a:rPr>
              <a:t>31</a:t>
            </a:fld>
            <a:endParaRPr/>
          </a:p>
        </p:txBody>
      </p:sp>
      <p:sp>
        <p:nvSpPr>
          <p:cNvPr id="3" name="TextBox 2">
            <a:extLst>
              <a:ext uri="{FF2B5EF4-FFF2-40B4-BE49-F238E27FC236}">
                <a16:creationId xmlns:a16="http://schemas.microsoft.com/office/drawing/2014/main" id="{10E4D71C-3DC0-9AC3-927B-8858E5CAF9D0}"/>
              </a:ext>
            </a:extLst>
          </p:cNvPr>
          <p:cNvSpPr txBox="1"/>
          <p:nvPr/>
        </p:nvSpPr>
        <p:spPr>
          <a:xfrm>
            <a:off x="243191" y="1212371"/>
            <a:ext cx="8900808" cy="5016758"/>
          </a:xfrm>
          <a:prstGeom prst="rect">
            <a:avLst/>
          </a:prstGeom>
          <a:noFill/>
        </p:spPr>
        <p:txBody>
          <a:bodyPr wrap="square">
            <a:spAutoFit/>
          </a:bodyPr>
          <a:lstStyle/>
          <a:p>
            <a:r>
              <a:rPr lang="vi-VN" sz="2000"/>
              <a:t>1001_000_001_000     // LOAD R0, V0, index 1</a:t>
            </a:r>
          </a:p>
          <a:p>
            <a:r>
              <a:rPr lang="vi-VN" sz="2000"/>
              <a:t>1001_000_001_001    // LOAD R2, V1, index 1             load next input</a:t>
            </a:r>
          </a:p>
          <a:p>
            <a:r>
              <a:rPr lang="vi-VN" sz="2000"/>
              <a:t>1001_101_001_010    // LOAD R5, V2, index 1             load bias</a:t>
            </a:r>
          </a:p>
          <a:p>
            <a:r>
              <a:rPr lang="vi-VN" sz="2000"/>
              <a:t>0111_001_000_000    // NORM R1, R0		         normalize input x</a:t>
            </a:r>
          </a:p>
          <a:p>
            <a:r>
              <a:rPr lang="vi-VN" sz="2000"/>
              <a:t>1010_000_000_001    // STORE V0, R1, index 0</a:t>
            </a:r>
          </a:p>
          <a:p>
            <a:r>
              <a:rPr lang="vi-VN" sz="2000"/>
              <a:t>1000_100_001_000    // TMATMUL V4, V1, V0</a:t>
            </a:r>
          </a:p>
          <a:p>
            <a:r>
              <a:rPr lang="vi-VN" sz="2000"/>
              <a:t>0111_001_000_000    // NORM R3, R2</a:t>
            </a:r>
          </a:p>
          <a:p>
            <a:r>
              <a:rPr lang="vi-VN" sz="2000"/>
              <a:t>1010_000_000_001    // STORE V2, R1, index 0            Store to calcualted next tmatmul</a:t>
            </a:r>
          </a:p>
          <a:p>
            <a:r>
              <a:rPr lang="vi-VN" sz="2000"/>
              <a:t>1001_100_000_100    // LOAD R4, V4, index 0             Load tmatmul result</a:t>
            </a:r>
          </a:p>
          <a:p>
            <a:r>
              <a:rPr lang="vi-VN" sz="2000"/>
              <a:t>1000_100_001_000    // TMATMUL V5, V3, V2               Calculate next tmatmul</a:t>
            </a:r>
          </a:p>
          <a:p>
            <a:r>
              <a:rPr lang="vi-VN" sz="2000"/>
              <a:t>0001_110_100_101    // ADD R6, R4, R5                   Add tmatmul results </a:t>
            </a:r>
          </a:p>
          <a:p>
            <a:r>
              <a:rPr lang="vi-VN" sz="2000"/>
              <a:t>0110_111_000_110    // SIG R7, R6                       Sigmoid result</a:t>
            </a:r>
          </a:p>
          <a:p>
            <a:r>
              <a:rPr lang="vi-VN" sz="2000"/>
              <a:t>1010_010_001_111    // STORE V3, R7, index 1             Store token result</a:t>
            </a:r>
          </a:p>
          <a:p>
            <a:r>
              <a:rPr lang="vi-VN" sz="2000"/>
              <a:t>1111_111_111_111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8"/>
          <p:cNvSpPr txBox="1">
            <a:spLocks noGrp="1"/>
          </p:cNvSpPr>
          <p:nvPr>
            <p:ph type="title"/>
          </p:nvPr>
        </p:nvSpPr>
        <p:spPr>
          <a:xfrm>
            <a:off x="893762" y="288925"/>
            <a:ext cx="6269037" cy="674687"/>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00000"/>
              </a:lnSpc>
              <a:spcBef>
                <a:spcPts val="0"/>
              </a:spcBef>
              <a:spcAft>
                <a:spcPts val="0"/>
              </a:spcAft>
              <a:buClr>
                <a:srgbClr val="3376C7"/>
              </a:buClr>
              <a:buSzPts val="4000"/>
              <a:buFont typeface="Arial"/>
              <a:buNone/>
            </a:pPr>
            <a:r>
              <a:rPr lang="en-US" sz="4000" b="1" i="0" u="none">
                <a:solidFill>
                  <a:srgbClr val="3376C7"/>
                </a:solidFill>
                <a:latin typeface="Arial"/>
                <a:ea typeface="Arial"/>
                <a:cs typeface="Arial"/>
                <a:sym typeface="Arial"/>
              </a:rPr>
              <a:t>Result</a:t>
            </a:r>
            <a:endParaRPr lang="en-US"/>
          </a:p>
        </p:txBody>
      </p:sp>
      <p:sp>
        <p:nvSpPr>
          <p:cNvPr id="214" name="Google Shape;214;p8"/>
          <p:cNvSpPr txBox="1"/>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Arial"/>
              <a:buNone/>
            </a:pPr>
            <a:fld id="{00000000-1234-1234-1234-123412341234}" type="slidenum">
              <a:rPr lang="en-US" sz="1200" b="0" i="0" u="none">
                <a:solidFill>
                  <a:srgbClr val="898989"/>
                </a:solidFill>
                <a:latin typeface="Arial"/>
                <a:ea typeface="Arial"/>
                <a:cs typeface="Arial"/>
                <a:sym typeface="Arial"/>
              </a:rPr>
              <a:t>32</a:t>
            </a:fld>
            <a:endParaRPr/>
          </a:p>
        </p:txBody>
      </p:sp>
      <p:pic>
        <p:nvPicPr>
          <p:cNvPr id="2" name="Picture 1" descr="A graph with green bars&#10;&#10;AI-generated content may be incorrect.">
            <a:extLst>
              <a:ext uri="{FF2B5EF4-FFF2-40B4-BE49-F238E27FC236}">
                <a16:creationId xmlns:a16="http://schemas.microsoft.com/office/drawing/2014/main" id="{DC605476-1373-689C-A913-A7A2F9AE1300}"/>
              </a:ext>
            </a:extLst>
          </p:cNvPr>
          <p:cNvPicPr>
            <a:picLocks noChangeAspect="1"/>
          </p:cNvPicPr>
          <p:nvPr/>
        </p:nvPicPr>
        <p:blipFill>
          <a:blip r:embed="rId3"/>
          <a:stretch>
            <a:fillRect/>
          </a:stretch>
        </p:blipFill>
        <p:spPr>
          <a:xfrm>
            <a:off x="1703705" y="1123950"/>
            <a:ext cx="5736590" cy="2781300"/>
          </a:xfrm>
          <a:prstGeom prst="rect">
            <a:avLst/>
          </a:prstGeom>
        </p:spPr>
      </p:pic>
      <p:graphicFrame>
        <p:nvGraphicFramePr>
          <p:cNvPr id="4" name="Table 3">
            <a:extLst>
              <a:ext uri="{FF2B5EF4-FFF2-40B4-BE49-F238E27FC236}">
                <a16:creationId xmlns:a16="http://schemas.microsoft.com/office/drawing/2014/main" id="{30238D56-14FA-9FC8-BA1F-83026551418E}"/>
              </a:ext>
            </a:extLst>
          </p:cNvPr>
          <p:cNvGraphicFramePr>
            <a:graphicFrameLocks noGrp="1"/>
          </p:cNvGraphicFramePr>
          <p:nvPr>
            <p:extLst>
              <p:ext uri="{D42A27DB-BD31-4B8C-83A1-F6EECF244321}">
                <p14:modId xmlns:p14="http://schemas.microsoft.com/office/powerpoint/2010/main" val="1104320823"/>
              </p:ext>
            </p:extLst>
          </p:nvPr>
        </p:nvGraphicFramePr>
        <p:xfrm>
          <a:off x="2190750" y="4065014"/>
          <a:ext cx="4762500" cy="2096329"/>
        </p:xfrm>
        <a:graphic>
          <a:graphicData uri="http://schemas.openxmlformats.org/drawingml/2006/table">
            <a:tbl>
              <a:tblPr firstRow="1" firstCol="1" bandRow="1">
                <a:tableStyleId>{5C22544A-7EE6-4342-B048-85BDC9FD1C3A}</a:tableStyleId>
              </a:tblPr>
              <a:tblGrid>
                <a:gridCol w="1048385">
                  <a:extLst>
                    <a:ext uri="{9D8B030D-6E8A-4147-A177-3AD203B41FA5}">
                      <a16:colId xmlns:a16="http://schemas.microsoft.com/office/drawing/2014/main" val="3003031593"/>
                    </a:ext>
                  </a:extLst>
                </a:gridCol>
                <a:gridCol w="1331595">
                  <a:extLst>
                    <a:ext uri="{9D8B030D-6E8A-4147-A177-3AD203B41FA5}">
                      <a16:colId xmlns:a16="http://schemas.microsoft.com/office/drawing/2014/main" val="3644912327"/>
                    </a:ext>
                  </a:extLst>
                </a:gridCol>
                <a:gridCol w="1150620">
                  <a:extLst>
                    <a:ext uri="{9D8B030D-6E8A-4147-A177-3AD203B41FA5}">
                      <a16:colId xmlns:a16="http://schemas.microsoft.com/office/drawing/2014/main" val="2108299083"/>
                    </a:ext>
                  </a:extLst>
                </a:gridCol>
                <a:gridCol w="1231900">
                  <a:extLst>
                    <a:ext uri="{9D8B030D-6E8A-4147-A177-3AD203B41FA5}">
                      <a16:colId xmlns:a16="http://schemas.microsoft.com/office/drawing/2014/main" val="54326294"/>
                    </a:ext>
                  </a:extLst>
                </a:gridCol>
              </a:tblGrid>
              <a:tr h="0">
                <a:tc>
                  <a:txBody>
                    <a:bodyPr/>
                    <a:lstStyle/>
                    <a:p>
                      <a:pPr algn="ctr">
                        <a:lnSpc>
                          <a:spcPct val="150000"/>
                        </a:lnSpc>
                        <a:spcBef>
                          <a:spcPts val="600"/>
                        </a:spcBef>
                        <a:spcAft>
                          <a:spcPts val="1000"/>
                        </a:spcAft>
                        <a:buNone/>
                      </a:pPr>
                      <a:br>
                        <a:rPr lang="vi-VN" sz="1200">
                          <a:effectLst/>
                        </a:rPr>
                      </a:br>
                      <a:r>
                        <a:rPr lang="vi-VN" sz="1200">
                          <a:effectLst/>
                        </a:rPr>
                        <a:t>Resource</a:t>
                      </a:r>
                      <a:endParaRPr lang="vi-VN" sz="1200">
                        <a:effectLst/>
                        <a:latin typeface="Times New Roman" panose="02020603050405020304" pitchFamily="18" charset="0"/>
                        <a:ea typeface="Times New Roman" panose="02020603050405020304" pitchFamily="18" charset="0"/>
                      </a:endParaRPr>
                    </a:p>
                  </a:txBody>
                  <a:tcPr marL="9525" marR="9525" marT="9525" marB="9525" anchor="ctr"/>
                </a:tc>
                <a:tc>
                  <a:txBody>
                    <a:bodyPr/>
                    <a:lstStyle/>
                    <a:p>
                      <a:pPr algn="ctr">
                        <a:lnSpc>
                          <a:spcPct val="150000"/>
                        </a:lnSpc>
                        <a:spcBef>
                          <a:spcPts val="600"/>
                        </a:spcBef>
                        <a:spcAft>
                          <a:spcPts val="1000"/>
                        </a:spcAft>
                        <a:buNone/>
                      </a:pPr>
                      <a:r>
                        <a:rPr lang="vi-VN" sz="1200">
                          <a:effectLst/>
                        </a:rPr>
                        <a:t>Estimation</a:t>
                      </a:r>
                      <a:endParaRPr lang="vi-VN" sz="1200">
                        <a:effectLst/>
                        <a:latin typeface="Times New Roman" panose="02020603050405020304" pitchFamily="18" charset="0"/>
                        <a:ea typeface="Times New Roman" panose="02020603050405020304" pitchFamily="18" charset="0"/>
                      </a:endParaRPr>
                    </a:p>
                  </a:txBody>
                  <a:tcPr marL="9525" marR="9525" marT="9525" marB="9525" anchor="ctr"/>
                </a:tc>
                <a:tc>
                  <a:txBody>
                    <a:bodyPr/>
                    <a:lstStyle/>
                    <a:p>
                      <a:pPr algn="ctr">
                        <a:lnSpc>
                          <a:spcPct val="150000"/>
                        </a:lnSpc>
                        <a:spcBef>
                          <a:spcPts val="600"/>
                        </a:spcBef>
                        <a:spcAft>
                          <a:spcPts val="1000"/>
                        </a:spcAft>
                        <a:buNone/>
                      </a:pPr>
                      <a:r>
                        <a:rPr lang="vi-VN" sz="1200">
                          <a:effectLst/>
                        </a:rPr>
                        <a:t>Available</a:t>
                      </a:r>
                      <a:endParaRPr lang="vi-VN" sz="1200">
                        <a:effectLst/>
                        <a:latin typeface="Times New Roman" panose="02020603050405020304" pitchFamily="18" charset="0"/>
                        <a:ea typeface="Times New Roman" panose="02020603050405020304" pitchFamily="18" charset="0"/>
                      </a:endParaRPr>
                    </a:p>
                  </a:txBody>
                  <a:tcPr marL="9525" marR="9525" marT="9525" marB="9525" anchor="ctr"/>
                </a:tc>
                <a:tc>
                  <a:txBody>
                    <a:bodyPr/>
                    <a:lstStyle/>
                    <a:p>
                      <a:pPr algn="ctr">
                        <a:lnSpc>
                          <a:spcPct val="150000"/>
                        </a:lnSpc>
                        <a:spcBef>
                          <a:spcPts val="600"/>
                        </a:spcBef>
                        <a:spcAft>
                          <a:spcPts val="1000"/>
                        </a:spcAft>
                        <a:buNone/>
                      </a:pPr>
                      <a:r>
                        <a:rPr lang="vi-VN" sz="1200">
                          <a:effectLst/>
                        </a:rPr>
                        <a:t>Utilization %</a:t>
                      </a:r>
                      <a:endParaRPr lang="vi-VN" sz="1200">
                        <a:effectLst/>
                        <a:latin typeface="Times New Roman" panose="02020603050405020304" pitchFamily="18"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1179355119"/>
                  </a:ext>
                </a:extLst>
              </a:tr>
              <a:tr h="0">
                <a:tc>
                  <a:txBody>
                    <a:bodyPr/>
                    <a:lstStyle/>
                    <a:p>
                      <a:pPr algn="ctr">
                        <a:lnSpc>
                          <a:spcPct val="150000"/>
                        </a:lnSpc>
                        <a:spcBef>
                          <a:spcPts val="600"/>
                        </a:spcBef>
                        <a:spcAft>
                          <a:spcPts val="1000"/>
                        </a:spcAft>
                        <a:buNone/>
                      </a:pPr>
                      <a:r>
                        <a:rPr lang="vi-VN" sz="1200">
                          <a:effectLst/>
                        </a:rPr>
                        <a:t>LUT</a:t>
                      </a:r>
                      <a:endParaRPr lang="vi-VN" sz="1200">
                        <a:effectLst/>
                        <a:latin typeface="Times New Roman" panose="02020603050405020304" pitchFamily="18" charset="0"/>
                        <a:ea typeface="Times New Roman" panose="02020603050405020304" pitchFamily="18" charset="0"/>
                      </a:endParaRPr>
                    </a:p>
                  </a:txBody>
                  <a:tcPr marL="9525" marR="9525" marT="9525" marB="9525" anchor="ctr"/>
                </a:tc>
                <a:tc>
                  <a:txBody>
                    <a:bodyPr/>
                    <a:lstStyle/>
                    <a:p>
                      <a:pPr algn="ctr">
                        <a:lnSpc>
                          <a:spcPct val="150000"/>
                        </a:lnSpc>
                        <a:spcBef>
                          <a:spcPts val="600"/>
                        </a:spcBef>
                        <a:spcAft>
                          <a:spcPts val="1000"/>
                        </a:spcAft>
                        <a:buNone/>
                      </a:pPr>
                      <a:r>
                        <a:rPr lang="vi-VN" sz="1200">
                          <a:effectLst/>
                        </a:rPr>
                        <a:t>49,530</a:t>
                      </a:r>
                      <a:endParaRPr lang="vi-VN" sz="1200">
                        <a:effectLst/>
                        <a:latin typeface="Times New Roman" panose="02020603050405020304" pitchFamily="18" charset="0"/>
                        <a:ea typeface="Times New Roman" panose="02020603050405020304" pitchFamily="18" charset="0"/>
                      </a:endParaRPr>
                    </a:p>
                  </a:txBody>
                  <a:tcPr marL="9525" marR="9525" marT="9525" marB="9525" anchor="ctr"/>
                </a:tc>
                <a:tc>
                  <a:txBody>
                    <a:bodyPr/>
                    <a:lstStyle/>
                    <a:p>
                      <a:pPr algn="ctr">
                        <a:lnSpc>
                          <a:spcPct val="150000"/>
                        </a:lnSpc>
                        <a:spcBef>
                          <a:spcPts val="600"/>
                        </a:spcBef>
                        <a:spcAft>
                          <a:spcPts val="1000"/>
                        </a:spcAft>
                        <a:buNone/>
                      </a:pPr>
                      <a:r>
                        <a:rPr lang="vi-VN" sz="1200">
                          <a:effectLst/>
                        </a:rPr>
                        <a:t>203,800</a:t>
                      </a:r>
                      <a:endParaRPr lang="vi-VN" sz="1200">
                        <a:effectLst/>
                        <a:latin typeface="Times New Roman" panose="02020603050405020304" pitchFamily="18" charset="0"/>
                        <a:ea typeface="Times New Roman" panose="02020603050405020304" pitchFamily="18" charset="0"/>
                      </a:endParaRPr>
                    </a:p>
                  </a:txBody>
                  <a:tcPr marL="9525" marR="9525" marT="9525" marB="9525" anchor="ctr"/>
                </a:tc>
                <a:tc>
                  <a:txBody>
                    <a:bodyPr/>
                    <a:lstStyle/>
                    <a:p>
                      <a:pPr algn="ctr">
                        <a:lnSpc>
                          <a:spcPct val="150000"/>
                        </a:lnSpc>
                        <a:spcBef>
                          <a:spcPts val="600"/>
                        </a:spcBef>
                        <a:spcAft>
                          <a:spcPts val="1000"/>
                        </a:spcAft>
                        <a:buNone/>
                      </a:pPr>
                      <a:r>
                        <a:rPr lang="vi-VN" sz="1200">
                          <a:effectLst/>
                        </a:rPr>
                        <a:t>24.30%</a:t>
                      </a:r>
                      <a:endParaRPr lang="vi-VN" sz="1200">
                        <a:effectLst/>
                        <a:latin typeface="Times New Roman" panose="02020603050405020304" pitchFamily="18"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96645653"/>
                  </a:ext>
                </a:extLst>
              </a:tr>
              <a:tr h="0">
                <a:tc>
                  <a:txBody>
                    <a:bodyPr/>
                    <a:lstStyle/>
                    <a:p>
                      <a:pPr algn="ctr">
                        <a:lnSpc>
                          <a:spcPct val="150000"/>
                        </a:lnSpc>
                        <a:spcBef>
                          <a:spcPts val="600"/>
                        </a:spcBef>
                        <a:spcAft>
                          <a:spcPts val="1000"/>
                        </a:spcAft>
                        <a:buNone/>
                      </a:pPr>
                      <a:r>
                        <a:rPr lang="vi-VN" sz="1200">
                          <a:effectLst/>
                        </a:rPr>
                        <a:t>LUTRAM</a:t>
                      </a:r>
                      <a:endParaRPr lang="vi-VN" sz="1200">
                        <a:effectLst/>
                        <a:latin typeface="Times New Roman" panose="02020603050405020304" pitchFamily="18" charset="0"/>
                        <a:ea typeface="Times New Roman" panose="02020603050405020304" pitchFamily="18" charset="0"/>
                      </a:endParaRPr>
                    </a:p>
                  </a:txBody>
                  <a:tcPr marL="9525" marR="9525" marT="9525" marB="9525" anchor="ctr"/>
                </a:tc>
                <a:tc>
                  <a:txBody>
                    <a:bodyPr/>
                    <a:lstStyle/>
                    <a:p>
                      <a:pPr algn="ctr">
                        <a:lnSpc>
                          <a:spcPct val="150000"/>
                        </a:lnSpc>
                        <a:spcBef>
                          <a:spcPts val="600"/>
                        </a:spcBef>
                        <a:spcAft>
                          <a:spcPts val="1000"/>
                        </a:spcAft>
                        <a:buNone/>
                      </a:pPr>
                      <a:r>
                        <a:rPr lang="vi-VN" sz="1200">
                          <a:effectLst/>
                        </a:rPr>
                        <a:t>35,584</a:t>
                      </a:r>
                      <a:endParaRPr lang="vi-VN" sz="1200">
                        <a:effectLst/>
                        <a:latin typeface="Times New Roman" panose="02020603050405020304" pitchFamily="18" charset="0"/>
                        <a:ea typeface="Times New Roman" panose="02020603050405020304" pitchFamily="18" charset="0"/>
                      </a:endParaRPr>
                    </a:p>
                  </a:txBody>
                  <a:tcPr marL="9525" marR="9525" marT="9525" marB="9525" anchor="ctr"/>
                </a:tc>
                <a:tc>
                  <a:txBody>
                    <a:bodyPr/>
                    <a:lstStyle/>
                    <a:p>
                      <a:pPr algn="ctr">
                        <a:lnSpc>
                          <a:spcPct val="150000"/>
                        </a:lnSpc>
                        <a:spcBef>
                          <a:spcPts val="600"/>
                        </a:spcBef>
                        <a:spcAft>
                          <a:spcPts val="1000"/>
                        </a:spcAft>
                        <a:buNone/>
                      </a:pPr>
                      <a:r>
                        <a:rPr lang="vi-VN" sz="1200">
                          <a:effectLst/>
                        </a:rPr>
                        <a:t>64,000</a:t>
                      </a:r>
                      <a:endParaRPr lang="vi-VN" sz="1200">
                        <a:effectLst/>
                        <a:latin typeface="Times New Roman" panose="02020603050405020304" pitchFamily="18" charset="0"/>
                        <a:ea typeface="Times New Roman" panose="02020603050405020304" pitchFamily="18" charset="0"/>
                      </a:endParaRPr>
                    </a:p>
                  </a:txBody>
                  <a:tcPr marL="9525" marR="9525" marT="9525" marB="9525" anchor="ctr"/>
                </a:tc>
                <a:tc>
                  <a:txBody>
                    <a:bodyPr/>
                    <a:lstStyle/>
                    <a:p>
                      <a:pPr algn="ctr">
                        <a:lnSpc>
                          <a:spcPct val="150000"/>
                        </a:lnSpc>
                        <a:spcBef>
                          <a:spcPts val="600"/>
                        </a:spcBef>
                        <a:spcAft>
                          <a:spcPts val="1000"/>
                        </a:spcAft>
                        <a:buNone/>
                      </a:pPr>
                      <a:r>
                        <a:rPr lang="vi-VN" sz="1200">
                          <a:effectLst/>
                        </a:rPr>
                        <a:t>55.60%</a:t>
                      </a:r>
                      <a:endParaRPr lang="vi-VN" sz="1200">
                        <a:effectLst/>
                        <a:latin typeface="Times New Roman" panose="02020603050405020304" pitchFamily="18"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1451623728"/>
                  </a:ext>
                </a:extLst>
              </a:tr>
              <a:tr h="0">
                <a:tc>
                  <a:txBody>
                    <a:bodyPr/>
                    <a:lstStyle/>
                    <a:p>
                      <a:pPr algn="ctr">
                        <a:lnSpc>
                          <a:spcPct val="150000"/>
                        </a:lnSpc>
                        <a:spcBef>
                          <a:spcPts val="600"/>
                        </a:spcBef>
                        <a:spcAft>
                          <a:spcPts val="1000"/>
                        </a:spcAft>
                        <a:buNone/>
                      </a:pPr>
                      <a:r>
                        <a:rPr lang="vi-VN" sz="1200">
                          <a:effectLst/>
                        </a:rPr>
                        <a:t>FF</a:t>
                      </a:r>
                      <a:endParaRPr lang="vi-VN" sz="1200">
                        <a:effectLst/>
                        <a:latin typeface="Times New Roman" panose="02020603050405020304" pitchFamily="18" charset="0"/>
                        <a:ea typeface="Times New Roman" panose="02020603050405020304" pitchFamily="18" charset="0"/>
                      </a:endParaRPr>
                    </a:p>
                  </a:txBody>
                  <a:tcPr marL="9525" marR="9525" marT="9525" marB="9525" anchor="ctr"/>
                </a:tc>
                <a:tc>
                  <a:txBody>
                    <a:bodyPr/>
                    <a:lstStyle/>
                    <a:p>
                      <a:pPr algn="ctr">
                        <a:lnSpc>
                          <a:spcPct val="150000"/>
                        </a:lnSpc>
                        <a:spcBef>
                          <a:spcPts val="600"/>
                        </a:spcBef>
                        <a:spcAft>
                          <a:spcPts val="1000"/>
                        </a:spcAft>
                        <a:buNone/>
                      </a:pPr>
                      <a:r>
                        <a:rPr lang="vi-VN" sz="1200">
                          <a:effectLst/>
                        </a:rPr>
                        <a:t>3,466</a:t>
                      </a:r>
                      <a:endParaRPr lang="vi-VN" sz="1200">
                        <a:effectLst/>
                        <a:latin typeface="Times New Roman" panose="02020603050405020304" pitchFamily="18" charset="0"/>
                        <a:ea typeface="Times New Roman" panose="02020603050405020304" pitchFamily="18" charset="0"/>
                      </a:endParaRPr>
                    </a:p>
                  </a:txBody>
                  <a:tcPr marL="9525" marR="9525" marT="9525" marB="9525" anchor="ctr"/>
                </a:tc>
                <a:tc>
                  <a:txBody>
                    <a:bodyPr/>
                    <a:lstStyle/>
                    <a:p>
                      <a:pPr algn="ctr">
                        <a:lnSpc>
                          <a:spcPct val="150000"/>
                        </a:lnSpc>
                        <a:spcBef>
                          <a:spcPts val="600"/>
                        </a:spcBef>
                        <a:spcAft>
                          <a:spcPts val="1000"/>
                        </a:spcAft>
                        <a:buNone/>
                      </a:pPr>
                      <a:r>
                        <a:rPr lang="vi-VN" sz="1200">
                          <a:effectLst/>
                        </a:rPr>
                        <a:t>407,600</a:t>
                      </a:r>
                      <a:endParaRPr lang="vi-VN" sz="1200">
                        <a:effectLst/>
                        <a:latin typeface="Times New Roman" panose="02020603050405020304" pitchFamily="18" charset="0"/>
                        <a:ea typeface="Times New Roman" panose="02020603050405020304" pitchFamily="18" charset="0"/>
                      </a:endParaRPr>
                    </a:p>
                  </a:txBody>
                  <a:tcPr marL="9525" marR="9525" marT="9525" marB="9525" anchor="ctr"/>
                </a:tc>
                <a:tc>
                  <a:txBody>
                    <a:bodyPr/>
                    <a:lstStyle/>
                    <a:p>
                      <a:pPr algn="ctr">
                        <a:lnSpc>
                          <a:spcPct val="150000"/>
                        </a:lnSpc>
                        <a:spcBef>
                          <a:spcPts val="600"/>
                        </a:spcBef>
                        <a:spcAft>
                          <a:spcPts val="1000"/>
                        </a:spcAft>
                        <a:buNone/>
                      </a:pPr>
                      <a:r>
                        <a:rPr lang="vi-VN" sz="1200">
                          <a:effectLst/>
                        </a:rPr>
                        <a:t>0.85%</a:t>
                      </a:r>
                      <a:endParaRPr lang="vi-VN" sz="1200">
                        <a:effectLst/>
                        <a:latin typeface="Times New Roman" panose="02020603050405020304" pitchFamily="18"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4270173603"/>
                  </a:ext>
                </a:extLst>
              </a:tr>
              <a:tr h="0">
                <a:tc>
                  <a:txBody>
                    <a:bodyPr/>
                    <a:lstStyle/>
                    <a:p>
                      <a:pPr algn="ctr">
                        <a:lnSpc>
                          <a:spcPct val="150000"/>
                        </a:lnSpc>
                        <a:spcBef>
                          <a:spcPts val="600"/>
                        </a:spcBef>
                        <a:spcAft>
                          <a:spcPts val="1000"/>
                        </a:spcAft>
                        <a:buNone/>
                      </a:pPr>
                      <a:r>
                        <a:rPr lang="vi-VN" sz="1200">
                          <a:effectLst/>
                        </a:rPr>
                        <a:t>DSP</a:t>
                      </a:r>
                      <a:endParaRPr lang="vi-VN" sz="1200">
                        <a:effectLst/>
                        <a:latin typeface="Times New Roman" panose="02020603050405020304" pitchFamily="18" charset="0"/>
                        <a:ea typeface="Times New Roman" panose="02020603050405020304" pitchFamily="18" charset="0"/>
                      </a:endParaRPr>
                    </a:p>
                  </a:txBody>
                  <a:tcPr marL="9525" marR="9525" marT="9525" marB="9525" anchor="ctr"/>
                </a:tc>
                <a:tc>
                  <a:txBody>
                    <a:bodyPr/>
                    <a:lstStyle/>
                    <a:p>
                      <a:pPr algn="ctr">
                        <a:lnSpc>
                          <a:spcPct val="150000"/>
                        </a:lnSpc>
                        <a:spcBef>
                          <a:spcPts val="600"/>
                        </a:spcBef>
                        <a:spcAft>
                          <a:spcPts val="1000"/>
                        </a:spcAft>
                        <a:buNone/>
                      </a:pPr>
                      <a:r>
                        <a:rPr lang="vi-VN" sz="1200">
                          <a:effectLst/>
                        </a:rPr>
                        <a:t>32</a:t>
                      </a:r>
                      <a:endParaRPr lang="vi-VN" sz="1200">
                        <a:effectLst/>
                        <a:latin typeface="Times New Roman" panose="02020603050405020304" pitchFamily="18" charset="0"/>
                        <a:ea typeface="Times New Roman" panose="02020603050405020304" pitchFamily="18" charset="0"/>
                      </a:endParaRPr>
                    </a:p>
                  </a:txBody>
                  <a:tcPr marL="9525" marR="9525" marT="9525" marB="9525" anchor="ctr"/>
                </a:tc>
                <a:tc>
                  <a:txBody>
                    <a:bodyPr/>
                    <a:lstStyle/>
                    <a:p>
                      <a:pPr algn="ctr">
                        <a:lnSpc>
                          <a:spcPct val="150000"/>
                        </a:lnSpc>
                        <a:spcBef>
                          <a:spcPts val="600"/>
                        </a:spcBef>
                        <a:spcAft>
                          <a:spcPts val="1000"/>
                        </a:spcAft>
                        <a:buNone/>
                      </a:pPr>
                      <a:r>
                        <a:rPr lang="vi-VN" sz="1200">
                          <a:effectLst/>
                        </a:rPr>
                        <a:t>840</a:t>
                      </a:r>
                      <a:endParaRPr lang="vi-VN" sz="1200">
                        <a:effectLst/>
                        <a:latin typeface="Times New Roman" panose="02020603050405020304" pitchFamily="18" charset="0"/>
                        <a:ea typeface="Times New Roman" panose="02020603050405020304" pitchFamily="18" charset="0"/>
                      </a:endParaRPr>
                    </a:p>
                  </a:txBody>
                  <a:tcPr marL="9525" marR="9525" marT="9525" marB="9525" anchor="ctr"/>
                </a:tc>
                <a:tc>
                  <a:txBody>
                    <a:bodyPr/>
                    <a:lstStyle/>
                    <a:p>
                      <a:pPr algn="ctr">
                        <a:lnSpc>
                          <a:spcPct val="150000"/>
                        </a:lnSpc>
                        <a:spcBef>
                          <a:spcPts val="600"/>
                        </a:spcBef>
                        <a:spcAft>
                          <a:spcPts val="1000"/>
                        </a:spcAft>
                        <a:buNone/>
                      </a:pPr>
                      <a:r>
                        <a:rPr lang="vi-VN" sz="1200">
                          <a:effectLst/>
                        </a:rPr>
                        <a:t>3.81%</a:t>
                      </a:r>
                      <a:endParaRPr lang="vi-VN" sz="1200">
                        <a:effectLst/>
                        <a:latin typeface="Times New Roman" panose="02020603050405020304" pitchFamily="18"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1592964682"/>
                  </a:ext>
                </a:extLst>
              </a:tr>
              <a:tr h="0">
                <a:tc>
                  <a:txBody>
                    <a:bodyPr/>
                    <a:lstStyle/>
                    <a:p>
                      <a:pPr algn="ctr">
                        <a:lnSpc>
                          <a:spcPct val="150000"/>
                        </a:lnSpc>
                        <a:spcBef>
                          <a:spcPts val="600"/>
                        </a:spcBef>
                        <a:spcAft>
                          <a:spcPts val="1000"/>
                        </a:spcAft>
                        <a:buNone/>
                      </a:pPr>
                      <a:r>
                        <a:rPr lang="vi-VN" sz="1200">
                          <a:effectLst/>
                        </a:rPr>
                        <a:t>IO</a:t>
                      </a:r>
                      <a:endParaRPr lang="vi-VN" sz="1200">
                        <a:effectLst/>
                        <a:latin typeface="Times New Roman" panose="02020603050405020304" pitchFamily="18" charset="0"/>
                        <a:ea typeface="Times New Roman" panose="02020603050405020304" pitchFamily="18" charset="0"/>
                      </a:endParaRPr>
                    </a:p>
                  </a:txBody>
                  <a:tcPr marL="9525" marR="9525" marT="9525" marB="9525" anchor="ctr"/>
                </a:tc>
                <a:tc>
                  <a:txBody>
                    <a:bodyPr/>
                    <a:lstStyle/>
                    <a:p>
                      <a:pPr algn="ctr">
                        <a:lnSpc>
                          <a:spcPct val="150000"/>
                        </a:lnSpc>
                        <a:spcBef>
                          <a:spcPts val="600"/>
                        </a:spcBef>
                        <a:spcAft>
                          <a:spcPts val="1000"/>
                        </a:spcAft>
                        <a:buNone/>
                      </a:pPr>
                      <a:r>
                        <a:rPr lang="vi-VN" sz="1200">
                          <a:effectLst/>
                        </a:rPr>
                        <a:t>5</a:t>
                      </a:r>
                      <a:endParaRPr lang="vi-VN" sz="1200">
                        <a:effectLst/>
                        <a:latin typeface="Times New Roman" panose="02020603050405020304" pitchFamily="18" charset="0"/>
                        <a:ea typeface="Times New Roman" panose="02020603050405020304" pitchFamily="18" charset="0"/>
                      </a:endParaRPr>
                    </a:p>
                  </a:txBody>
                  <a:tcPr marL="9525" marR="9525" marT="9525" marB="9525" anchor="ctr"/>
                </a:tc>
                <a:tc>
                  <a:txBody>
                    <a:bodyPr/>
                    <a:lstStyle/>
                    <a:p>
                      <a:pPr algn="ctr">
                        <a:lnSpc>
                          <a:spcPct val="150000"/>
                        </a:lnSpc>
                        <a:spcBef>
                          <a:spcPts val="600"/>
                        </a:spcBef>
                        <a:spcAft>
                          <a:spcPts val="1000"/>
                        </a:spcAft>
                        <a:buNone/>
                      </a:pPr>
                      <a:r>
                        <a:rPr lang="vi-VN" sz="1200">
                          <a:effectLst/>
                        </a:rPr>
                        <a:t>500</a:t>
                      </a:r>
                      <a:endParaRPr lang="vi-VN" sz="1200">
                        <a:effectLst/>
                        <a:latin typeface="Times New Roman" panose="02020603050405020304" pitchFamily="18" charset="0"/>
                        <a:ea typeface="Times New Roman" panose="02020603050405020304" pitchFamily="18" charset="0"/>
                      </a:endParaRPr>
                    </a:p>
                  </a:txBody>
                  <a:tcPr marL="9525" marR="9525" marT="9525" marB="9525" anchor="ctr"/>
                </a:tc>
                <a:tc>
                  <a:txBody>
                    <a:bodyPr/>
                    <a:lstStyle/>
                    <a:p>
                      <a:pPr algn="ctr">
                        <a:lnSpc>
                          <a:spcPct val="150000"/>
                        </a:lnSpc>
                        <a:spcBef>
                          <a:spcPts val="600"/>
                        </a:spcBef>
                        <a:spcAft>
                          <a:spcPts val="1000"/>
                        </a:spcAft>
                        <a:buNone/>
                      </a:pPr>
                      <a:r>
                        <a:rPr lang="vi-VN" sz="1200">
                          <a:effectLst/>
                        </a:rPr>
                        <a:t>1.00%</a:t>
                      </a:r>
                      <a:endParaRPr lang="vi-VN" sz="1200">
                        <a:effectLst/>
                        <a:latin typeface="Times New Roman" panose="02020603050405020304" pitchFamily="18"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2611089229"/>
                  </a:ext>
                </a:extLst>
              </a:tr>
              <a:tr h="0">
                <a:tc>
                  <a:txBody>
                    <a:bodyPr/>
                    <a:lstStyle/>
                    <a:p>
                      <a:pPr algn="ctr">
                        <a:lnSpc>
                          <a:spcPct val="150000"/>
                        </a:lnSpc>
                        <a:spcBef>
                          <a:spcPts val="600"/>
                        </a:spcBef>
                        <a:spcAft>
                          <a:spcPts val="1000"/>
                        </a:spcAft>
                        <a:buNone/>
                      </a:pPr>
                      <a:r>
                        <a:rPr lang="vi-VN" sz="1200">
                          <a:effectLst/>
                        </a:rPr>
                        <a:t>BUFG</a:t>
                      </a:r>
                      <a:endParaRPr lang="vi-VN" sz="1200">
                        <a:effectLst/>
                        <a:latin typeface="Times New Roman" panose="02020603050405020304" pitchFamily="18" charset="0"/>
                        <a:ea typeface="Times New Roman" panose="02020603050405020304" pitchFamily="18" charset="0"/>
                      </a:endParaRPr>
                    </a:p>
                  </a:txBody>
                  <a:tcPr marL="9525" marR="9525" marT="9525" marB="9525" anchor="ctr"/>
                </a:tc>
                <a:tc>
                  <a:txBody>
                    <a:bodyPr/>
                    <a:lstStyle/>
                    <a:p>
                      <a:pPr algn="ctr">
                        <a:lnSpc>
                          <a:spcPct val="150000"/>
                        </a:lnSpc>
                        <a:spcBef>
                          <a:spcPts val="600"/>
                        </a:spcBef>
                        <a:spcAft>
                          <a:spcPts val="1000"/>
                        </a:spcAft>
                        <a:buNone/>
                      </a:pPr>
                      <a:r>
                        <a:rPr lang="vi-VN" sz="1200">
                          <a:effectLst/>
                        </a:rPr>
                        <a:t>1</a:t>
                      </a:r>
                      <a:endParaRPr lang="vi-VN" sz="1200">
                        <a:effectLst/>
                        <a:latin typeface="Times New Roman" panose="02020603050405020304" pitchFamily="18" charset="0"/>
                        <a:ea typeface="Times New Roman" panose="02020603050405020304" pitchFamily="18" charset="0"/>
                      </a:endParaRPr>
                    </a:p>
                  </a:txBody>
                  <a:tcPr marL="9525" marR="9525" marT="9525" marB="9525" anchor="ctr"/>
                </a:tc>
                <a:tc>
                  <a:txBody>
                    <a:bodyPr/>
                    <a:lstStyle/>
                    <a:p>
                      <a:pPr algn="ctr">
                        <a:lnSpc>
                          <a:spcPct val="150000"/>
                        </a:lnSpc>
                        <a:spcBef>
                          <a:spcPts val="600"/>
                        </a:spcBef>
                        <a:spcAft>
                          <a:spcPts val="1000"/>
                        </a:spcAft>
                        <a:buNone/>
                      </a:pPr>
                      <a:r>
                        <a:rPr lang="vi-VN" sz="1200">
                          <a:effectLst/>
                        </a:rPr>
                        <a:t>32</a:t>
                      </a:r>
                      <a:endParaRPr lang="vi-VN" sz="1200">
                        <a:effectLst/>
                        <a:latin typeface="Times New Roman" panose="02020603050405020304" pitchFamily="18" charset="0"/>
                        <a:ea typeface="Times New Roman" panose="02020603050405020304" pitchFamily="18" charset="0"/>
                      </a:endParaRPr>
                    </a:p>
                  </a:txBody>
                  <a:tcPr marL="9525" marR="9525" marT="9525" marB="9525" anchor="ctr"/>
                </a:tc>
                <a:tc>
                  <a:txBody>
                    <a:bodyPr/>
                    <a:lstStyle/>
                    <a:p>
                      <a:pPr algn="ctr">
                        <a:lnSpc>
                          <a:spcPct val="150000"/>
                        </a:lnSpc>
                        <a:spcBef>
                          <a:spcPts val="600"/>
                        </a:spcBef>
                        <a:spcAft>
                          <a:spcPts val="1000"/>
                        </a:spcAft>
                        <a:buNone/>
                      </a:pPr>
                      <a:r>
                        <a:rPr lang="vi-VN" sz="1200">
                          <a:effectLst/>
                        </a:rPr>
                        <a:t>3.13%</a:t>
                      </a:r>
                      <a:endParaRPr lang="vi-VN" sz="1200">
                        <a:effectLst/>
                        <a:latin typeface="Times New Roman" panose="02020603050405020304" pitchFamily="18"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3746993440"/>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12">
          <a:extLst>
            <a:ext uri="{FF2B5EF4-FFF2-40B4-BE49-F238E27FC236}">
              <a16:creationId xmlns:a16="http://schemas.microsoft.com/office/drawing/2014/main" id="{C2065905-BCAE-9177-20AB-AA3288277805}"/>
            </a:ext>
          </a:extLst>
        </p:cNvPr>
        <p:cNvGrpSpPr/>
        <p:nvPr/>
      </p:nvGrpSpPr>
      <p:grpSpPr>
        <a:xfrm>
          <a:off x="0" y="0"/>
          <a:ext cx="0" cy="0"/>
          <a:chOff x="0" y="0"/>
          <a:chExt cx="0" cy="0"/>
        </a:xfrm>
      </p:grpSpPr>
      <p:sp>
        <p:nvSpPr>
          <p:cNvPr id="213" name="Google Shape;213;p8">
            <a:extLst>
              <a:ext uri="{FF2B5EF4-FFF2-40B4-BE49-F238E27FC236}">
                <a16:creationId xmlns:a16="http://schemas.microsoft.com/office/drawing/2014/main" id="{1D6F5EA4-6E41-4DE4-C8E4-79F942CAEA96}"/>
              </a:ext>
            </a:extLst>
          </p:cNvPr>
          <p:cNvSpPr txBox="1">
            <a:spLocks noGrp="1"/>
          </p:cNvSpPr>
          <p:nvPr>
            <p:ph type="title"/>
          </p:nvPr>
        </p:nvSpPr>
        <p:spPr>
          <a:xfrm>
            <a:off x="893762" y="288925"/>
            <a:ext cx="6269037" cy="674687"/>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00000"/>
              </a:lnSpc>
              <a:spcBef>
                <a:spcPts val="0"/>
              </a:spcBef>
              <a:spcAft>
                <a:spcPts val="0"/>
              </a:spcAft>
              <a:buClr>
                <a:srgbClr val="3376C7"/>
              </a:buClr>
              <a:buSzPts val="4000"/>
              <a:buFont typeface="Arial"/>
              <a:buNone/>
            </a:pPr>
            <a:r>
              <a:rPr lang="en-US" sz="4000" b="1" i="0" u="none">
                <a:solidFill>
                  <a:srgbClr val="3376C7"/>
                </a:solidFill>
                <a:latin typeface="Arial"/>
                <a:ea typeface="Arial"/>
                <a:cs typeface="Arial"/>
                <a:sym typeface="Arial"/>
              </a:rPr>
              <a:t>Result</a:t>
            </a:r>
            <a:endParaRPr lang="en-US"/>
          </a:p>
        </p:txBody>
      </p:sp>
      <p:sp>
        <p:nvSpPr>
          <p:cNvPr id="214" name="Google Shape;214;p8">
            <a:extLst>
              <a:ext uri="{FF2B5EF4-FFF2-40B4-BE49-F238E27FC236}">
                <a16:creationId xmlns:a16="http://schemas.microsoft.com/office/drawing/2014/main" id="{577C9CFA-0605-48DD-7041-B89DC8729A8A}"/>
              </a:ext>
            </a:extLst>
          </p:cNvPr>
          <p:cNvSpPr txBox="1"/>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Arial"/>
              <a:buNone/>
            </a:pPr>
            <a:fld id="{00000000-1234-1234-1234-123412341234}" type="slidenum">
              <a:rPr lang="en-US" sz="1200" b="0" i="0" u="none">
                <a:solidFill>
                  <a:srgbClr val="898989"/>
                </a:solidFill>
                <a:latin typeface="Arial"/>
                <a:ea typeface="Arial"/>
                <a:cs typeface="Arial"/>
                <a:sym typeface="Arial"/>
              </a:rPr>
              <a:t>33</a:t>
            </a:fld>
            <a:endParaRPr/>
          </a:p>
        </p:txBody>
      </p:sp>
      <p:pic>
        <p:nvPicPr>
          <p:cNvPr id="2" name="Picture 1">
            <a:extLst>
              <a:ext uri="{FF2B5EF4-FFF2-40B4-BE49-F238E27FC236}">
                <a16:creationId xmlns:a16="http://schemas.microsoft.com/office/drawing/2014/main" id="{20D1BEA7-010E-C302-A4BA-8283BF8420C6}"/>
              </a:ext>
            </a:extLst>
          </p:cNvPr>
          <p:cNvPicPr>
            <a:picLocks noChangeAspect="1"/>
          </p:cNvPicPr>
          <p:nvPr/>
        </p:nvPicPr>
        <p:blipFill>
          <a:blip r:embed="rId3"/>
          <a:stretch>
            <a:fillRect/>
          </a:stretch>
        </p:blipFill>
        <p:spPr>
          <a:xfrm>
            <a:off x="-7723" y="1293381"/>
            <a:ext cx="9251571" cy="1021803"/>
          </a:xfrm>
          <a:prstGeom prst="rect">
            <a:avLst/>
          </a:prstGeom>
        </p:spPr>
      </p:pic>
      <p:sp>
        <p:nvSpPr>
          <p:cNvPr id="5" name="TextBox 4">
            <a:extLst>
              <a:ext uri="{FF2B5EF4-FFF2-40B4-BE49-F238E27FC236}">
                <a16:creationId xmlns:a16="http://schemas.microsoft.com/office/drawing/2014/main" id="{50271C3D-6F22-485E-45DA-27530CC07095}"/>
              </a:ext>
            </a:extLst>
          </p:cNvPr>
          <p:cNvSpPr txBox="1"/>
          <p:nvPr/>
        </p:nvSpPr>
        <p:spPr>
          <a:xfrm>
            <a:off x="-7723" y="2375491"/>
            <a:ext cx="9151724" cy="3111686"/>
          </a:xfrm>
          <a:prstGeom prst="rect">
            <a:avLst/>
          </a:prstGeom>
          <a:noFill/>
        </p:spPr>
        <p:txBody>
          <a:bodyPr wrap="square">
            <a:spAutoFit/>
          </a:bodyPr>
          <a:lstStyle/>
          <a:p>
            <a:pPr algn="just">
              <a:lnSpc>
                <a:spcPct val="150000"/>
              </a:lnSpc>
              <a:spcBef>
                <a:spcPts val="600"/>
              </a:spcBef>
              <a:spcAft>
                <a:spcPts val="1000"/>
              </a:spcAft>
              <a:buNone/>
            </a:pPr>
            <a:r>
              <a:rPr lang="vi-VN" sz="2500">
                <a:latin typeface="+mn-lt"/>
                <a:ea typeface="Times New Roman" panose="02020603050405020304" pitchFamily="18" charset="0"/>
              </a:rPr>
              <a:t>I</a:t>
            </a:r>
            <a:r>
              <a:rPr lang="vi-VN" sz="2500">
                <a:effectLst/>
                <a:latin typeface="+mn-lt"/>
                <a:ea typeface="Times New Roman" panose="02020603050405020304" pitchFamily="18" charset="0"/>
              </a:rPr>
              <a:t>nstructions are fetched into the pipeline sequentially and are propagated through the stages: instr_fd, instr_de, instr_em, instr_mw, and instr_wb. </a:t>
            </a:r>
          </a:p>
          <a:p>
            <a:pPr algn="just">
              <a:lnSpc>
                <a:spcPct val="150000"/>
              </a:lnSpc>
              <a:spcBef>
                <a:spcPts val="600"/>
              </a:spcBef>
              <a:spcAft>
                <a:spcPts val="1000"/>
              </a:spcAft>
              <a:buNone/>
            </a:pPr>
            <a:r>
              <a:rPr lang="vi-VN" sz="2500">
                <a:effectLst/>
                <a:latin typeface="+mn-lt"/>
                <a:ea typeface="Times New Roman" panose="02020603050405020304" pitchFamily="18" charset="0"/>
              </a:rPr>
              <a:t>During this period, </a:t>
            </a:r>
            <a:r>
              <a:rPr lang="vi-VN" sz="2500" b="1">
                <a:effectLst/>
                <a:latin typeface="+mn-lt"/>
                <a:ea typeface="Times New Roman" panose="02020603050405020304" pitchFamily="18" charset="0"/>
              </a:rPr>
              <a:t>the pipeline does not fetch new instructions</a:t>
            </a:r>
            <a:endParaRPr lang="vi-VN" sz="2500">
              <a:effectLst/>
              <a:latin typeface="+mn-lt"/>
              <a:ea typeface="Times New Roman" panose="02020603050405020304" pitchFamily="18" charset="0"/>
            </a:endParaRPr>
          </a:p>
        </p:txBody>
      </p:sp>
      <p:cxnSp>
        <p:nvCxnSpPr>
          <p:cNvPr id="3" name="Straight Arrow Connector 2">
            <a:extLst>
              <a:ext uri="{FF2B5EF4-FFF2-40B4-BE49-F238E27FC236}">
                <a16:creationId xmlns:a16="http://schemas.microsoft.com/office/drawing/2014/main" id="{D5C7B2ED-18EE-CBCD-FE66-97797603E906}"/>
              </a:ext>
            </a:extLst>
          </p:cNvPr>
          <p:cNvCxnSpPr>
            <a:cxnSpLocks/>
          </p:cNvCxnSpPr>
          <p:nvPr/>
        </p:nvCxnSpPr>
        <p:spPr>
          <a:xfrm>
            <a:off x="4091288" y="1241925"/>
            <a:ext cx="352696" cy="12786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082AEA2A-B7B2-BD79-18C6-DCDBE07E3E60}"/>
              </a:ext>
            </a:extLst>
          </p:cNvPr>
          <p:cNvSpPr txBox="1"/>
          <p:nvPr/>
        </p:nvSpPr>
        <p:spPr>
          <a:xfrm>
            <a:off x="2987912" y="963612"/>
            <a:ext cx="1584088" cy="307777"/>
          </a:xfrm>
          <a:prstGeom prst="rect">
            <a:avLst/>
          </a:prstGeom>
          <a:noFill/>
        </p:spPr>
        <p:txBody>
          <a:bodyPr wrap="square" rtlCol="0">
            <a:spAutoFit/>
          </a:bodyPr>
          <a:lstStyle/>
          <a:p>
            <a:r>
              <a:rPr lang="en-US" b="1">
                <a:solidFill>
                  <a:srgbClr val="FF0000"/>
                </a:solidFill>
              </a:rPr>
              <a:t>Load instruction</a:t>
            </a:r>
            <a:endParaRPr lang="vi-VN" b="1">
              <a:solidFill>
                <a:srgbClr val="FF0000"/>
              </a:solidFill>
            </a:endParaRPr>
          </a:p>
        </p:txBody>
      </p:sp>
      <p:cxnSp>
        <p:nvCxnSpPr>
          <p:cNvPr id="7" name="Straight Arrow Connector 6">
            <a:extLst>
              <a:ext uri="{FF2B5EF4-FFF2-40B4-BE49-F238E27FC236}">
                <a16:creationId xmlns:a16="http://schemas.microsoft.com/office/drawing/2014/main" id="{9AE54BE9-306B-953B-B01E-BFAF784F7B0E}"/>
              </a:ext>
            </a:extLst>
          </p:cNvPr>
          <p:cNvCxnSpPr>
            <a:cxnSpLocks/>
          </p:cNvCxnSpPr>
          <p:nvPr/>
        </p:nvCxnSpPr>
        <p:spPr>
          <a:xfrm>
            <a:off x="7674864" y="1296574"/>
            <a:ext cx="323088" cy="8411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5DCB1B3D-07DC-DC45-C3F3-5F67A94C14B9}"/>
              </a:ext>
            </a:extLst>
          </p:cNvPr>
          <p:cNvSpPr txBox="1"/>
          <p:nvPr/>
        </p:nvSpPr>
        <p:spPr>
          <a:xfrm>
            <a:off x="6571488" y="1018261"/>
            <a:ext cx="1584088" cy="307777"/>
          </a:xfrm>
          <a:prstGeom prst="rect">
            <a:avLst/>
          </a:prstGeom>
          <a:noFill/>
        </p:spPr>
        <p:txBody>
          <a:bodyPr wrap="square" rtlCol="0">
            <a:spAutoFit/>
          </a:bodyPr>
          <a:lstStyle/>
          <a:p>
            <a:r>
              <a:rPr lang="en-US" b="1">
                <a:solidFill>
                  <a:srgbClr val="FF0000"/>
                </a:solidFill>
              </a:rPr>
              <a:t>Add instruction</a:t>
            </a:r>
            <a:endParaRPr lang="vi-VN" b="1">
              <a:solidFill>
                <a:srgbClr val="FF0000"/>
              </a:solidFill>
            </a:endParaRPr>
          </a:p>
        </p:txBody>
      </p:sp>
    </p:spTree>
    <p:extLst>
      <p:ext uri="{BB962C8B-B14F-4D97-AF65-F5344CB8AC3E}">
        <p14:creationId xmlns:p14="http://schemas.microsoft.com/office/powerpoint/2010/main" val="32698922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12">
          <a:extLst>
            <a:ext uri="{FF2B5EF4-FFF2-40B4-BE49-F238E27FC236}">
              <a16:creationId xmlns:a16="http://schemas.microsoft.com/office/drawing/2014/main" id="{9212C08E-8EB3-1C31-BF2E-BEB908961CB1}"/>
            </a:ext>
          </a:extLst>
        </p:cNvPr>
        <p:cNvGrpSpPr/>
        <p:nvPr/>
      </p:nvGrpSpPr>
      <p:grpSpPr>
        <a:xfrm>
          <a:off x="0" y="0"/>
          <a:ext cx="0" cy="0"/>
          <a:chOff x="0" y="0"/>
          <a:chExt cx="0" cy="0"/>
        </a:xfrm>
      </p:grpSpPr>
      <p:sp>
        <p:nvSpPr>
          <p:cNvPr id="213" name="Google Shape;213;p8">
            <a:extLst>
              <a:ext uri="{FF2B5EF4-FFF2-40B4-BE49-F238E27FC236}">
                <a16:creationId xmlns:a16="http://schemas.microsoft.com/office/drawing/2014/main" id="{7C9DB68D-5B0E-CEF3-1321-8BBBE50261F2}"/>
              </a:ext>
            </a:extLst>
          </p:cNvPr>
          <p:cNvSpPr txBox="1">
            <a:spLocks noGrp="1"/>
          </p:cNvSpPr>
          <p:nvPr>
            <p:ph type="title"/>
          </p:nvPr>
        </p:nvSpPr>
        <p:spPr>
          <a:xfrm>
            <a:off x="893762" y="288925"/>
            <a:ext cx="6269037" cy="674687"/>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00000"/>
              </a:lnSpc>
              <a:spcBef>
                <a:spcPts val="0"/>
              </a:spcBef>
              <a:spcAft>
                <a:spcPts val="0"/>
              </a:spcAft>
              <a:buClr>
                <a:srgbClr val="3376C7"/>
              </a:buClr>
              <a:buSzPts val="4000"/>
              <a:buFont typeface="Arial"/>
              <a:buNone/>
            </a:pPr>
            <a:r>
              <a:rPr lang="en-US" sz="4000" b="1" i="0" u="none">
                <a:solidFill>
                  <a:srgbClr val="3376C7"/>
                </a:solidFill>
                <a:latin typeface="Arial"/>
                <a:ea typeface="Arial"/>
                <a:cs typeface="Arial"/>
                <a:sym typeface="Arial"/>
              </a:rPr>
              <a:t>Result</a:t>
            </a:r>
            <a:endParaRPr lang="en-US"/>
          </a:p>
        </p:txBody>
      </p:sp>
      <p:sp>
        <p:nvSpPr>
          <p:cNvPr id="214" name="Google Shape;214;p8">
            <a:extLst>
              <a:ext uri="{FF2B5EF4-FFF2-40B4-BE49-F238E27FC236}">
                <a16:creationId xmlns:a16="http://schemas.microsoft.com/office/drawing/2014/main" id="{17E1AC6F-61F4-C698-BABB-3BAAF2B8C8AD}"/>
              </a:ext>
            </a:extLst>
          </p:cNvPr>
          <p:cNvSpPr txBox="1"/>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Arial"/>
              <a:buNone/>
            </a:pPr>
            <a:fld id="{00000000-1234-1234-1234-123412341234}" type="slidenum">
              <a:rPr lang="en-US" sz="1200" b="0" i="0" u="none">
                <a:solidFill>
                  <a:srgbClr val="898989"/>
                </a:solidFill>
                <a:latin typeface="Arial"/>
                <a:ea typeface="Arial"/>
                <a:cs typeface="Arial"/>
                <a:sym typeface="Arial"/>
              </a:rPr>
              <a:t>34</a:t>
            </a:fld>
            <a:endParaRPr/>
          </a:p>
        </p:txBody>
      </p:sp>
      <p:pic>
        <p:nvPicPr>
          <p:cNvPr id="2" name="Picture 1">
            <a:extLst>
              <a:ext uri="{FF2B5EF4-FFF2-40B4-BE49-F238E27FC236}">
                <a16:creationId xmlns:a16="http://schemas.microsoft.com/office/drawing/2014/main" id="{F4B144D6-099D-3971-CC6D-C094B76108ED}"/>
              </a:ext>
            </a:extLst>
          </p:cNvPr>
          <p:cNvPicPr>
            <a:picLocks noChangeAspect="1"/>
          </p:cNvPicPr>
          <p:nvPr/>
        </p:nvPicPr>
        <p:blipFill>
          <a:blip r:embed="rId3"/>
          <a:stretch>
            <a:fillRect/>
          </a:stretch>
        </p:blipFill>
        <p:spPr>
          <a:xfrm>
            <a:off x="0" y="1559660"/>
            <a:ext cx="9144000" cy="874185"/>
          </a:xfrm>
          <a:prstGeom prst="rect">
            <a:avLst/>
          </a:prstGeom>
        </p:spPr>
      </p:pic>
      <p:sp>
        <p:nvSpPr>
          <p:cNvPr id="5" name="TextBox 4">
            <a:extLst>
              <a:ext uri="{FF2B5EF4-FFF2-40B4-BE49-F238E27FC236}">
                <a16:creationId xmlns:a16="http://schemas.microsoft.com/office/drawing/2014/main" id="{EF59E9A8-FA56-D68E-F3A9-1B91FE4C2B0A}"/>
              </a:ext>
            </a:extLst>
          </p:cNvPr>
          <p:cNvSpPr txBox="1"/>
          <p:nvPr/>
        </p:nvSpPr>
        <p:spPr>
          <a:xfrm>
            <a:off x="0" y="2421344"/>
            <a:ext cx="9144000" cy="4060663"/>
          </a:xfrm>
          <a:prstGeom prst="rect">
            <a:avLst/>
          </a:prstGeom>
          <a:noFill/>
        </p:spPr>
        <p:txBody>
          <a:bodyPr wrap="square">
            <a:spAutoFit/>
          </a:bodyPr>
          <a:lstStyle/>
          <a:p>
            <a:pPr algn="just">
              <a:lnSpc>
                <a:spcPct val="150000"/>
              </a:lnSpc>
              <a:spcBef>
                <a:spcPts val="600"/>
              </a:spcBef>
              <a:spcAft>
                <a:spcPts val="1000"/>
              </a:spcAft>
            </a:pPr>
            <a:r>
              <a:rPr lang="vi-VN" sz="2500">
                <a:latin typeface="+mn-lt"/>
                <a:ea typeface="Times New Roman" panose="02020603050405020304" pitchFamily="18" charset="0"/>
              </a:rPr>
              <a:t>I</a:t>
            </a:r>
            <a:r>
              <a:rPr lang="vi-VN" sz="2500">
                <a:effectLst/>
                <a:latin typeface="+mn-lt"/>
                <a:ea typeface="Times New Roman" panose="02020603050405020304" pitchFamily="18" charset="0"/>
              </a:rPr>
              <a:t>f the following instruction does </a:t>
            </a:r>
            <a:r>
              <a:rPr lang="vi-VN" sz="2500" b="1">
                <a:effectLst/>
                <a:latin typeface="+mn-lt"/>
                <a:ea typeface="Times New Roman" panose="02020603050405020304" pitchFamily="18" charset="0"/>
              </a:rPr>
              <a:t>not</a:t>
            </a:r>
            <a:r>
              <a:rPr lang="vi-VN" sz="2500">
                <a:effectLst/>
                <a:latin typeface="+mn-lt"/>
                <a:ea typeface="Times New Roman" panose="02020603050405020304" pitchFamily="18" charset="0"/>
              </a:rPr>
              <a:t> require access to memory (e.g., an ADD operation between registers), the pipeline is permitted to continue fetching and decoding subsequent instructions even while the TMATMUL computation is ongoing. This form of </a:t>
            </a:r>
            <a:r>
              <a:rPr lang="vi-VN" sz="2500" b="1">
                <a:effectLst/>
                <a:latin typeface="+mn-lt"/>
                <a:ea typeface="Times New Roman" panose="02020603050405020304" pitchFamily="18" charset="0"/>
              </a:rPr>
              <a:t>hardware-level parallelism</a:t>
            </a:r>
            <a:r>
              <a:rPr lang="vi-VN" sz="2500">
                <a:effectLst/>
                <a:latin typeface="+mn-lt"/>
                <a:ea typeface="Times New Roman" panose="02020603050405020304" pitchFamily="18" charset="0"/>
              </a:rPr>
              <a:t> is essential to reduce overall instruction latency and maintain high pipeline throughput.</a:t>
            </a:r>
          </a:p>
        </p:txBody>
      </p:sp>
      <p:cxnSp>
        <p:nvCxnSpPr>
          <p:cNvPr id="3" name="Straight Arrow Connector 2">
            <a:extLst>
              <a:ext uri="{FF2B5EF4-FFF2-40B4-BE49-F238E27FC236}">
                <a16:creationId xmlns:a16="http://schemas.microsoft.com/office/drawing/2014/main" id="{7B1801C1-D53A-0D9E-B4F6-15844BC1B148}"/>
              </a:ext>
            </a:extLst>
          </p:cNvPr>
          <p:cNvCxnSpPr/>
          <p:nvPr/>
        </p:nvCxnSpPr>
        <p:spPr>
          <a:xfrm>
            <a:off x="6833616" y="1357251"/>
            <a:ext cx="286512" cy="24993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89CCF20-38E2-A5C0-4049-8B0DFB84BE8D}"/>
              </a:ext>
            </a:extLst>
          </p:cNvPr>
          <p:cNvSpPr txBox="1"/>
          <p:nvPr/>
        </p:nvSpPr>
        <p:spPr>
          <a:xfrm>
            <a:off x="5730240" y="1078938"/>
            <a:ext cx="1584088" cy="307777"/>
          </a:xfrm>
          <a:prstGeom prst="rect">
            <a:avLst/>
          </a:prstGeom>
          <a:noFill/>
        </p:spPr>
        <p:txBody>
          <a:bodyPr wrap="none" rtlCol="0">
            <a:spAutoFit/>
          </a:bodyPr>
          <a:lstStyle/>
          <a:p>
            <a:r>
              <a:rPr lang="en-US" b="1">
                <a:solidFill>
                  <a:srgbClr val="FF0000"/>
                </a:solidFill>
              </a:rPr>
              <a:t>Load instruction</a:t>
            </a:r>
            <a:endParaRPr lang="vi-VN" b="1">
              <a:solidFill>
                <a:srgbClr val="FF0000"/>
              </a:solidFill>
            </a:endParaRPr>
          </a:p>
        </p:txBody>
      </p:sp>
      <p:cxnSp>
        <p:nvCxnSpPr>
          <p:cNvPr id="6" name="Straight Arrow Connector 5">
            <a:extLst>
              <a:ext uri="{FF2B5EF4-FFF2-40B4-BE49-F238E27FC236}">
                <a16:creationId xmlns:a16="http://schemas.microsoft.com/office/drawing/2014/main" id="{2F0B266C-E184-7790-D439-21825E182508}"/>
              </a:ext>
            </a:extLst>
          </p:cNvPr>
          <p:cNvCxnSpPr/>
          <p:nvPr/>
        </p:nvCxnSpPr>
        <p:spPr>
          <a:xfrm>
            <a:off x="4268216" y="1309724"/>
            <a:ext cx="286512" cy="24993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E51D9EB8-BB0E-CABD-1CD3-C07C83AD782A}"/>
              </a:ext>
            </a:extLst>
          </p:cNvPr>
          <p:cNvSpPr txBox="1"/>
          <p:nvPr/>
        </p:nvSpPr>
        <p:spPr>
          <a:xfrm>
            <a:off x="3164840" y="1031411"/>
            <a:ext cx="1505540" cy="307777"/>
          </a:xfrm>
          <a:prstGeom prst="rect">
            <a:avLst/>
          </a:prstGeom>
          <a:noFill/>
        </p:spPr>
        <p:txBody>
          <a:bodyPr wrap="none" rtlCol="0">
            <a:spAutoFit/>
          </a:bodyPr>
          <a:lstStyle/>
          <a:p>
            <a:r>
              <a:rPr lang="en-US" b="1">
                <a:solidFill>
                  <a:srgbClr val="FF0000"/>
                </a:solidFill>
              </a:rPr>
              <a:t>Add instruction</a:t>
            </a:r>
            <a:endParaRPr lang="vi-VN" b="1">
              <a:solidFill>
                <a:srgbClr val="FF0000"/>
              </a:solidFill>
            </a:endParaRPr>
          </a:p>
        </p:txBody>
      </p:sp>
      <p:cxnSp>
        <p:nvCxnSpPr>
          <p:cNvPr id="8" name="Straight Arrow Connector 7">
            <a:extLst>
              <a:ext uri="{FF2B5EF4-FFF2-40B4-BE49-F238E27FC236}">
                <a16:creationId xmlns:a16="http://schemas.microsoft.com/office/drawing/2014/main" id="{1DE395F9-6E5D-A4C2-9319-F63904DE9773}"/>
              </a:ext>
            </a:extLst>
          </p:cNvPr>
          <p:cNvCxnSpPr/>
          <p:nvPr/>
        </p:nvCxnSpPr>
        <p:spPr>
          <a:xfrm>
            <a:off x="2611992" y="1357251"/>
            <a:ext cx="286512" cy="24993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3BACDB53-ACC2-BC2A-5FD7-D05D697768AF}"/>
              </a:ext>
            </a:extLst>
          </p:cNvPr>
          <p:cNvSpPr txBox="1"/>
          <p:nvPr/>
        </p:nvSpPr>
        <p:spPr>
          <a:xfrm>
            <a:off x="1050157" y="1031411"/>
            <a:ext cx="2042547" cy="307777"/>
          </a:xfrm>
          <a:prstGeom prst="rect">
            <a:avLst/>
          </a:prstGeom>
          <a:noFill/>
        </p:spPr>
        <p:txBody>
          <a:bodyPr wrap="none" rtlCol="0">
            <a:spAutoFit/>
          </a:bodyPr>
          <a:lstStyle/>
          <a:p>
            <a:r>
              <a:rPr lang="en-US" b="1">
                <a:solidFill>
                  <a:srgbClr val="FF0000"/>
                </a:solidFill>
              </a:rPr>
              <a:t>TMATMUL instruction</a:t>
            </a:r>
            <a:endParaRPr lang="vi-VN" b="1">
              <a:solidFill>
                <a:srgbClr val="FF0000"/>
              </a:solidFill>
            </a:endParaRPr>
          </a:p>
        </p:txBody>
      </p:sp>
    </p:spTree>
    <p:extLst>
      <p:ext uri="{BB962C8B-B14F-4D97-AF65-F5344CB8AC3E}">
        <p14:creationId xmlns:p14="http://schemas.microsoft.com/office/powerpoint/2010/main" val="36620170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12">
          <a:extLst>
            <a:ext uri="{FF2B5EF4-FFF2-40B4-BE49-F238E27FC236}">
              <a16:creationId xmlns:a16="http://schemas.microsoft.com/office/drawing/2014/main" id="{8FF67BDC-CA33-E3D2-0323-D85BBA907D00}"/>
            </a:ext>
          </a:extLst>
        </p:cNvPr>
        <p:cNvGrpSpPr/>
        <p:nvPr/>
      </p:nvGrpSpPr>
      <p:grpSpPr>
        <a:xfrm>
          <a:off x="0" y="0"/>
          <a:ext cx="0" cy="0"/>
          <a:chOff x="0" y="0"/>
          <a:chExt cx="0" cy="0"/>
        </a:xfrm>
      </p:grpSpPr>
      <p:sp>
        <p:nvSpPr>
          <p:cNvPr id="213" name="Google Shape;213;p8">
            <a:extLst>
              <a:ext uri="{FF2B5EF4-FFF2-40B4-BE49-F238E27FC236}">
                <a16:creationId xmlns:a16="http://schemas.microsoft.com/office/drawing/2014/main" id="{667C282B-0D49-DA24-E224-EE99142E0127}"/>
              </a:ext>
            </a:extLst>
          </p:cNvPr>
          <p:cNvSpPr txBox="1">
            <a:spLocks noGrp="1"/>
          </p:cNvSpPr>
          <p:nvPr>
            <p:ph type="title"/>
          </p:nvPr>
        </p:nvSpPr>
        <p:spPr>
          <a:xfrm>
            <a:off x="893762" y="288925"/>
            <a:ext cx="6269037" cy="674687"/>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00000"/>
              </a:lnSpc>
              <a:spcBef>
                <a:spcPts val="0"/>
              </a:spcBef>
              <a:spcAft>
                <a:spcPts val="0"/>
              </a:spcAft>
              <a:buClr>
                <a:srgbClr val="3376C7"/>
              </a:buClr>
              <a:buSzPts val="4000"/>
              <a:buFont typeface="Arial"/>
              <a:buNone/>
            </a:pPr>
            <a:r>
              <a:rPr lang="en-US" sz="4000" b="1" i="0" u="none">
                <a:solidFill>
                  <a:srgbClr val="3376C7"/>
                </a:solidFill>
                <a:latin typeface="Arial"/>
                <a:ea typeface="Arial"/>
                <a:cs typeface="Arial"/>
                <a:sym typeface="Arial"/>
              </a:rPr>
              <a:t>Result</a:t>
            </a:r>
            <a:endParaRPr lang="en-US"/>
          </a:p>
        </p:txBody>
      </p:sp>
      <p:sp>
        <p:nvSpPr>
          <p:cNvPr id="214" name="Google Shape;214;p8">
            <a:extLst>
              <a:ext uri="{FF2B5EF4-FFF2-40B4-BE49-F238E27FC236}">
                <a16:creationId xmlns:a16="http://schemas.microsoft.com/office/drawing/2014/main" id="{6093ADE6-1C31-82FD-14AB-C6E11329A054}"/>
              </a:ext>
            </a:extLst>
          </p:cNvPr>
          <p:cNvSpPr txBox="1"/>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Arial"/>
              <a:buNone/>
            </a:pPr>
            <a:fld id="{00000000-1234-1234-1234-123412341234}" type="slidenum">
              <a:rPr lang="en-US" sz="1200" b="0" i="0" u="none">
                <a:solidFill>
                  <a:srgbClr val="898989"/>
                </a:solidFill>
                <a:latin typeface="Arial"/>
                <a:ea typeface="Arial"/>
                <a:cs typeface="Arial"/>
                <a:sym typeface="Arial"/>
              </a:rPr>
              <a:t>35</a:t>
            </a:fld>
            <a:endParaRPr/>
          </a:p>
        </p:txBody>
      </p:sp>
      <p:pic>
        <p:nvPicPr>
          <p:cNvPr id="2" name="Picture 1" descr="A screenshot of a computer&#10;&#10;AI-generated content may be incorrect.">
            <a:extLst>
              <a:ext uri="{FF2B5EF4-FFF2-40B4-BE49-F238E27FC236}">
                <a16:creationId xmlns:a16="http://schemas.microsoft.com/office/drawing/2014/main" id="{2E11316F-2E52-470F-2124-F691F8E3F235}"/>
              </a:ext>
            </a:extLst>
          </p:cNvPr>
          <p:cNvPicPr>
            <a:picLocks noChangeAspect="1"/>
          </p:cNvPicPr>
          <p:nvPr/>
        </p:nvPicPr>
        <p:blipFill rotWithShape="1">
          <a:blip r:embed="rId3"/>
          <a:srcRect b="11863"/>
          <a:stretch/>
        </p:blipFill>
        <p:spPr bwMode="auto">
          <a:xfrm>
            <a:off x="0" y="1486908"/>
            <a:ext cx="9166141" cy="2627891"/>
          </a:xfrm>
          <a:prstGeom prst="rect">
            <a:avLst/>
          </a:prstGeom>
          <a:ln>
            <a:noFill/>
          </a:ln>
          <a:extLst>
            <a:ext uri="{53640926-AAD7-44D8-BBD7-CCE9431645EC}">
              <a14:shadowObscured xmlns:a14="http://schemas.microsoft.com/office/drawing/2010/main"/>
            </a:ext>
          </a:extLst>
        </p:spPr>
      </p:pic>
      <p:sp>
        <p:nvSpPr>
          <p:cNvPr id="3" name="Rectangle 2">
            <a:extLst>
              <a:ext uri="{FF2B5EF4-FFF2-40B4-BE49-F238E27FC236}">
                <a16:creationId xmlns:a16="http://schemas.microsoft.com/office/drawing/2014/main" id="{F62ECCE8-0B62-FF08-AC94-7F4FB5697C6E}"/>
              </a:ext>
            </a:extLst>
          </p:cNvPr>
          <p:cNvSpPr/>
          <p:nvPr/>
        </p:nvSpPr>
        <p:spPr>
          <a:xfrm>
            <a:off x="0" y="2509736"/>
            <a:ext cx="9166141" cy="160506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 name="TextBox 3">
            <a:extLst>
              <a:ext uri="{FF2B5EF4-FFF2-40B4-BE49-F238E27FC236}">
                <a16:creationId xmlns:a16="http://schemas.microsoft.com/office/drawing/2014/main" id="{223B0BA7-015E-4E53-9E34-D13C3467A5F4}"/>
              </a:ext>
            </a:extLst>
          </p:cNvPr>
          <p:cNvSpPr txBox="1"/>
          <p:nvPr/>
        </p:nvSpPr>
        <p:spPr>
          <a:xfrm>
            <a:off x="22141" y="4309033"/>
            <a:ext cx="9144000" cy="1752339"/>
          </a:xfrm>
          <a:prstGeom prst="rect">
            <a:avLst/>
          </a:prstGeom>
          <a:noFill/>
        </p:spPr>
        <p:txBody>
          <a:bodyPr wrap="square">
            <a:spAutoFit/>
          </a:bodyPr>
          <a:lstStyle/>
          <a:p>
            <a:pPr algn="just">
              <a:lnSpc>
                <a:spcPct val="150000"/>
              </a:lnSpc>
              <a:spcBef>
                <a:spcPts val="600"/>
              </a:spcBef>
              <a:spcAft>
                <a:spcPts val="1000"/>
              </a:spcAft>
            </a:pPr>
            <a:r>
              <a:rPr lang="vi-VN" sz="2500">
                <a:effectLst/>
                <a:latin typeface="+mn-lt"/>
                <a:ea typeface="Times New Roman" panose="02020603050405020304" pitchFamily="18" charset="0"/>
              </a:rPr>
              <a:t>While the </a:t>
            </a:r>
            <a:r>
              <a:rPr lang="vi-VN" sz="2500">
                <a:latin typeface="+mn-lt"/>
                <a:ea typeface="Times New Roman" panose="02020603050405020304" pitchFamily="18" charset="0"/>
              </a:rPr>
              <a:t>above register fetch others</a:t>
            </a:r>
            <a:r>
              <a:rPr lang="en-US" sz="2500">
                <a:latin typeface="+mn-lt"/>
                <a:ea typeface="Times New Roman" panose="02020603050405020304" pitchFamily="18" charset="0"/>
              </a:rPr>
              <a:t> instructions, the memory and ternary matrix multiplication are still running, demonstrate the parallenism of the design</a:t>
            </a:r>
            <a:endParaRPr lang="vi-VN" sz="2500">
              <a:effectLst/>
              <a:latin typeface="+mn-lt"/>
              <a:ea typeface="Times New Roman" panose="02020603050405020304" pitchFamily="18" charset="0"/>
            </a:endParaRPr>
          </a:p>
        </p:txBody>
      </p:sp>
      <p:cxnSp>
        <p:nvCxnSpPr>
          <p:cNvPr id="6" name="Straight Arrow Connector 5">
            <a:extLst>
              <a:ext uri="{FF2B5EF4-FFF2-40B4-BE49-F238E27FC236}">
                <a16:creationId xmlns:a16="http://schemas.microsoft.com/office/drawing/2014/main" id="{5DFEA7DF-2F93-95C7-30F8-12BC0F46C38C}"/>
              </a:ext>
            </a:extLst>
          </p:cNvPr>
          <p:cNvCxnSpPr/>
          <p:nvPr/>
        </p:nvCxnSpPr>
        <p:spPr>
          <a:xfrm>
            <a:off x="5462016" y="1304544"/>
            <a:ext cx="286512" cy="24993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52BE7D6C-B04A-D9A0-615C-E36275322601}"/>
              </a:ext>
            </a:extLst>
          </p:cNvPr>
          <p:cNvSpPr txBox="1"/>
          <p:nvPr/>
        </p:nvSpPr>
        <p:spPr>
          <a:xfrm>
            <a:off x="4358640" y="1026231"/>
            <a:ext cx="1584088" cy="307777"/>
          </a:xfrm>
          <a:prstGeom prst="rect">
            <a:avLst/>
          </a:prstGeom>
          <a:noFill/>
        </p:spPr>
        <p:txBody>
          <a:bodyPr wrap="none" rtlCol="0">
            <a:spAutoFit/>
          </a:bodyPr>
          <a:lstStyle/>
          <a:p>
            <a:r>
              <a:rPr lang="en-US" b="1">
                <a:solidFill>
                  <a:srgbClr val="FF0000"/>
                </a:solidFill>
              </a:rPr>
              <a:t>Load instruction</a:t>
            </a:r>
            <a:endParaRPr lang="vi-VN" b="1">
              <a:solidFill>
                <a:srgbClr val="FF0000"/>
              </a:solidFill>
            </a:endParaRPr>
          </a:p>
        </p:txBody>
      </p:sp>
      <p:cxnSp>
        <p:nvCxnSpPr>
          <p:cNvPr id="9" name="Straight Arrow Connector 8">
            <a:extLst>
              <a:ext uri="{FF2B5EF4-FFF2-40B4-BE49-F238E27FC236}">
                <a16:creationId xmlns:a16="http://schemas.microsoft.com/office/drawing/2014/main" id="{75521477-7BD5-F3B8-04EC-D2B64C6D9917}"/>
              </a:ext>
            </a:extLst>
          </p:cNvPr>
          <p:cNvCxnSpPr>
            <a:cxnSpLocks/>
          </p:cNvCxnSpPr>
          <p:nvPr/>
        </p:nvCxnSpPr>
        <p:spPr>
          <a:xfrm flipH="1">
            <a:off x="6451600" y="1288893"/>
            <a:ext cx="905836" cy="47909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1306E733-6CDC-FA56-4E98-3A527A369E65}"/>
              </a:ext>
            </a:extLst>
          </p:cNvPr>
          <p:cNvSpPr txBox="1"/>
          <p:nvPr/>
        </p:nvSpPr>
        <p:spPr>
          <a:xfrm>
            <a:off x="6254060" y="1010580"/>
            <a:ext cx="1584088" cy="307777"/>
          </a:xfrm>
          <a:prstGeom prst="rect">
            <a:avLst/>
          </a:prstGeom>
          <a:noFill/>
        </p:spPr>
        <p:txBody>
          <a:bodyPr wrap="square" rtlCol="0">
            <a:spAutoFit/>
          </a:bodyPr>
          <a:lstStyle/>
          <a:p>
            <a:r>
              <a:rPr lang="en-US" b="1">
                <a:solidFill>
                  <a:srgbClr val="FF0000"/>
                </a:solidFill>
              </a:rPr>
              <a:t>Add instruction</a:t>
            </a:r>
            <a:endParaRPr lang="vi-VN" b="1">
              <a:solidFill>
                <a:srgbClr val="FF0000"/>
              </a:solidFill>
            </a:endParaRPr>
          </a:p>
        </p:txBody>
      </p:sp>
    </p:spTree>
    <p:extLst>
      <p:ext uri="{BB962C8B-B14F-4D97-AF65-F5344CB8AC3E}">
        <p14:creationId xmlns:p14="http://schemas.microsoft.com/office/powerpoint/2010/main" val="6097520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12">
          <a:extLst>
            <a:ext uri="{FF2B5EF4-FFF2-40B4-BE49-F238E27FC236}">
              <a16:creationId xmlns:a16="http://schemas.microsoft.com/office/drawing/2014/main" id="{1D841BF5-EA94-CF71-216B-16C3981408EB}"/>
            </a:ext>
          </a:extLst>
        </p:cNvPr>
        <p:cNvGrpSpPr/>
        <p:nvPr/>
      </p:nvGrpSpPr>
      <p:grpSpPr>
        <a:xfrm>
          <a:off x="0" y="0"/>
          <a:ext cx="0" cy="0"/>
          <a:chOff x="0" y="0"/>
          <a:chExt cx="0" cy="0"/>
        </a:xfrm>
      </p:grpSpPr>
      <p:sp>
        <p:nvSpPr>
          <p:cNvPr id="213" name="Google Shape;213;p8">
            <a:extLst>
              <a:ext uri="{FF2B5EF4-FFF2-40B4-BE49-F238E27FC236}">
                <a16:creationId xmlns:a16="http://schemas.microsoft.com/office/drawing/2014/main" id="{B57319C3-985E-6C02-77D3-E17670C00F50}"/>
              </a:ext>
            </a:extLst>
          </p:cNvPr>
          <p:cNvSpPr txBox="1">
            <a:spLocks noGrp="1"/>
          </p:cNvSpPr>
          <p:nvPr>
            <p:ph type="title"/>
          </p:nvPr>
        </p:nvSpPr>
        <p:spPr>
          <a:xfrm>
            <a:off x="893762" y="288925"/>
            <a:ext cx="6269037" cy="674687"/>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00000"/>
              </a:lnSpc>
              <a:spcBef>
                <a:spcPts val="0"/>
              </a:spcBef>
              <a:spcAft>
                <a:spcPts val="0"/>
              </a:spcAft>
              <a:buClr>
                <a:srgbClr val="3376C7"/>
              </a:buClr>
              <a:buSzPts val="4000"/>
              <a:buFont typeface="Arial"/>
              <a:buNone/>
            </a:pPr>
            <a:r>
              <a:rPr lang="en-US" sz="4000" b="1" i="0" u="none">
                <a:solidFill>
                  <a:srgbClr val="3376C7"/>
                </a:solidFill>
                <a:latin typeface="Arial"/>
                <a:ea typeface="Arial"/>
                <a:cs typeface="Arial"/>
                <a:sym typeface="Arial"/>
              </a:rPr>
              <a:t>Result</a:t>
            </a:r>
            <a:endParaRPr lang="en-US"/>
          </a:p>
        </p:txBody>
      </p:sp>
      <p:sp>
        <p:nvSpPr>
          <p:cNvPr id="214" name="Google Shape;214;p8">
            <a:extLst>
              <a:ext uri="{FF2B5EF4-FFF2-40B4-BE49-F238E27FC236}">
                <a16:creationId xmlns:a16="http://schemas.microsoft.com/office/drawing/2014/main" id="{8302E50C-EC12-4B19-071F-C0891304BFD8}"/>
              </a:ext>
            </a:extLst>
          </p:cNvPr>
          <p:cNvSpPr txBox="1"/>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Arial"/>
              <a:buNone/>
            </a:pPr>
            <a:fld id="{00000000-1234-1234-1234-123412341234}" type="slidenum">
              <a:rPr lang="en-US" sz="1200" b="0" i="0" u="none">
                <a:solidFill>
                  <a:srgbClr val="898989"/>
                </a:solidFill>
                <a:latin typeface="Arial"/>
                <a:ea typeface="Arial"/>
                <a:cs typeface="Arial"/>
                <a:sym typeface="Arial"/>
              </a:rPr>
              <a:t>36</a:t>
            </a:fld>
            <a:endParaRPr/>
          </a:p>
        </p:txBody>
      </p:sp>
      <p:pic>
        <p:nvPicPr>
          <p:cNvPr id="2" name="Picture 1">
            <a:extLst>
              <a:ext uri="{FF2B5EF4-FFF2-40B4-BE49-F238E27FC236}">
                <a16:creationId xmlns:a16="http://schemas.microsoft.com/office/drawing/2014/main" id="{78F8B451-92C1-4C65-8CE6-E4A03366A9B9}"/>
              </a:ext>
            </a:extLst>
          </p:cNvPr>
          <p:cNvPicPr>
            <a:picLocks noChangeAspect="1"/>
          </p:cNvPicPr>
          <p:nvPr/>
        </p:nvPicPr>
        <p:blipFill>
          <a:blip r:embed="rId3"/>
          <a:stretch>
            <a:fillRect/>
          </a:stretch>
        </p:blipFill>
        <p:spPr>
          <a:xfrm>
            <a:off x="250703" y="1827352"/>
            <a:ext cx="4227242" cy="789704"/>
          </a:xfrm>
          <a:prstGeom prst="rect">
            <a:avLst/>
          </a:prstGeom>
        </p:spPr>
      </p:pic>
      <p:sp>
        <p:nvSpPr>
          <p:cNvPr id="3" name="TextBox 2">
            <a:extLst>
              <a:ext uri="{FF2B5EF4-FFF2-40B4-BE49-F238E27FC236}">
                <a16:creationId xmlns:a16="http://schemas.microsoft.com/office/drawing/2014/main" id="{C175B372-8095-FFE0-F665-059FB6B83BA7}"/>
              </a:ext>
            </a:extLst>
          </p:cNvPr>
          <p:cNvSpPr txBox="1"/>
          <p:nvPr/>
        </p:nvSpPr>
        <p:spPr>
          <a:xfrm>
            <a:off x="121920" y="925888"/>
            <a:ext cx="8442960" cy="598177"/>
          </a:xfrm>
          <a:prstGeom prst="rect">
            <a:avLst/>
          </a:prstGeom>
          <a:noFill/>
        </p:spPr>
        <p:txBody>
          <a:bodyPr wrap="square">
            <a:spAutoFit/>
          </a:bodyPr>
          <a:lstStyle/>
          <a:p>
            <a:pPr algn="just">
              <a:lnSpc>
                <a:spcPct val="150000"/>
              </a:lnSpc>
              <a:spcBef>
                <a:spcPts val="600"/>
              </a:spcBef>
              <a:spcAft>
                <a:spcPts val="1000"/>
              </a:spcAft>
            </a:pPr>
            <a:r>
              <a:rPr lang="vi-VN" sz="2500">
                <a:effectLst/>
                <a:latin typeface="+mn-lt"/>
                <a:ea typeface="Times New Roman" panose="02020603050405020304" pitchFamily="18" charset="0"/>
              </a:rPr>
              <a:t>Total cycle when only calculate </a:t>
            </a:r>
            <a:r>
              <a:rPr lang="vi-VN" sz="2500" b="1">
                <a:effectLst/>
                <a:latin typeface="+mn-lt"/>
                <a:ea typeface="Times New Roman" panose="02020603050405020304" pitchFamily="18" charset="0"/>
              </a:rPr>
              <a:t>TMATMUL instruction</a:t>
            </a:r>
          </a:p>
        </p:txBody>
      </p:sp>
      <p:sp>
        <p:nvSpPr>
          <p:cNvPr id="4" name="TextBox 3">
            <a:extLst>
              <a:ext uri="{FF2B5EF4-FFF2-40B4-BE49-F238E27FC236}">
                <a16:creationId xmlns:a16="http://schemas.microsoft.com/office/drawing/2014/main" id="{4EEB4E52-CB23-AE4F-454A-7EFACD7E76F6}"/>
              </a:ext>
            </a:extLst>
          </p:cNvPr>
          <p:cNvSpPr txBox="1"/>
          <p:nvPr/>
        </p:nvSpPr>
        <p:spPr>
          <a:xfrm>
            <a:off x="104897" y="2621485"/>
            <a:ext cx="8967983" cy="1752339"/>
          </a:xfrm>
          <a:prstGeom prst="rect">
            <a:avLst/>
          </a:prstGeom>
          <a:noFill/>
        </p:spPr>
        <p:txBody>
          <a:bodyPr wrap="square">
            <a:spAutoFit/>
          </a:bodyPr>
          <a:lstStyle/>
          <a:p>
            <a:pPr algn="just">
              <a:lnSpc>
                <a:spcPct val="150000"/>
              </a:lnSpc>
              <a:spcBef>
                <a:spcPts val="600"/>
              </a:spcBef>
              <a:spcAft>
                <a:spcPts val="1000"/>
              </a:spcAft>
            </a:pPr>
            <a:r>
              <a:rPr lang="en-US" sz="2500">
                <a:effectLst/>
                <a:latin typeface="+mn-lt"/>
                <a:ea typeface="Times New Roman" panose="02020603050405020304" pitchFamily="18" charset="0"/>
              </a:rPr>
              <a:t>Normal instruction take around 16 cycles to complete calculating, while TMATMUL take more than 1000 cycles </a:t>
            </a:r>
            <a:r>
              <a:rPr lang="en-US" sz="2500" b="1"/>
              <a:t>-&gt; Take most time </a:t>
            </a:r>
            <a:endParaRPr lang="vi-VN" sz="2500">
              <a:effectLst/>
              <a:latin typeface="+mn-lt"/>
              <a:ea typeface="Times New Roman" panose="02020603050405020304" pitchFamily="18" charset="0"/>
            </a:endParaRPr>
          </a:p>
        </p:txBody>
      </p:sp>
      <p:pic>
        <p:nvPicPr>
          <p:cNvPr id="6" name="Picture 5">
            <a:extLst>
              <a:ext uri="{FF2B5EF4-FFF2-40B4-BE49-F238E27FC236}">
                <a16:creationId xmlns:a16="http://schemas.microsoft.com/office/drawing/2014/main" id="{840C1429-2AD5-67C5-9926-DDA22D781848}"/>
              </a:ext>
            </a:extLst>
          </p:cNvPr>
          <p:cNvPicPr>
            <a:picLocks noChangeAspect="1"/>
          </p:cNvPicPr>
          <p:nvPr/>
        </p:nvPicPr>
        <p:blipFill>
          <a:blip r:embed="rId4"/>
          <a:stretch>
            <a:fillRect/>
          </a:stretch>
        </p:blipFill>
        <p:spPr>
          <a:xfrm>
            <a:off x="305717" y="4624609"/>
            <a:ext cx="4154149" cy="763465"/>
          </a:xfrm>
          <a:prstGeom prst="rect">
            <a:avLst/>
          </a:prstGeom>
        </p:spPr>
      </p:pic>
      <p:sp>
        <p:nvSpPr>
          <p:cNvPr id="7" name="TextBox 6">
            <a:extLst>
              <a:ext uri="{FF2B5EF4-FFF2-40B4-BE49-F238E27FC236}">
                <a16:creationId xmlns:a16="http://schemas.microsoft.com/office/drawing/2014/main" id="{7DB74F06-2862-BB97-0BB4-9D49A4D0F1BD}"/>
              </a:ext>
            </a:extLst>
          </p:cNvPr>
          <p:cNvSpPr txBox="1"/>
          <p:nvPr/>
        </p:nvSpPr>
        <p:spPr>
          <a:xfrm>
            <a:off x="1120879" y="5250422"/>
            <a:ext cx="9144000" cy="598177"/>
          </a:xfrm>
          <a:prstGeom prst="rect">
            <a:avLst/>
          </a:prstGeom>
          <a:noFill/>
        </p:spPr>
        <p:txBody>
          <a:bodyPr wrap="square">
            <a:spAutoFit/>
          </a:bodyPr>
          <a:lstStyle/>
          <a:p>
            <a:pPr algn="just">
              <a:lnSpc>
                <a:spcPct val="150000"/>
              </a:lnSpc>
              <a:spcBef>
                <a:spcPts val="600"/>
              </a:spcBef>
              <a:spcAft>
                <a:spcPts val="1000"/>
              </a:spcAft>
            </a:pPr>
            <a:r>
              <a:rPr lang="en-US" sz="2500">
                <a:latin typeface="+mn-lt"/>
                <a:ea typeface="Times New Roman" panose="02020603050405020304" pitchFamily="18" charset="0"/>
              </a:rPr>
              <a:t>Faster than normal matrix multiplication by </a:t>
            </a:r>
            <a:r>
              <a:rPr lang="en-US" sz="2500" b="1">
                <a:latin typeface="+mn-lt"/>
                <a:ea typeface="Times New Roman" panose="02020603050405020304" pitchFamily="18" charset="0"/>
              </a:rPr>
              <a:t>84%</a:t>
            </a:r>
            <a:endParaRPr lang="vi-VN" sz="2500" b="1">
              <a:effectLst/>
              <a:latin typeface="+mn-lt"/>
              <a:ea typeface="Times New Roman" panose="02020603050405020304" pitchFamily="18" charset="0"/>
            </a:endParaRPr>
          </a:p>
        </p:txBody>
      </p:sp>
      <p:pic>
        <p:nvPicPr>
          <p:cNvPr id="5" name="Picture 4">
            <a:extLst>
              <a:ext uri="{FF2B5EF4-FFF2-40B4-BE49-F238E27FC236}">
                <a16:creationId xmlns:a16="http://schemas.microsoft.com/office/drawing/2014/main" id="{6F56C115-1840-F72A-7F5F-009C376C0E72}"/>
              </a:ext>
            </a:extLst>
          </p:cNvPr>
          <p:cNvPicPr>
            <a:picLocks noChangeAspect="1"/>
          </p:cNvPicPr>
          <p:nvPr/>
        </p:nvPicPr>
        <p:blipFill>
          <a:blip r:embed="rId5"/>
          <a:stretch>
            <a:fillRect/>
          </a:stretch>
        </p:blipFill>
        <p:spPr>
          <a:xfrm>
            <a:off x="4684135" y="4666211"/>
            <a:ext cx="3880745" cy="721863"/>
          </a:xfrm>
          <a:prstGeom prst="rect">
            <a:avLst/>
          </a:prstGeom>
        </p:spPr>
      </p:pic>
      <p:pic>
        <p:nvPicPr>
          <p:cNvPr id="8" name="Picture 7">
            <a:extLst>
              <a:ext uri="{FF2B5EF4-FFF2-40B4-BE49-F238E27FC236}">
                <a16:creationId xmlns:a16="http://schemas.microsoft.com/office/drawing/2014/main" id="{109B9C5D-85EF-C3BD-554A-502813623537}"/>
              </a:ext>
            </a:extLst>
          </p:cNvPr>
          <p:cNvPicPr>
            <a:picLocks noChangeAspect="1"/>
          </p:cNvPicPr>
          <p:nvPr/>
        </p:nvPicPr>
        <p:blipFill>
          <a:blip r:embed="rId6"/>
          <a:stretch>
            <a:fillRect/>
          </a:stretch>
        </p:blipFill>
        <p:spPr>
          <a:xfrm>
            <a:off x="4684135" y="1806101"/>
            <a:ext cx="3997749" cy="735331"/>
          </a:xfrm>
          <a:prstGeom prst="rect">
            <a:avLst/>
          </a:prstGeom>
        </p:spPr>
      </p:pic>
    </p:spTree>
    <p:extLst>
      <p:ext uri="{BB962C8B-B14F-4D97-AF65-F5344CB8AC3E}">
        <p14:creationId xmlns:p14="http://schemas.microsoft.com/office/powerpoint/2010/main" val="17914809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12">
          <a:extLst>
            <a:ext uri="{FF2B5EF4-FFF2-40B4-BE49-F238E27FC236}">
              <a16:creationId xmlns:a16="http://schemas.microsoft.com/office/drawing/2014/main" id="{57DC91D1-B6E7-2609-3042-C5624316265F}"/>
            </a:ext>
          </a:extLst>
        </p:cNvPr>
        <p:cNvGrpSpPr/>
        <p:nvPr/>
      </p:nvGrpSpPr>
      <p:grpSpPr>
        <a:xfrm>
          <a:off x="0" y="0"/>
          <a:ext cx="0" cy="0"/>
          <a:chOff x="0" y="0"/>
          <a:chExt cx="0" cy="0"/>
        </a:xfrm>
      </p:grpSpPr>
      <p:sp>
        <p:nvSpPr>
          <p:cNvPr id="213" name="Google Shape;213;p8">
            <a:extLst>
              <a:ext uri="{FF2B5EF4-FFF2-40B4-BE49-F238E27FC236}">
                <a16:creationId xmlns:a16="http://schemas.microsoft.com/office/drawing/2014/main" id="{25130FF7-1E67-5F17-89FF-D65AB9F5F803}"/>
              </a:ext>
            </a:extLst>
          </p:cNvPr>
          <p:cNvSpPr txBox="1">
            <a:spLocks noGrp="1"/>
          </p:cNvSpPr>
          <p:nvPr>
            <p:ph type="title"/>
          </p:nvPr>
        </p:nvSpPr>
        <p:spPr>
          <a:xfrm>
            <a:off x="893762" y="288925"/>
            <a:ext cx="6269037" cy="674687"/>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00000"/>
              </a:lnSpc>
              <a:spcBef>
                <a:spcPts val="0"/>
              </a:spcBef>
              <a:spcAft>
                <a:spcPts val="0"/>
              </a:spcAft>
              <a:buClr>
                <a:srgbClr val="3376C7"/>
              </a:buClr>
              <a:buSzPts val="4000"/>
              <a:buFont typeface="Arial"/>
              <a:buNone/>
            </a:pPr>
            <a:r>
              <a:rPr lang="en-US" sz="4000" b="1" i="0" u="none">
                <a:solidFill>
                  <a:srgbClr val="3376C7"/>
                </a:solidFill>
                <a:latin typeface="Arial"/>
                <a:ea typeface="Arial"/>
                <a:cs typeface="Arial"/>
                <a:sym typeface="Arial"/>
              </a:rPr>
              <a:t>Result</a:t>
            </a:r>
            <a:endParaRPr lang="en-US"/>
          </a:p>
        </p:txBody>
      </p:sp>
      <p:sp>
        <p:nvSpPr>
          <p:cNvPr id="214" name="Google Shape;214;p8">
            <a:extLst>
              <a:ext uri="{FF2B5EF4-FFF2-40B4-BE49-F238E27FC236}">
                <a16:creationId xmlns:a16="http://schemas.microsoft.com/office/drawing/2014/main" id="{8FD0E9BB-B365-26F3-51FA-1CEC88E340D7}"/>
              </a:ext>
            </a:extLst>
          </p:cNvPr>
          <p:cNvSpPr txBox="1"/>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Arial"/>
              <a:buNone/>
            </a:pPr>
            <a:fld id="{00000000-1234-1234-1234-123412341234}" type="slidenum">
              <a:rPr lang="en-US" sz="1200" b="0" i="0" u="none">
                <a:solidFill>
                  <a:srgbClr val="898989"/>
                </a:solidFill>
                <a:latin typeface="Arial"/>
                <a:ea typeface="Arial"/>
                <a:cs typeface="Arial"/>
                <a:sym typeface="Arial"/>
              </a:rPr>
              <a:t>37</a:t>
            </a:fld>
            <a:endParaRPr/>
          </a:p>
        </p:txBody>
      </p:sp>
      <p:pic>
        <p:nvPicPr>
          <p:cNvPr id="5" name="Picture 4">
            <a:extLst>
              <a:ext uri="{FF2B5EF4-FFF2-40B4-BE49-F238E27FC236}">
                <a16:creationId xmlns:a16="http://schemas.microsoft.com/office/drawing/2014/main" id="{185E4688-FCD4-212B-3F78-761080A40845}"/>
              </a:ext>
            </a:extLst>
          </p:cNvPr>
          <p:cNvPicPr>
            <a:picLocks noChangeAspect="1"/>
          </p:cNvPicPr>
          <p:nvPr/>
        </p:nvPicPr>
        <p:blipFill>
          <a:blip r:embed="rId3"/>
          <a:stretch>
            <a:fillRect/>
          </a:stretch>
        </p:blipFill>
        <p:spPr>
          <a:xfrm>
            <a:off x="0" y="1030945"/>
            <a:ext cx="9144000" cy="1697182"/>
          </a:xfrm>
          <a:prstGeom prst="rect">
            <a:avLst/>
          </a:prstGeom>
        </p:spPr>
      </p:pic>
      <p:sp>
        <p:nvSpPr>
          <p:cNvPr id="6" name="TextBox 5">
            <a:extLst>
              <a:ext uri="{FF2B5EF4-FFF2-40B4-BE49-F238E27FC236}">
                <a16:creationId xmlns:a16="http://schemas.microsoft.com/office/drawing/2014/main" id="{AA716A9B-A9E2-A2BD-A7CC-9F9B6B21860B}"/>
              </a:ext>
            </a:extLst>
          </p:cNvPr>
          <p:cNvSpPr txBox="1"/>
          <p:nvPr/>
        </p:nvSpPr>
        <p:spPr>
          <a:xfrm>
            <a:off x="88008" y="2577211"/>
            <a:ext cx="8967983" cy="861774"/>
          </a:xfrm>
          <a:prstGeom prst="rect">
            <a:avLst/>
          </a:prstGeom>
          <a:noFill/>
        </p:spPr>
        <p:txBody>
          <a:bodyPr wrap="square">
            <a:spAutoFit/>
          </a:bodyPr>
          <a:lstStyle/>
          <a:p>
            <a:pPr algn="just">
              <a:spcBef>
                <a:spcPts val="600"/>
              </a:spcBef>
              <a:spcAft>
                <a:spcPts val="1000"/>
              </a:spcAft>
            </a:pPr>
            <a:r>
              <a:rPr lang="vi-VN" sz="2500">
                <a:latin typeface="+mn-lt"/>
                <a:ea typeface="Times New Roman" panose="02020603050405020304" pitchFamily="18" charset="0"/>
              </a:rPr>
              <a:t>The design is </a:t>
            </a:r>
            <a:r>
              <a:rPr lang="vi-VN" sz="2500" b="1">
                <a:latin typeface="+mn-lt"/>
                <a:ea typeface="Times New Roman" panose="02020603050405020304" pitchFamily="18" charset="0"/>
              </a:rPr>
              <a:t>pipelined</a:t>
            </a:r>
            <a:r>
              <a:rPr lang="vi-VN" sz="2500">
                <a:latin typeface="+mn-lt"/>
                <a:ea typeface="Times New Roman" panose="02020603050405020304" pitchFamily="18" charset="0"/>
              </a:rPr>
              <a:t>, th</a:t>
            </a:r>
            <a:r>
              <a:rPr lang="en-US" sz="2500">
                <a:latin typeface="+mn-lt"/>
                <a:ea typeface="Times New Roman" panose="02020603050405020304" pitchFamily="18" charset="0"/>
              </a:rPr>
              <a:t>erefore the design run with </a:t>
            </a:r>
            <a:r>
              <a:rPr lang="vi-VN" sz="2500">
                <a:effectLst/>
                <a:latin typeface="+mn-lt"/>
                <a:ea typeface="Times New Roman" panose="02020603050405020304" pitchFamily="18" charset="0"/>
              </a:rPr>
              <a:t>frequency 200MHz</a:t>
            </a:r>
            <a:r>
              <a:rPr lang="en-US" sz="2500">
                <a:effectLst/>
                <a:latin typeface="+mn-lt"/>
                <a:ea typeface="Times New Roman" panose="02020603050405020304" pitchFamily="18" charset="0"/>
              </a:rPr>
              <a:t> and hardly affected by the size of </a:t>
            </a:r>
            <a:r>
              <a:rPr lang="en-US" sz="2500" b="1">
                <a:effectLst/>
                <a:latin typeface="+mn-lt"/>
                <a:ea typeface="Times New Roman" panose="02020603050405020304" pitchFamily="18" charset="0"/>
              </a:rPr>
              <a:t>d</a:t>
            </a:r>
            <a:endParaRPr lang="vi-VN" sz="2500" b="1">
              <a:effectLst/>
              <a:latin typeface="+mn-lt"/>
              <a:ea typeface="Times New Roman" panose="02020603050405020304" pitchFamily="18" charset="0"/>
            </a:endParaRPr>
          </a:p>
        </p:txBody>
      </p:sp>
      <p:pic>
        <p:nvPicPr>
          <p:cNvPr id="8194" name="Picture 2">
            <a:extLst>
              <a:ext uri="{FF2B5EF4-FFF2-40B4-BE49-F238E27FC236}">
                <a16:creationId xmlns:a16="http://schemas.microsoft.com/office/drawing/2014/main" id="{EA63FD14-1195-F4B6-C464-42A5D547B6E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877" t="25320" r="19556" b="23720"/>
          <a:stretch/>
        </p:blipFill>
        <p:spPr bwMode="auto">
          <a:xfrm>
            <a:off x="0" y="3506887"/>
            <a:ext cx="9144000" cy="1033012"/>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a:extLst>
              <a:ext uri="{FF2B5EF4-FFF2-40B4-BE49-F238E27FC236}">
                <a16:creationId xmlns:a16="http://schemas.microsoft.com/office/drawing/2014/main" id="{B56E96FE-EB96-40C4-956E-2059D88153FD}"/>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1418" t="12936" r="53111" b="53147"/>
          <a:stretch/>
        </p:blipFill>
        <p:spPr bwMode="auto">
          <a:xfrm>
            <a:off x="1740456" y="4681103"/>
            <a:ext cx="5663086" cy="15186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163488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9"/>
          <p:cNvSpPr txBox="1">
            <a:spLocks noGrp="1"/>
          </p:cNvSpPr>
          <p:nvPr>
            <p:ph type="title"/>
          </p:nvPr>
        </p:nvSpPr>
        <p:spPr>
          <a:xfrm>
            <a:off x="893762" y="288925"/>
            <a:ext cx="7640637" cy="674687"/>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00000"/>
              </a:lnSpc>
              <a:spcBef>
                <a:spcPts val="0"/>
              </a:spcBef>
              <a:spcAft>
                <a:spcPts val="0"/>
              </a:spcAft>
              <a:buClr>
                <a:srgbClr val="3376C7"/>
              </a:buClr>
              <a:buSzPts val="4000"/>
              <a:buFont typeface="Arial"/>
              <a:buNone/>
            </a:pPr>
            <a:r>
              <a:rPr lang="en-US" sz="4000" b="1">
                <a:solidFill>
                  <a:srgbClr val="3376C7"/>
                </a:solidFill>
                <a:latin typeface="Arial"/>
                <a:cs typeface="Arial"/>
                <a:sym typeface="Arial"/>
              </a:rPr>
              <a:t>Future Direction</a:t>
            </a:r>
            <a:endParaRPr/>
          </a:p>
        </p:txBody>
      </p:sp>
      <p:sp>
        <p:nvSpPr>
          <p:cNvPr id="221" name="Google Shape;221;p9"/>
          <p:cNvSpPr txBox="1"/>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Arial"/>
              <a:buNone/>
            </a:pPr>
            <a:fld id="{00000000-1234-1234-1234-123412341234}" type="slidenum">
              <a:rPr lang="en-US" sz="1200" b="0" i="0" u="none">
                <a:solidFill>
                  <a:srgbClr val="898989"/>
                </a:solidFill>
                <a:latin typeface="Arial"/>
                <a:ea typeface="Arial"/>
                <a:cs typeface="Arial"/>
                <a:sym typeface="Arial"/>
              </a:rPr>
              <a:t>38</a:t>
            </a:fld>
            <a:endParaRPr/>
          </a:p>
        </p:txBody>
      </p:sp>
      <p:sp>
        <p:nvSpPr>
          <p:cNvPr id="2" name="TextBox 1">
            <a:extLst>
              <a:ext uri="{FF2B5EF4-FFF2-40B4-BE49-F238E27FC236}">
                <a16:creationId xmlns:a16="http://schemas.microsoft.com/office/drawing/2014/main" id="{3BE1320D-66F6-6E43-9AA4-038B4D52EDF2}"/>
              </a:ext>
            </a:extLst>
          </p:cNvPr>
          <p:cNvSpPr txBox="1"/>
          <p:nvPr/>
        </p:nvSpPr>
        <p:spPr>
          <a:xfrm>
            <a:off x="0" y="934626"/>
            <a:ext cx="9072880" cy="5729197"/>
          </a:xfrm>
          <a:prstGeom prst="rect">
            <a:avLst/>
          </a:prstGeom>
          <a:noFill/>
        </p:spPr>
        <p:txBody>
          <a:bodyPr wrap="square">
            <a:spAutoFit/>
          </a:bodyPr>
          <a:lstStyle/>
          <a:p>
            <a:pPr algn="just">
              <a:lnSpc>
                <a:spcPct val="150000"/>
              </a:lnSpc>
              <a:spcBef>
                <a:spcPts val="600"/>
              </a:spcBef>
              <a:spcAft>
                <a:spcPts val="1000"/>
              </a:spcAft>
            </a:pPr>
            <a:r>
              <a:rPr lang="en-US" sz="2000" b="1">
                <a:effectLst/>
                <a:latin typeface="+mn-lt"/>
                <a:ea typeface="Times New Roman" panose="02020603050405020304" pitchFamily="18" charset="0"/>
              </a:rPr>
              <a:t>Multi-core Parallelism:</a:t>
            </a:r>
            <a:r>
              <a:rPr lang="en-US" sz="2000">
                <a:effectLst/>
                <a:latin typeface="+mn-lt"/>
                <a:ea typeface="Times New Roman" panose="02020603050405020304" pitchFamily="18" charset="0"/>
              </a:rPr>
              <a:t> Explore deployment of multi-core configurations with inter-core vector buses or NoCs (Networks-on-Chip) to enable concurrent token generation.</a:t>
            </a:r>
          </a:p>
          <a:p>
            <a:pPr algn="just">
              <a:lnSpc>
                <a:spcPct val="150000"/>
              </a:lnSpc>
              <a:spcBef>
                <a:spcPts val="600"/>
              </a:spcBef>
              <a:spcAft>
                <a:spcPts val="1000"/>
              </a:spcAft>
            </a:pPr>
            <a:r>
              <a:rPr lang="en-US" sz="2000" b="1">
                <a:effectLst/>
                <a:latin typeface="+mn-lt"/>
                <a:ea typeface="Times New Roman" panose="02020603050405020304" pitchFamily="18" charset="0"/>
              </a:rPr>
              <a:t>Instruction Fusion: </a:t>
            </a:r>
            <a:r>
              <a:rPr lang="en-US" sz="2000">
                <a:effectLst/>
                <a:latin typeface="+mn-lt"/>
                <a:ea typeface="Times New Roman" panose="02020603050405020304" pitchFamily="18" charset="0"/>
              </a:rPr>
              <a:t>Design compound instructions that combine multiple operations (e.g., TMATMUL + NORM) to reduce pipeline stalls and improve throughput.</a:t>
            </a:r>
          </a:p>
          <a:p>
            <a:pPr algn="just">
              <a:lnSpc>
                <a:spcPct val="150000"/>
              </a:lnSpc>
              <a:spcBef>
                <a:spcPts val="600"/>
              </a:spcBef>
              <a:spcAft>
                <a:spcPts val="1000"/>
              </a:spcAft>
            </a:pPr>
            <a:r>
              <a:rPr lang="en-US" sz="2000" b="1">
                <a:effectLst/>
                <a:latin typeface="+mn-lt"/>
                <a:ea typeface="Times New Roman" panose="02020603050405020304" pitchFamily="18" charset="0"/>
              </a:rPr>
              <a:t>Model Generalization:</a:t>
            </a:r>
            <a:r>
              <a:rPr lang="en-US" sz="2000">
                <a:effectLst/>
                <a:latin typeface="+mn-lt"/>
                <a:ea typeface="Times New Roman" panose="02020603050405020304" pitchFamily="18" charset="0"/>
              </a:rPr>
              <a:t> Validate the architecture on larger models (10B+ parameters) and diverse token types beyond 1×512 vectors.</a:t>
            </a:r>
          </a:p>
          <a:p>
            <a:pPr algn="just">
              <a:lnSpc>
                <a:spcPct val="150000"/>
              </a:lnSpc>
              <a:spcBef>
                <a:spcPts val="600"/>
              </a:spcBef>
              <a:spcAft>
                <a:spcPts val="1000"/>
              </a:spcAft>
            </a:pPr>
            <a:r>
              <a:rPr lang="en-US" sz="2000" b="1">
                <a:effectLst/>
                <a:latin typeface="+mn-lt"/>
                <a:ea typeface="Times New Roman" panose="02020603050405020304" pitchFamily="18" charset="0"/>
              </a:rPr>
              <a:t>Dynamic Matrix Scaling:</a:t>
            </a:r>
            <a:r>
              <a:rPr lang="en-US" sz="2000">
                <a:effectLst/>
                <a:latin typeface="+mn-lt"/>
                <a:ea typeface="Times New Roman" panose="02020603050405020304" pitchFamily="18" charset="0"/>
              </a:rPr>
              <a:t> Extend support for variable matrix dimensions (e.g., 256, 1024) through parameterizable datapaths and segmented memory mapping.</a:t>
            </a:r>
            <a:endParaRPr lang="vi-VN" sz="2000">
              <a:effectLst/>
              <a:latin typeface="+mn-lt"/>
              <a:ea typeface="Times New Roman" panose="02020603050405020304"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10"/>
          <p:cNvSpPr txBox="1"/>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Arial"/>
              <a:buNone/>
            </a:pPr>
            <a:fld id="{00000000-1234-1234-1234-123412341234}" type="slidenum">
              <a:rPr lang="en-US" sz="1200" b="0" i="0" u="none">
                <a:solidFill>
                  <a:srgbClr val="898989"/>
                </a:solidFill>
                <a:latin typeface="Arial"/>
                <a:ea typeface="Arial"/>
                <a:cs typeface="Arial"/>
                <a:sym typeface="Arial"/>
              </a:rPr>
              <a:t>39</a:t>
            </a:fld>
            <a:endParaRPr/>
          </a:p>
        </p:txBody>
      </p:sp>
      <p:sp>
        <p:nvSpPr>
          <p:cNvPr id="227" name="Google Shape;227;p10"/>
          <p:cNvSpPr txBox="1"/>
          <p:nvPr/>
        </p:nvSpPr>
        <p:spPr>
          <a:xfrm>
            <a:off x="0" y="838200"/>
            <a:ext cx="9144000" cy="457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28" name="Google Shape;228;p10"/>
          <p:cNvSpPr txBox="1"/>
          <p:nvPr/>
        </p:nvSpPr>
        <p:spPr>
          <a:xfrm>
            <a:off x="2280920" y="1905526"/>
            <a:ext cx="6553200" cy="304694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3376C7"/>
              </a:buClr>
              <a:buSzPts val="9600"/>
              <a:buFont typeface="Arial"/>
              <a:buNone/>
            </a:pPr>
            <a:r>
              <a:rPr lang="en-US" sz="9600" b="1" i="0" u="none">
                <a:solidFill>
                  <a:srgbClr val="3376C7"/>
                </a:solidFill>
                <a:latin typeface="Arial"/>
                <a:ea typeface="Arial"/>
                <a:cs typeface="Arial"/>
                <a:sym typeface="Arial"/>
              </a:rPr>
              <a:t>THANK YOU…</a:t>
            </a:r>
            <a:endParaRPr/>
          </a:p>
        </p:txBody>
      </p:sp>
    </p:spTree>
  </p:cSld>
  <p:clrMapOvr>
    <a:masterClrMapping/>
  </p:clrMapOvr>
</p:sld>
</file>

<file path=ppt/theme/theme1.xml><?xml version="1.0" encoding="utf-8"?>
<a:theme xmlns:a="http://schemas.openxmlformats.org/drawingml/2006/main" name="2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Hoang Trang'course format">
  <a:themeElements>
    <a:clrScheme name="Default Design 1">
      <a:dk1>
        <a:srgbClr val="000000"/>
      </a:dk1>
      <a:lt1>
        <a:srgbClr val="CAD4CF"/>
      </a:lt1>
      <a:dk2>
        <a:srgbClr val="425462"/>
      </a:dk2>
      <a:lt2>
        <a:srgbClr val="768A7B"/>
      </a:lt2>
      <a:accent1>
        <a:srgbClr val="DE608D"/>
      </a:accent1>
      <a:accent2>
        <a:srgbClr val="35ADE3"/>
      </a:accent2>
      <a:accent3>
        <a:srgbClr val="E1E6E4"/>
      </a:accent3>
      <a:accent4>
        <a:srgbClr val="000000"/>
      </a:accent4>
      <a:accent5>
        <a:srgbClr val="ECB6C5"/>
      </a:accent5>
      <a:accent6>
        <a:srgbClr val="2F9CCE"/>
      </a:accent6>
      <a:hlink>
        <a:srgbClr val="F6AE44"/>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2_Hoang Trang'course format">
  <a:themeElements>
    <a:clrScheme name="Default Design 1">
      <a:dk1>
        <a:srgbClr val="000000"/>
      </a:dk1>
      <a:lt1>
        <a:srgbClr val="CAD4CF"/>
      </a:lt1>
      <a:dk2>
        <a:srgbClr val="425462"/>
      </a:dk2>
      <a:lt2>
        <a:srgbClr val="768A7B"/>
      </a:lt2>
      <a:accent1>
        <a:srgbClr val="DE608D"/>
      </a:accent1>
      <a:accent2>
        <a:srgbClr val="35ADE3"/>
      </a:accent2>
      <a:accent3>
        <a:srgbClr val="E1E6E4"/>
      </a:accent3>
      <a:accent4>
        <a:srgbClr val="000000"/>
      </a:accent4>
      <a:accent5>
        <a:srgbClr val="ECB6C5"/>
      </a:accent5>
      <a:accent6>
        <a:srgbClr val="2F9CCE"/>
      </a:accent6>
      <a:hlink>
        <a:srgbClr val="F6AE44"/>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3_Hoang Trang'course format">
  <a:themeElements>
    <a:clrScheme name="Default Design 1">
      <a:dk1>
        <a:srgbClr val="000000"/>
      </a:dk1>
      <a:lt1>
        <a:srgbClr val="CAD4CF"/>
      </a:lt1>
      <a:dk2>
        <a:srgbClr val="425462"/>
      </a:dk2>
      <a:lt2>
        <a:srgbClr val="768A7B"/>
      </a:lt2>
      <a:accent1>
        <a:srgbClr val="DE608D"/>
      </a:accent1>
      <a:accent2>
        <a:srgbClr val="35ADE3"/>
      </a:accent2>
      <a:accent3>
        <a:srgbClr val="E1E6E4"/>
      </a:accent3>
      <a:accent4>
        <a:srgbClr val="000000"/>
      </a:accent4>
      <a:accent5>
        <a:srgbClr val="ECB6C5"/>
      </a:accent5>
      <a:accent6>
        <a:srgbClr val="2F9CCE"/>
      </a:accent6>
      <a:hlink>
        <a:srgbClr val="F6AE44"/>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4_Hoang Trang'course format">
  <a:themeElements>
    <a:clrScheme name="Default Design 1">
      <a:dk1>
        <a:srgbClr val="000000"/>
      </a:dk1>
      <a:lt1>
        <a:srgbClr val="CAD4CF"/>
      </a:lt1>
      <a:dk2>
        <a:srgbClr val="425462"/>
      </a:dk2>
      <a:lt2>
        <a:srgbClr val="768A7B"/>
      </a:lt2>
      <a:accent1>
        <a:srgbClr val="DE608D"/>
      </a:accent1>
      <a:accent2>
        <a:srgbClr val="35ADE3"/>
      </a:accent2>
      <a:accent3>
        <a:srgbClr val="E1E6E4"/>
      </a:accent3>
      <a:accent4>
        <a:srgbClr val="000000"/>
      </a:accent4>
      <a:accent5>
        <a:srgbClr val="ECB6C5"/>
      </a:accent5>
      <a:accent6>
        <a:srgbClr val="2F9CCE"/>
      </a:accent6>
      <a:hlink>
        <a:srgbClr val="F6AE44"/>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3786</TotalTime>
  <Words>1547</Words>
  <Application>Microsoft Office PowerPoint</Application>
  <PresentationFormat>On-screen Show (4:3)</PresentationFormat>
  <Paragraphs>277</Paragraphs>
  <Slides>39</Slides>
  <Notes>39</Notes>
  <HiddenSlides>0</HiddenSlides>
  <MMClips>0</MMClips>
  <ScaleCrop>false</ScaleCrop>
  <HeadingPairs>
    <vt:vector size="8" baseType="variant">
      <vt:variant>
        <vt:lpstr>Fonts Used</vt:lpstr>
      </vt:variant>
      <vt:variant>
        <vt:i4>4</vt:i4>
      </vt:variant>
      <vt:variant>
        <vt:lpstr>Theme</vt:lpstr>
      </vt:variant>
      <vt:variant>
        <vt:i4>7</vt:i4>
      </vt:variant>
      <vt:variant>
        <vt:lpstr>Embedded OLE Servers</vt:lpstr>
      </vt:variant>
      <vt:variant>
        <vt:i4>1</vt:i4>
      </vt:variant>
      <vt:variant>
        <vt:lpstr>Slide Titles</vt:lpstr>
      </vt:variant>
      <vt:variant>
        <vt:i4>39</vt:i4>
      </vt:variant>
    </vt:vector>
  </HeadingPairs>
  <TitlesOfParts>
    <vt:vector size="51" baseType="lpstr">
      <vt:lpstr>Arial</vt:lpstr>
      <vt:lpstr>Calibri</vt:lpstr>
      <vt:lpstr>Cambria Math</vt:lpstr>
      <vt:lpstr>Times New Roman</vt:lpstr>
      <vt:lpstr>2_Office Theme</vt:lpstr>
      <vt:lpstr>1_Office Theme</vt:lpstr>
      <vt:lpstr>1_Hoang Trang'course format</vt:lpstr>
      <vt:lpstr>Office Theme</vt:lpstr>
      <vt:lpstr>2_Hoang Trang'course format</vt:lpstr>
      <vt:lpstr>3_Hoang Trang'course format</vt:lpstr>
      <vt:lpstr>4_Hoang Trang'course format</vt:lpstr>
      <vt:lpstr>Equation</vt:lpstr>
      <vt:lpstr>PowerPoint Presentation</vt:lpstr>
      <vt:lpstr>Contents</vt:lpstr>
      <vt:lpstr>1. Introduction</vt:lpstr>
      <vt:lpstr>1. Introduction</vt:lpstr>
      <vt:lpstr>1. Introduction</vt:lpstr>
      <vt:lpstr>1. Introduction</vt:lpstr>
      <vt:lpstr>1. Introduction</vt:lpstr>
      <vt:lpstr>1. Introduction</vt:lpstr>
      <vt:lpstr>2. Research Objective</vt:lpstr>
      <vt:lpstr>2. Research Objective</vt:lpstr>
      <vt:lpstr>3. Hardware Implementation </vt:lpstr>
      <vt:lpstr>3. Hardware Implementation </vt:lpstr>
      <vt:lpstr>3. Hardware Implementation </vt:lpstr>
      <vt:lpstr>3. Hardware Implementation </vt:lpstr>
      <vt:lpstr>3. Hardware Implementation </vt:lpstr>
      <vt:lpstr>3. Hardware Implementation </vt:lpstr>
      <vt:lpstr>3. Hardware Implementation </vt:lpstr>
      <vt:lpstr>3. Hardware Implementation </vt:lpstr>
      <vt:lpstr>3. Hardware Implementation </vt:lpstr>
      <vt:lpstr>3. Hardware Implementation </vt:lpstr>
      <vt:lpstr>3. Hardware Implementation </vt:lpstr>
      <vt:lpstr>3. Hardware Implementation </vt:lpstr>
      <vt:lpstr>3. Hardware Implementation </vt:lpstr>
      <vt:lpstr>3. Hardware Implementation </vt:lpstr>
      <vt:lpstr>3. Hardware Implementation </vt:lpstr>
      <vt:lpstr>3. Hardware Implementation </vt:lpstr>
      <vt:lpstr>3. Hardware Implementation </vt:lpstr>
      <vt:lpstr>3. Hardware Implementation </vt:lpstr>
      <vt:lpstr>3. Hardware Implementation </vt:lpstr>
      <vt:lpstr>4. Software implementation</vt:lpstr>
      <vt:lpstr>4. Software implementation</vt:lpstr>
      <vt:lpstr>Result</vt:lpstr>
      <vt:lpstr>Result</vt:lpstr>
      <vt:lpstr>Result</vt:lpstr>
      <vt:lpstr>Result</vt:lpstr>
      <vt:lpstr>Result</vt:lpstr>
      <vt:lpstr>Result</vt:lpstr>
      <vt:lpstr>Future Direction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HOANG Trang</dc:creator>
  <cp:lastModifiedBy>Khanh Nguyen</cp:lastModifiedBy>
  <cp:revision>77</cp:revision>
  <dcterms:created xsi:type="dcterms:W3CDTF">2010-08-18T20:21:10Z</dcterms:created>
  <dcterms:modified xsi:type="dcterms:W3CDTF">2025-06-09T12:59:00Z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2025-05-01T11:22:36Z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afb01957-4160-40bc-80c0-0e514e1d883b</vt:lpwstr>
  </property>
  <property fmtid="{D5CDD505-2E9C-101B-9397-08002B2CF9AE}" pid="7" name="MSIP_Label_defa4170-0d19-0005-0004-bc88714345d2_ActionId">
    <vt:lpwstr>feb1674c-8ecd-4cc9-b3ce-abe70a16a722</vt:lpwstr>
  </property>
  <property fmtid="{D5CDD505-2E9C-101B-9397-08002B2CF9AE}" pid="8" name="MSIP_Label_defa4170-0d19-0005-0004-bc88714345d2_ContentBits">
    <vt:lpwstr>0</vt:lpwstr>
  </property>
  <property fmtid="{D5CDD505-2E9C-101B-9397-08002B2CF9AE}" pid="9" name="MSIP_Label_defa4170-0d19-0005-0004-bc88714345d2_Tag">
    <vt:lpwstr>10, 3, 0, 1</vt:lpwstr>
  </property>
</Properties>
</file>